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Montserrat Bold" charset="1" panose="00000800000000000000"/>
      <p:regular r:id="rId15"/>
    </p:embeddedFont>
    <p:embeddedFont>
      <p:font typeface="Open Sans Bold" charset="1" panose="00000000000000000000"/>
      <p:regular r:id="rId16"/>
    </p:embeddedFont>
    <p:embeddedFont>
      <p:font typeface="Open Sans" charset="1" panose="00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svg" Type="http://schemas.openxmlformats.org/officeDocument/2006/relationships/image"/><Relationship Id="rId7" Target="../media/image13.svg" Type="http://schemas.openxmlformats.org/officeDocument/2006/relationships/image"/><Relationship Id="rId8" Target="../media/image14.jpeg" Type="http://schemas.openxmlformats.org/officeDocument/2006/relationships/image"/><Relationship Id="rId9" Target="../media/image1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jpeg" Type="http://schemas.openxmlformats.org/officeDocument/2006/relationships/image"/><Relationship Id="rId7" Target="../media/image6.jpeg" Type="http://schemas.openxmlformats.org/officeDocument/2006/relationships/image"/><Relationship Id="rId8" Target="../media/image2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svg" Type="http://schemas.openxmlformats.org/officeDocument/2006/relationships/image"/><Relationship Id="rId7" Target="../media/image27.svg" Type="http://schemas.openxmlformats.org/officeDocument/2006/relationships/image"/><Relationship Id="rId8" Target="../media/image2.jpeg" Type="http://schemas.openxmlformats.org/officeDocument/2006/relationships/image"/><Relationship Id="rId9" Target="../media/image2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3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72B4D"/>
        </a:solidFill>
      </p:bgPr>
    </p:bg>
    <p:spTree>
      <p:nvGrpSpPr>
        <p:cNvPr id="1" name=""/>
        <p:cNvGrpSpPr/>
        <p:nvPr/>
      </p:nvGrpSpPr>
      <p:grpSpPr>
        <a:xfrm>
          <a:off x="0" y="0"/>
          <a:ext cx="0" cy="0"/>
          <a:chOff x="0" y="0"/>
          <a:chExt cx="0" cy="0"/>
        </a:xfrm>
      </p:grpSpPr>
      <p:grpSp>
        <p:nvGrpSpPr>
          <p:cNvPr name="Group 2" id="2"/>
          <p:cNvGrpSpPr/>
          <p:nvPr/>
        </p:nvGrpSpPr>
        <p:grpSpPr>
          <a:xfrm rot="0">
            <a:off x="0" y="3684146"/>
            <a:ext cx="13205698" cy="6602854"/>
            <a:chOff x="0" y="0"/>
            <a:chExt cx="17607598" cy="8803805"/>
          </a:xfrm>
        </p:grpSpPr>
        <p:sp>
          <p:nvSpPr>
            <p:cNvPr name="Freeform 3" id="3"/>
            <p:cNvSpPr/>
            <p:nvPr/>
          </p:nvSpPr>
          <p:spPr>
            <a:xfrm flipH="false" flipV="false" rot="0">
              <a:off x="0" y="0"/>
              <a:ext cx="17607535" cy="8803767"/>
            </a:xfrm>
            <a:custGeom>
              <a:avLst/>
              <a:gdLst/>
              <a:ahLst/>
              <a:cxnLst/>
              <a:rect r="r" b="b" t="t" l="l"/>
              <a:pathLst>
                <a:path h="8803767" w="17607535">
                  <a:moveTo>
                    <a:pt x="8795639" y="0"/>
                  </a:moveTo>
                  <a:cubicBezTo>
                    <a:pt x="4003929" y="4572"/>
                    <a:pt x="0" y="4011168"/>
                    <a:pt x="0" y="8803767"/>
                  </a:cubicBezTo>
                  <a:lnTo>
                    <a:pt x="4888357" y="8803767"/>
                  </a:lnTo>
                  <a:cubicBezTo>
                    <a:pt x="4888357" y="6671056"/>
                    <a:pt x="6671056" y="4888357"/>
                    <a:pt x="8803767" y="4888357"/>
                  </a:cubicBezTo>
                  <a:cubicBezTo>
                    <a:pt x="10936478" y="4888357"/>
                    <a:pt x="12719177" y="6671056"/>
                    <a:pt x="12719177" y="8803767"/>
                  </a:cubicBezTo>
                  <a:lnTo>
                    <a:pt x="17607535" y="8803767"/>
                  </a:lnTo>
                  <a:cubicBezTo>
                    <a:pt x="17607535" y="4011168"/>
                    <a:pt x="13603605" y="4572"/>
                    <a:pt x="8812022" y="0"/>
                  </a:cubicBezTo>
                  <a:close/>
                </a:path>
              </a:pathLst>
            </a:custGeom>
            <a:blipFill>
              <a:blip r:embed="rId2"/>
              <a:stretch>
                <a:fillRect l="0" t="0" r="0" b="0"/>
              </a:stretch>
            </a:blipFill>
          </p:spPr>
        </p:sp>
      </p:grpSp>
      <p:grpSp>
        <p:nvGrpSpPr>
          <p:cNvPr name="Group 4" id="4"/>
          <p:cNvGrpSpPr/>
          <p:nvPr/>
        </p:nvGrpSpPr>
        <p:grpSpPr>
          <a:xfrm rot="0">
            <a:off x="11045047" y="3684146"/>
            <a:ext cx="7242953" cy="6602063"/>
            <a:chOff x="0" y="0"/>
            <a:chExt cx="9657270" cy="8802751"/>
          </a:xfrm>
        </p:grpSpPr>
        <p:sp>
          <p:nvSpPr>
            <p:cNvPr name="Freeform 5" id="5"/>
            <p:cNvSpPr/>
            <p:nvPr/>
          </p:nvSpPr>
          <p:spPr>
            <a:xfrm flipH="false" flipV="false" rot="0">
              <a:off x="0" y="0"/>
              <a:ext cx="9657334" cy="8802751"/>
            </a:xfrm>
            <a:custGeom>
              <a:avLst/>
              <a:gdLst/>
              <a:ahLst/>
              <a:cxnLst/>
              <a:rect r="r" b="b" t="t" l="l"/>
              <a:pathLst>
                <a:path h="8802751" w="9657334">
                  <a:moveTo>
                    <a:pt x="4831207" y="0"/>
                  </a:moveTo>
                  <a:cubicBezTo>
                    <a:pt x="4278757" y="0"/>
                    <a:pt x="3714369" y="110490"/>
                    <a:pt x="3220847" y="278892"/>
                  </a:cubicBezTo>
                  <a:cubicBezTo>
                    <a:pt x="1360297" y="936498"/>
                    <a:pt x="26035" y="2715006"/>
                    <a:pt x="0" y="4738370"/>
                  </a:cubicBezTo>
                  <a:lnTo>
                    <a:pt x="0" y="8802751"/>
                  </a:lnTo>
                  <a:lnTo>
                    <a:pt x="9657334" y="8802751"/>
                  </a:lnTo>
                  <a:lnTo>
                    <a:pt x="9657334" y="4735195"/>
                  </a:lnTo>
                  <a:cubicBezTo>
                    <a:pt x="9631172" y="2725420"/>
                    <a:pt x="8276082" y="947039"/>
                    <a:pt x="6436487" y="273558"/>
                  </a:cubicBezTo>
                  <a:cubicBezTo>
                    <a:pt x="6426073" y="268351"/>
                    <a:pt x="6415659" y="268351"/>
                    <a:pt x="6405245" y="263017"/>
                  </a:cubicBezTo>
                  <a:cubicBezTo>
                    <a:pt x="5915279" y="94742"/>
                    <a:pt x="5383657" y="0"/>
                    <a:pt x="4831207" y="0"/>
                  </a:cubicBezTo>
                  <a:close/>
                </a:path>
              </a:pathLst>
            </a:custGeom>
            <a:blipFill>
              <a:blip r:embed="rId3"/>
              <a:stretch>
                <a:fillRect l="0" t="-11" r="-64" b="0"/>
              </a:stretch>
            </a:blipFill>
          </p:spPr>
        </p:sp>
      </p:grpSp>
      <p:grpSp>
        <p:nvGrpSpPr>
          <p:cNvPr name="Group 6" id="6"/>
          <p:cNvGrpSpPr/>
          <p:nvPr/>
        </p:nvGrpSpPr>
        <p:grpSpPr>
          <a:xfrm rot="0">
            <a:off x="1028700" y="1028700"/>
            <a:ext cx="684590" cy="684590"/>
            <a:chOff x="0" y="0"/>
            <a:chExt cx="912787" cy="912787"/>
          </a:xfrm>
        </p:grpSpPr>
        <p:sp>
          <p:nvSpPr>
            <p:cNvPr name="Freeform 7" id="7"/>
            <p:cNvSpPr/>
            <p:nvPr/>
          </p:nvSpPr>
          <p:spPr>
            <a:xfrm flipH="false" flipV="false" rot="0">
              <a:off x="0" y="0"/>
              <a:ext cx="912749" cy="912749"/>
            </a:xfrm>
            <a:custGeom>
              <a:avLst/>
              <a:gdLst/>
              <a:ahLst/>
              <a:cxnLst/>
              <a:rect r="r" b="b" t="t" l="l"/>
              <a:pathLst>
                <a:path h="912749" w="912749">
                  <a:moveTo>
                    <a:pt x="455803" y="0"/>
                  </a:moveTo>
                  <a:cubicBezTo>
                    <a:pt x="203962" y="381"/>
                    <a:pt x="0" y="204597"/>
                    <a:pt x="0" y="456438"/>
                  </a:cubicBezTo>
                  <a:cubicBezTo>
                    <a:pt x="0" y="708406"/>
                    <a:pt x="204343" y="912749"/>
                    <a:pt x="456438" y="912749"/>
                  </a:cubicBezTo>
                  <a:cubicBezTo>
                    <a:pt x="708533" y="912749"/>
                    <a:pt x="912622" y="708660"/>
                    <a:pt x="912749" y="456819"/>
                  </a:cubicBezTo>
                  <a:lnTo>
                    <a:pt x="912749" y="456311"/>
                  </a:lnTo>
                  <a:cubicBezTo>
                    <a:pt x="912749" y="204470"/>
                    <a:pt x="708660" y="381"/>
                    <a:pt x="456946" y="0"/>
                  </a:cubicBezTo>
                  <a:close/>
                </a:path>
              </a:pathLst>
            </a:custGeom>
            <a:blipFill>
              <a:blip r:embed="rId4"/>
              <a:stretch>
                <a:fillRect l="0" t="0" r="-4" b="-4"/>
              </a:stretch>
            </a:blipFill>
          </p:spPr>
        </p:sp>
      </p:grpSp>
      <p:sp>
        <p:nvSpPr>
          <p:cNvPr name="Freeform 8" id="8"/>
          <p:cNvSpPr/>
          <p:nvPr/>
        </p:nvSpPr>
        <p:spPr>
          <a:xfrm flipH="false" flipV="false" rot="0">
            <a:off x="4707226" y="1278922"/>
            <a:ext cx="12615577" cy="155572"/>
          </a:xfrm>
          <a:custGeom>
            <a:avLst/>
            <a:gdLst/>
            <a:ahLst/>
            <a:cxnLst/>
            <a:rect r="r" b="b" t="t" l="l"/>
            <a:pathLst>
              <a:path h="155572" w="12615577">
                <a:moveTo>
                  <a:pt x="0" y="0"/>
                </a:moveTo>
                <a:lnTo>
                  <a:pt x="12615577" y="0"/>
                </a:lnTo>
                <a:lnTo>
                  <a:pt x="12615577" y="155572"/>
                </a:lnTo>
                <a:lnTo>
                  <a:pt x="0" y="1555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028700" y="1716348"/>
            <a:ext cx="5955621" cy="6519596"/>
          </a:xfrm>
          <a:prstGeom prst="rect">
            <a:avLst/>
          </a:prstGeom>
        </p:spPr>
        <p:txBody>
          <a:bodyPr anchor="t" rtlCol="false" tIns="0" lIns="0" bIns="0" rIns="0">
            <a:spAutoFit/>
          </a:bodyPr>
          <a:lstStyle/>
          <a:p>
            <a:pPr algn="l">
              <a:lnSpc>
                <a:spcPts val="27480"/>
              </a:lnSpc>
            </a:pPr>
            <a:r>
              <a:rPr lang="en-US" b="true" sz="10992">
                <a:solidFill>
                  <a:srgbClr val="F7F9FC"/>
                </a:solidFill>
                <a:latin typeface="Montserrat Bold"/>
                <a:ea typeface="Montserrat Bold"/>
                <a:cs typeface="Montserrat Bold"/>
                <a:sym typeface="Montserrat Bold"/>
              </a:rPr>
              <a:t>LOCUS</a:t>
            </a:r>
          </a:p>
          <a:p>
            <a:pPr algn="l">
              <a:lnSpc>
                <a:spcPts val="27480"/>
              </a:lnSpc>
            </a:pPr>
          </a:p>
        </p:txBody>
      </p:sp>
      <p:sp>
        <p:nvSpPr>
          <p:cNvPr name="TextBox 10" id="10"/>
          <p:cNvSpPr txBox="true"/>
          <p:nvPr/>
        </p:nvSpPr>
        <p:spPr>
          <a:xfrm rot="0">
            <a:off x="2112769" y="1128084"/>
            <a:ext cx="1483385" cy="441074"/>
          </a:xfrm>
          <a:prstGeom prst="rect">
            <a:avLst/>
          </a:prstGeom>
        </p:spPr>
        <p:txBody>
          <a:bodyPr anchor="t" rtlCol="false" tIns="0" lIns="0" bIns="0" rIns="0">
            <a:spAutoFit/>
          </a:bodyPr>
          <a:lstStyle/>
          <a:p>
            <a:pPr algn="l">
              <a:lnSpc>
                <a:spcPts val="3496"/>
              </a:lnSpc>
            </a:pPr>
            <a:r>
              <a:rPr lang="en-US" b="true" sz="2497">
                <a:solidFill>
                  <a:srgbClr val="F7F9FC"/>
                </a:solidFill>
                <a:latin typeface="Open Sans Bold"/>
                <a:ea typeface="Open Sans Bold"/>
                <a:cs typeface="Open Sans Bold"/>
                <a:sym typeface="Open Sans Bold"/>
              </a:rPr>
              <a:t>LOCUS AI</a:t>
            </a:r>
          </a:p>
        </p:txBody>
      </p:sp>
      <p:sp>
        <p:nvSpPr>
          <p:cNvPr name="TextBox 11" id="11"/>
          <p:cNvSpPr txBox="true"/>
          <p:nvPr/>
        </p:nvSpPr>
        <p:spPr>
          <a:xfrm rot="0">
            <a:off x="12674975" y="6929971"/>
            <a:ext cx="2881055" cy="926363"/>
          </a:xfrm>
          <a:prstGeom prst="rect">
            <a:avLst/>
          </a:prstGeom>
        </p:spPr>
        <p:txBody>
          <a:bodyPr anchor="t" rtlCol="false" tIns="0" lIns="0" bIns="0" rIns="0">
            <a:spAutoFit/>
          </a:bodyPr>
          <a:lstStyle/>
          <a:p>
            <a:pPr algn="l">
              <a:lnSpc>
                <a:spcPts val="3496"/>
              </a:lnSpc>
            </a:pPr>
            <a:r>
              <a:rPr lang="en-US" b="true" sz="2497">
                <a:solidFill>
                  <a:srgbClr val="F7F9FC"/>
                </a:solidFill>
                <a:latin typeface="Open Sans Bold"/>
                <a:ea typeface="Open Sans Bold"/>
                <a:cs typeface="Open Sans Bold"/>
                <a:sym typeface="Open Sans Bold"/>
              </a:rPr>
              <a:t>Track:</a:t>
            </a:r>
          </a:p>
          <a:p>
            <a:pPr algn="l">
              <a:lnSpc>
                <a:spcPts val="3424"/>
              </a:lnSpc>
            </a:pPr>
            <a:r>
              <a:rPr lang="en-US" sz="2445">
                <a:solidFill>
                  <a:srgbClr val="F7F9FC"/>
                </a:solidFill>
                <a:latin typeface="Open Sans"/>
                <a:ea typeface="Open Sans"/>
                <a:cs typeface="Open Sans"/>
                <a:sym typeface="Open Sans"/>
              </a:rPr>
              <a:t>MACECO (Analytics)</a:t>
            </a:r>
          </a:p>
        </p:txBody>
      </p:sp>
      <p:sp>
        <p:nvSpPr>
          <p:cNvPr name="TextBox 12" id="12"/>
          <p:cNvSpPr txBox="true"/>
          <p:nvPr/>
        </p:nvSpPr>
        <p:spPr>
          <a:xfrm rot="0">
            <a:off x="12674975" y="8324860"/>
            <a:ext cx="1981190" cy="926363"/>
          </a:xfrm>
          <a:prstGeom prst="rect">
            <a:avLst/>
          </a:prstGeom>
        </p:spPr>
        <p:txBody>
          <a:bodyPr anchor="t" rtlCol="false" tIns="0" lIns="0" bIns="0" rIns="0">
            <a:spAutoFit/>
          </a:bodyPr>
          <a:lstStyle/>
          <a:p>
            <a:pPr algn="l">
              <a:lnSpc>
                <a:spcPts val="3496"/>
              </a:lnSpc>
            </a:pPr>
            <a:r>
              <a:rPr lang="en-US" b="true" sz="2497">
                <a:solidFill>
                  <a:srgbClr val="F7F9FC"/>
                </a:solidFill>
                <a:latin typeface="Open Sans Bold"/>
                <a:ea typeface="Open Sans Bold"/>
                <a:cs typeface="Open Sans Bold"/>
                <a:sym typeface="Open Sans Bold"/>
              </a:rPr>
              <a:t>TEAM:</a:t>
            </a:r>
          </a:p>
          <a:p>
            <a:pPr algn="l">
              <a:lnSpc>
                <a:spcPts val="3424"/>
              </a:lnSpc>
            </a:pPr>
            <a:r>
              <a:rPr lang="en-US" sz="2445">
                <a:solidFill>
                  <a:srgbClr val="F7F9FC"/>
                </a:solidFill>
                <a:latin typeface="Open Sans"/>
                <a:ea typeface="Open Sans"/>
                <a:cs typeface="Open Sans"/>
                <a:sym typeface="Open Sans"/>
              </a:rPr>
              <a:t>Not our team</a:t>
            </a:r>
          </a:p>
        </p:txBody>
      </p:sp>
      <p:sp>
        <p:nvSpPr>
          <p:cNvPr name="TextBox 13" id="13"/>
          <p:cNvSpPr txBox="true"/>
          <p:nvPr/>
        </p:nvSpPr>
        <p:spPr>
          <a:xfrm rot="0">
            <a:off x="6395676" y="1716348"/>
            <a:ext cx="5955621" cy="3033446"/>
          </a:xfrm>
          <a:prstGeom prst="rect">
            <a:avLst/>
          </a:prstGeom>
        </p:spPr>
        <p:txBody>
          <a:bodyPr anchor="t" rtlCol="false" tIns="0" lIns="0" bIns="0" rIns="0">
            <a:spAutoFit/>
          </a:bodyPr>
          <a:lstStyle/>
          <a:p>
            <a:pPr algn="l">
              <a:lnSpc>
                <a:spcPts val="27480"/>
              </a:lnSpc>
            </a:pPr>
            <a:r>
              <a:rPr lang="en-US" b="true" sz="10992">
                <a:solidFill>
                  <a:srgbClr val="F7F9FC"/>
                </a:solidFill>
                <a:latin typeface="Montserrat Bold"/>
                <a:ea typeface="Montserrat Bold"/>
                <a:cs typeface="Montserrat Bold"/>
                <a:sym typeface="Montserrat Bold"/>
              </a:rPr>
              <a:t>AI</a:t>
            </a:r>
          </a:p>
        </p:txBody>
      </p:sp>
      <p:sp>
        <p:nvSpPr>
          <p:cNvPr name="TextBox 14" id="14"/>
          <p:cNvSpPr txBox="true"/>
          <p:nvPr/>
        </p:nvSpPr>
        <p:spPr>
          <a:xfrm rot="0">
            <a:off x="1109956" y="4721219"/>
            <a:ext cx="6707615" cy="406445"/>
          </a:xfrm>
          <a:prstGeom prst="rect">
            <a:avLst/>
          </a:prstGeom>
        </p:spPr>
        <p:txBody>
          <a:bodyPr anchor="t" rtlCol="false" tIns="0" lIns="0" bIns="0" rIns="0">
            <a:spAutoFit/>
          </a:bodyPr>
          <a:lstStyle/>
          <a:p>
            <a:pPr algn="l">
              <a:lnSpc>
                <a:spcPts val="3322"/>
              </a:lnSpc>
              <a:spcBef>
                <a:spcPct val="0"/>
              </a:spcBef>
            </a:pPr>
            <a:r>
              <a:rPr lang="en-US" sz="2373">
                <a:solidFill>
                  <a:srgbClr val="F7F9FC"/>
                </a:solidFill>
                <a:latin typeface="Open Sans"/>
                <a:ea typeface="Open Sans"/>
                <a:cs typeface="Open Sans"/>
                <a:sym typeface="Open Sans"/>
              </a:rPr>
              <a:t>Know Where to Grow Before you spend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72B4D"/>
        </a:solidFill>
      </p:bgPr>
    </p:bg>
    <p:spTree>
      <p:nvGrpSpPr>
        <p:cNvPr id="1" name=""/>
        <p:cNvGrpSpPr/>
        <p:nvPr/>
      </p:nvGrpSpPr>
      <p:grpSpPr>
        <a:xfrm>
          <a:off x="0" y="0"/>
          <a:ext cx="0" cy="0"/>
          <a:chOff x="0" y="0"/>
          <a:chExt cx="0" cy="0"/>
        </a:xfrm>
      </p:grpSpPr>
      <p:grpSp>
        <p:nvGrpSpPr>
          <p:cNvPr name="Group 2" id="2"/>
          <p:cNvGrpSpPr/>
          <p:nvPr/>
        </p:nvGrpSpPr>
        <p:grpSpPr>
          <a:xfrm rot="0">
            <a:off x="9144000" y="5262667"/>
            <a:ext cx="9144000" cy="5024333"/>
            <a:chOff x="0" y="0"/>
            <a:chExt cx="12192000" cy="6699110"/>
          </a:xfrm>
        </p:grpSpPr>
        <p:sp>
          <p:nvSpPr>
            <p:cNvPr name="Freeform 3" id="3"/>
            <p:cNvSpPr/>
            <p:nvPr/>
          </p:nvSpPr>
          <p:spPr>
            <a:xfrm flipH="false" flipV="false" rot="0">
              <a:off x="0" y="0"/>
              <a:ext cx="12192000" cy="6699123"/>
            </a:xfrm>
            <a:custGeom>
              <a:avLst/>
              <a:gdLst/>
              <a:ahLst/>
              <a:cxnLst/>
              <a:rect r="r" b="b" t="t" l="l"/>
              <a:pathLst>
                <a:path h="6699123" w="12192000">
                  <a:moveTo>
                    <a:pt x="6699123" y="0"/>
                  </a:moveTo>
                  <a:cubicBezTo>
                    <a:pt x="3050159" y="0"/>
                    <a:pt x="0" y="3050159"/>
                    <a:pt x="0" y="6699123"/>
                  </a:cubicBezTo>
                  <a:lnTo>
                    <a:pt x="3719703" y="6699123"/>
                  </a:lnTo>
                  <a:cubicBezTo>
                    <a:pt x="3719703" y="5076317"/>
                    <a:pt x="5076190" y="3719830"/>
                    <a:pt x="6698997" y="3719830"/>
                  </a:cubicBezTo>
                  <a:cubicBezTo>
                    <a:pt x="8321802" y="3719830"/>
                    <a:pt x="9678416" y="5076317"/>
                    <a:pt x="9678416" y="6699123"/>
                  </a:cubicBezTo>
                  <a:lnTo>
                    <a:pt x="12192000" y="6699123"/>
                  </a:lnTo>
                  <a:lnTo>
                    <a:pt x="12192000" y="2905379"/>
                  </a:lnTo>
                  <a:cubicBezTo>
                    <a:pt x="10972165" y="1160145"/>
                    <a:pt x="8949436" y="0"/>
                    <a:pt x="6699123" y="0"/>
                  </a:cubicBezTo>
                  <a:close/>
                </a:path>
              </a:pathLst>
            </a:custGeom>
            <a:blipFill>
              <a:blip r:embed="rId2"/>
              <a:stretch>
                <a:fillRect l="0" t="0" r="-9893" b="0"/>
              </a:stretch>
            </a:blipFill>
          </p:spPr>
        </p:sp>
      </p:grpSp>
      <p:grpSp>
        <p:nvGrpSpPr>
          <p:cNvPr name="Group 4" id="4"/>
          <p:cNvGrpSpPr/>
          <p:nvPr/>
        </p:nvGrpSpPr>
        <p:grpSpPr>
          <a:xfrm rot="0">
            <a:off x="8921972" y="1028700"/>
            <a:ext cx="8337328" cy="8147437"/>
            <a:chOff x="0" y="0"/>
            <a:chExt cx="11116437" cy="10863250"/>
          </a:xfrm>
        </p:grpSpPr>
        <p:sp>
          <p:nvSpPr>
            <p:cNvPr name="Freeform 5" id="5"/>
            <p:cNvSpPr/>
            <p:nvPr/>
          </p:nvSpPr>
          <p:spPr>
            <a:xfrm flipH="false" flipV="false" rot="0">
              <a:off x="0" y="0"/>
              <a:ext cx="11116437" cy="10863199"/>
            </a:xfrm>
            <a:custGeom>
              <a:avLst/>
              <a:gdLst/>
              <a:ahLst/>
              <a:cxnLst/>
              <a:rect r="r" b="b" t="t" l="l"/>
              <a:pathLst>
                <a:path h="10863199" w="11116437">
                  <a:moveTo>
                    <a:pt x="381000" y="0"/>
                  </a:moveTo>
                  <a:cubicBezTo>
                    <a:pt x="170561" y="0"/>
                    <a:pt x="0" y="170561"/>
                    <a:pt x="0" y="381000"/>
                  </a:cubicBezTo>
                  <a:lnTo>
                    <a:pt x="0" y="10482199"/>
                  </a:lnTo>
                  <a:cubicBezTo>
                    <a:pt x="0" y="10692638"/>
                    <a:pt x="170561" y="10863199"/>
                    <a:pt x="381000" y="10863199"/>
                  </a:cubicBezTo>
                  <a:lnTo>
                    <a:pt x="10735437" y="10863199"/>
                  </a:lnTo>
                  <a:cubicBezTo>
                    <a:pt x="10945876" y="10863199"/>
                    <a:pt x="11116437" y="10692638"/>
                    <a:pt x="11116437" y="10482199"/>
                  </a:cubicBezTo>
                  <a:lnTo>
                    <a:pt x="11116437" y="381000"/>
                  </a:lnTo>
                  <a:cubicBezTo>
                    <a:pt x="11116437" y="170561"/>
                    <a:pt x="10945876" y="0"/>
                    <a:pt x="10735437" y="0"/>
                  </a:cubicBezTo>
                  <a:close/>
                </a:path>
              </a:pathLst>
            </a:custGeom>
            <a:blipFill>
              <a:blip r:embed="rId3"/>
              <a:stretch>
                <a:fillRect l="0" t="-333" r="-12" b="-447"/>
              </a:stretch>
            </a:blipFill>
          </p:spPr>
        </p:sp>
      </p:grpSp>
      <p:sp>
        <p:nvSpPr>
          <p:cNvPr name="TextBox 6" id="6"/>
          <p:cNvSpPr txBox="true"/>
          <p:nvPr/>
        </p:nvSpPr>
        <p:spPr>
          <a:xfrm rot="0">
            <a:off x="1028700" y="1383799"/>
            <a:ext cx="6940108" cy="7551844"/>
          </a:xfrm>
          <a:prstGeom prst="rect">
            <a:avLst/>
          </a:prstGeom>
        </p:spPr>
        <p:txBody>
          <a:bodyPr anchor="t" rtlCol="false" tIns="0" lIns="0" bIns="0" rIns="0">
            <a:spAutoFit/>
          </a:bodyPr>
          <a:lstStyle/>
          <a:p>
            <a:pPr algn="just">
              <a:lnSpc>
                <a:spcPts val="11060"/>
              </a:lnSpc>
            </a:pPr>
            <a:r>
              <a:rPr lang="en-US" b="true" sz="7962">
                <a:solidFill>
                  <a:srgbClr val="F7F9FC"/>
                </a:solidFill>
                <a:latin typeface="Montserrat Bold"/>
                <a:ea typeface="Montserrat Bold"/>
                <a:cs typeface="Montserrat Bold"/>
                <a:sym typeface="Montserrat Bold"/>
              </a:rPr>
              <a:t>Real</a:t>
            </a:r>
          </a:p>
          <a:p>
            <a:pPr algn="just">
              <a:lnSpc>
                <a:spcPts val="11060"/>
              </a:lnSpc>
            </a:pPr>
            <a:r>
              <a:rPr lang="en-US" b="true" sz="7962">
                <a:solidFill>
                  <a:srgbClr val="F7F9FC"/>
                </a:solidFill>
                <a:latin typeface="Montserrat Bold"/>
                <a:ea typeface="Montserrat Bold"/>
                <a:cs typeface="Montserrat Bold"/>
                <a:sym typeface="Montserrat Bold"/>
              </a:rPr>
              <a:t>Case</a:t>
            </a:r>
          </a:p>
          <a:p>
            <a:pPr algn="just">
              <a:lnSpc>
                <a:spcPts val="3727"/>
              </a:lnSpc>
            </a:pPr>
            <a:r>
              <a:rPr lang="en-US" sz="2683">
                <a:solidFill>
                  <a:srgbClr val="F7F9FC"/>
                </a:solidFill>
                <a:latin typeface="Open Sans"/>
                <a:ea typeface="Open Sans"/>
                <a:cs typeface="Open Sans"/>
                <a:sym typeface="Open Sans"/>
              </a:rPr>
              <a:t>A street entrepreneur in Hyderabad wants to open a tea and snacks stall near a college campus with a budget of ₹30,000. By dropping a pin on the map, LOCUS AI instantly scans nearby competitors, foot traffic patterns, and student density across 0–300 m, 300 m–2 km, and 2–5 km bands — revealing whether the location is worth the investment before a single rupee is spent.</a:t>
            </a:r>
          </a:p>
        </p:txBody>
      </p:sp>
      <p:sp>
        <p:nvSpPr>
          <p:cNvPr name="TextBox 7" id="7"/>
          <p:cNvSpPr txBox="true"/>
          <p:nvPr/>
        </p:nvSpPr>
        <p:spPr>
          <a:xfrm rot="0">
            <a:off x="3167460" y="1383799"/>
            <a:ext cx="2588086" cy="1339919"/>
          </a:xfrm>
          <a:prstGeom prst="rect">
            <a:avLst/>
          </a:prstGeom>
        </p:spPr>
        <p:txBody>
          <a:bodyPr anchor="t" rtlCol="false" tIns="0" lIns="0" bIns="0" rIns="0">
            <a:spAutoFit/>
          </a:bodyPr>
          <a:lstStyle/>
          <a:p>
            <a:pPr algn="ctr">
              <a:lnSpc>
                <a:spcPts val="11062"/>
              </a:lnSpc>
              <a:spcBef>
                <a:spcPct val="0"/>
              </a:spcBef>
            </a:pPr>
            <a:r>
              <a:rPr lang="en-US" b="true" sz="7901">
                <a:solidFill>
                  <a:srgbClr val="F7F9FC"/>
                </a:solidFill>
                <a:latin typeface="Open Sans Bold"/>
                <a:ea typeface="Open Sans Bold"/>
                <a:cs typeface="Open Sans Bold"/>
                <a:sym typeface="Open Sans Bold"/>
              </a:rPr>
              <a:t>Use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72B4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6687217"/>
            <a:ext cx="5212956" cy="2304860"/>
          </a:xfrm>
          <a:custGeom>
            <a:avLst/>
            <a:gdLst/>
            <a:ahLst/>
            <a:cxnLst/>
            <a:rect r="r" b="b" t="t" l="l"/>
            <a:pathLst>
              <a:path h="2304860" w="5212956">
                <a:moveTo>
                  <a:pt x="0" y="0"/>
                </a:moveTo>
                <a:lnTo>
                  <a:pt x="5212956" y="0"/>
                </a:lnTo>
                <a:lnTo>
                  <a:pt x="5212956" y="2304859"/>
                </a:lnTo>
                <a:lnTo>
                  <a:pt x="0" y="2304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3918937"/>
            <a:ext cx="5209365" cy="2339645"/>
          </a:xfrm>
          <a:custGeom>
            <a:avLst/>
            <a:gdLst/>
            <a:ahLst/>
            <a:cxnLst/>
            <a:rect r="r" b="b" t="t" l="l"/>
            <a:pathLst>
              <a:path h="2339645" w="5209365">
                <a:moveTo>
                  <a:pt x="0" y="0"/>
                </a:moveTo>
                <a:lnTo>
                  <a:pt x="5209365" y="0"/>
                </a:lnTo>
                <a:lnTo>
                  <a:pt x="5209365" y="2339645"/>
                </a:lnTo>
                <a:lnTo>
                  <a:pt x="0" y="23396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461065" y="6687217"/>
            <a:ext cx="5212956" cy="2304860"/>
          </a:xfrm>
          <a:custGeom>
            <a:avLst/>
            <a:gdLst/>
            <a:ahLst/>
            <a:cxnLst/>
            <a:rect r="r" b="b" t="t" l="l"/>
            <a:pathLst>
              <a:path h="2304860" w="5212956">
                <a:moveTo>
                  <a:pt x="0" y="0"/>
                </a:moveTo>
                <a:lnTo>
                  <a:pt x="5212956" y="0"/>
                </a:lnTo>
                <a:lnTo>
                  <a:pt x="5212956" y="2304859"/>
                </a:lnTo>
                <a:lnTo>
                  <a:pt x="0" y="2304859"/>
                </a:lnTo>
                <a:lnTo>
                  <a:pt x="0" y="0"/>
                </a:lnTo>
                <a:close/>
              </a:path>
            </a:pathLst>
          </a:custGeom>
          <a:blipFill>
            <a:blip r:embed="rId2">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6461065" y="3918937"/>
            <a:ext cx="5209365" cy="2339645"/>
          </a:xfrm>
          <a:custGeom>
            <a:avLst/>
            <a:gdLst/>
            <a:ahLst/>
            <a:cxnLst/>
            <a:rect r="r" b="b" t="t" l="l"/>
            <a:pathLst>
              <a:path h="2339645" w="5209365">
                <a:moveTo>
                  <a:pt x="0" y="0"/>
                </a:moveTo>
                <a:lnTo>
                  <a:pt x="5209365" y="0"/>
                </a:lnTo>
                <a:lnTo>
                  <a:pt x="5209365" y="2339645"/>
                </a:lnTo>
                <a:lnTo>
                  <a:pt x="0" y="2339645"/>
                </a:lnTo>
                <a:lnTo>
                  <a:pt x="0" y="0"/>
                </a:lnTo>
                <a:close/>
              </a:path>
            </a:pathLst>
          </a:custGeom>
          <a:blipFill>
            <a:blip r:embed="rId4">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1893610" y="0"/>
            <a:ext cx="3867150" cy="10287000"/>
            <a:chOff x="0" y="0"/>
            <a:chExt cx="5156200" cy="13716000"/>
          </a:xfrm>
        </p:grpSpPr>
        <p:sp>
          <p:nvSpPr>
            <p:cNvPr name="Freeform 7" id="7"/>
            <p:cNvSpPr/>
            <p:nvPr/>
          </p:nvSpPr>
          <p:spPr>
            <a:xfrm flipH="false" flipV="false" rot="0">
              <a:off x="0" y="0"/>
              <a:ext cx="5156200" cy="13716000"/>
            </a:xfrm>
            <a:custGeom>
              <a:avLst/>
              <a:gdLst/>
              <a:ahLst/>
              <a:cxnLst/>
              <a:rect r="r" b="b" t="t" l="l"/>
              <a:pathLst>
                <a:path h="13716000" w="5156200">
                  <a:moveTo>
                    <a:pt x="254000" y="0"/>
                  </a:moveTo>
                  <a:cubicBezTo>
                    <a:pt x="113665" y="0"/>
                    <a:pt x="0" y="113665"/>
                    <a:pt x="0" y="254000"/>
                  </a:cubicBezTo>
                  <a:lnTo>
                    <a:pt x="0" y="13462000"/>
                  </a:lnTo>
                  <a:cubicBezTo>
                    <a:pt x="0" y="13602208"/>
                    <a:pt x="113538" y="13715873"/>
                    <a:pt x="253746" y="13716000"/>
                  </a:cubicBezTo>
                  <a:lnTo>
                    <a:pt x="4902835" y="13716000"/>
                  </a:lnTo>
                  <a:cubicBezTo>
                    <a:pt x="5038471" y="13715873"/>
                    <a:pt x="5149215" y="13609447"/>
                    <a:pt x="5156200" y="13475588"/>
                  </a:cubicBezTo>
                  <a:lnTo>
                    <a:pt x="5156200" y="240411"/>
                  </a:lnTo>
                  <a:cubicBezTo>
                    <a:pt x="5149088" y="106426"/>
                    <a:pt x="5038217" y="0"/>
                    <a:pt x="4902581" y="0"/>
                  </a:cubicBezTo>
                  <a:close/>
                </a:path>
              </a:pathLst>
            </a:custGeom>
            <a:blipFill>
              <a:blip r:embed="rId8"/>
              <a:stretch>
                <a:fillRect l="-3032" t="0" r="-3125" b="0"/>
              </a:stretch>
            </a:blipFill>
          </p:spPr>
        </p:sp>
      </p:grpSp>
      <p:grpSp>
        <p:nvGrpSpPr>
          <p:cNvPr name="Group 8" id="8"/>
          <p:cNvGrpSpPr/>
          <p:nvPr/>
        </p:nvGrpSpPr>
        <p:grpSpPr>
          <a:xfrm rot="0">
            <a:off x="14514176" y="3570141"/>
            <a:ext cx="3773824" cy="6715125"/>
            <a:chOff x="0" y="0"/>
            <a:chExt cx="5031765" cy="8953500"/>
          </a:xfrm>
        </p:grpSpPr>
        <p:sp>
          <p:nvSpPr>
            <p:cNvPr name="Freeform 9" id="9"/>
            <p:cNvSpPr/>
            <p:nvPr/>
          </p:nvSpPr>
          <p:spPr>
            <a:xfrm flipH="false" flipV="false" rot="0">
              <a:off x="0" y="0"/>
              <a:ext cx="5031740" cy="8953500"/>
            </a:xfrm>
            <a:custGeom>
              <a:avLst/>
              <a:gdLst/>
              <a:ahLst/>
              <a:cxnLst/>
              <a:rect r="r" b="b" t="t" l="l"/>
              <a:pathLst>
                <a:path h="8953500" w="5031740">
                  <a:moveTo>
                    <a:pt x="254000" y="0"/>
                  </a:moveTo>
                  <a:cubicBezTo>
                    <a:pt x="113665" y="0"/>
                    <a:pt x="0" y="113665"/>
                    <a:pt x="0" y="254000"/>
                  </a:cubicBezTo>
                  <a:lnTo>
                    <a:pt x="0" y="8701786"/>
                  </a:lnTo>
                  <a:cubicBezTo>
                    <a:pt x="0" y="8830437"/>
                    <a:pt x="95631" y="8936736"/>
                    <a:pt x="219583" y="8953500"/>
                  </a:cubicBezTo>
                  <a:lnTo>
                    <a:pt x="5031740" y="8953500"/>
                  </a:lnTo>
                  <a:lnTo>
                    <a:pt x="5031740" y="0"/>
                  </a:lnTo>
                  <a:close/>
                </a:path>
              </a:pathLst>
            </a:custGeom>
            <a:blipFill>
              <a:blip r:embed="rId9"/>
              <a:stretch>
                <a:fillRect l="-3533" t="0" r="-8278" b="0"/>
              </a:stretch>
            </a:blipFill>
          </p:spPr>
        </p:sp>
      </p:grpSp>
      <p:grpSp>
        <p:nvGrpSpPr>
          <p:cNvPr name="Group 10" id="10"/>
          <p:cNvGrpSpPr/>
          <p:nvPr/>
        </p:nvGrpSpPr>
        <p:grpSpPr>
          <a:xfrm rot="0">
            <a:off x="1028700" y="3918937"/>
            <a:ext cx="5213480" cy="2339645"/>
            <a:chOff x="0" y="0"/>
            <a:chExt cx="5213477" cy="2339645"/>
          </a:xfrm>
        </p:grpSpPr>
        <p:sp>
          <p:nvSpPr>
            <p:cNvPr name="Freeform 11" id="11"/>
            <p:cNvSpPr/>
            <p:nvPr/>
          </p:nvSpPr>
          <p:spPr>
            <a:xfrm flipH="false" flipV="false" rot="0">
              <a:off x="0" y="0"/>
              <a:ext cx="5213478" cy="2339593"/>
            </a:xfrm>
            <a:custGeom>
              <a:avLst/>
              <a:gdLst/>
              <a:ahLst/>
              <a:cxnLst/>
              <a:rect r="r" b="b" t="t" l="l"/>
              <a:pathLst>
                <a:path h="2339593" w="5213478">
                  <a:moveTo>
                    <a:pt x="0" y="2339593"/>
                  </a:moveTo>
                  <a:lnTo>
                    <a:pt x="5213478" y="2339593"/>
                  </a:lnTo>
                  <a:lnTo>
                    <a:pt x="5213478" y="0"/>
                  </a:lnTo>
                  <a:lnTo>
                    <a:pt x="0" y="0"/>
                  </a:lnTo>
                  <a:close/>
                </a:path>
              </a:pathLst>
            </a:custGeom>
            <a:solidFill>
              <a:srgbClr val="000000">
                <a:alpha val="0"/>
              </a:srgbClr>
            </a:solidFill>
          </p:spPr>
        </p:sp>
      </p:grpSp>
      <p:grpSp>
        <p:nvGrpSpPr>
          <p:cNvPr name="Group 12" id="12"/>
          <p:cNvGrpSpPr/>
          <p:nvPr/>
        </p:nvGrpSpPr>
        <p:grpSpPr>
          <a:xfrm rot="0">
            <a:off x="1028700" y="6687217"/>
            <a:ext cx="5213480" cy="2304860"/>
            <a:chOff x="0" y="0"/>
            <a:chExt cx="5213477" cy="2304860"/>
          </a:xfrm>
        </p:grpSpPr>
        <p:sp>
          <p:nvSpPr>
            <p:cNvPr name="Freeform 13" id="13"/>
            <p:cNvSpPr/>
            <p:nvPr/>
          </p:nvSpPr>
          <p:spPr>
            <a:xfrm flipH="false" flipV="false" rot="0">
              <a:off x="0" y="0"/>
              <a:ext cx="5213478" cy="2304919"/>
            </a:xfrm>
            <a:custGeom>
              <a:avLst/>
              <a:gdLst/>
              <a:ahLst/>
              <a:cxnLst/>
              <a:rect r="r" b="b" t="t" l="l"/>
              <a:pathLst>
                <a:path h="2304919" w="5213478">
                  <a:moveTo>
                    <a:pt x="0" y="2304919"/>
                  </a:moveTo>
                  <a:lnTo>
                    <a:pt x="5213478" y="2304919"/>
                  </a:lnTo>
                  <a:lnTo>
                    <a:pt x="5213478" y="0"/>
                  </a:lnTo>
                  <a:lnTo>
                    <a:pt x="0" y="0"/>
                  </a:lnTo>
                  <a:close/>
                </a:path>
              </a:pathLst>
            </a:custGeom>
            <a:solidFill>
              <a:srgbClr val="000000">
                <a:alpha val="0"/>
              </a:srgbClr>
            </a:solidFill>
          </p:spPr>
        </p:sp>
      </p:grpSp>
      <p:grpSp>
        <p:nvGrpSpPr>
          <p:cNvPr name="Group 14" id="14"/>
          <p:cNvGrpSpPr/>
          <p:nvPr/>
        </p:nvGrpSpPr>
        <p:grpSpPr>
          <a:xfrm rot="0">
            <a:off x="6461065" y="3918937"/>
            <a:ext cx="5213480" cy="2339645"/>
            <a:chOff x="0" y="0"/>
            <a:chExt cx="5213477" cy="2339645"/>
          </a:xfrm>
        </p:grpSpPr>
        <p:sp>
          <p:nvSpPr>
            <p:cNvPr name="Freeform 15" id="15"/>
            <p:cNvSpPr/>
            <p:nvPr/>
          </p:nvSpPr>
          <p:spPr>
            <a:xfrm flipH="false" flipV="false" rot="0">
              <a:off x="0" y="0"/>
              <a:ext cx="5213478" cy="2339593"/>
            </a:xfrm>
            <a:custGeom>
              <a:avLst/>
              <a:gdLst/>
              <a:ahLst/>
              <a:cxnLst/>
              <a:rect r="r" b="b" t="t" l="l"/>
              <a:pathLst>
                <a:path h="2339593" w="5213478">
                  <a:moveTo>
                    <a:pt x="0" y="2339593"/>
                  </a:moveTo>
                  <a:lnTo>
                    <a:pt x="5213478" y="2339593"/>
                  </a:lnTo>
                  <a:lnTo>
                    <a:pt x="5213478" y="0"/>
                  </a:lnTo>
                  <a:lnTo>
                    <a:pt x="0" y="0"/>
                  </a:lnTo>
                  <a:close/>
                </a:path>
              </a:pathLst>
            </a:custGeom>
            <a:solidFill>
              <a:srgbClr val="000000">
                <a:alpha val="0"/>
              </a:srgbClr>
            </a:solidFill>
          </p:spPr>
        </p:sp>
      </p:grpSp>
      <p:grpSp>
        <p:nvGrpSpPr>
          <p:cNvPr name="Group 16" id="16"/>
          <p:cNvGrpSpPr/>
          <p:nvPr/>
        </p:nvGrpSpPr>
        <p:grpSpPr>
          <a:xfrm rot="0">
            <a:off x="6461065" y="6687217"/>
            <a:ext cx="5213480" cy="2304860"/>
            <a:chOff x="0" y="0"/>
            <a:chExt cx="5213477" cy="2304860"/>
          </a:xfrm>
        </p:grpSpPr>
        <p:sp>
          <p:nvSpPr>
            <p:cNvPr name="Freeform 17" id="17"/>
            <p:cNvSpPr/>
            <p:nvPr/>
          </p:nvSpPr>
          <p:spPr>
            <a:xfrm flipH="false" flipV="false" rot="0">
              <a:off x="0" y="0"/>
              <a:ext cx="5213478" cy="2304919"/>
            </a:xfrm>
            <a:custGeom>
              <a:avLst/>
              <a:gdLst/>
              <a:ahLst/>
              <a:cxnLst/>
              <a:rect r="r" b="b" t="t" l="l"/>
              <a:pathLst>
                <a:path h="2304919" w="5213478">
                  <a:moveTo>
                    <a:pt x="0" y="2304919"/>
                  </a:moveTo>
                  <a:lnTo>
                    <a:pt x="5213478" y="2304919"/>
                  </a:lnTo>
                  <a:lnTo>
                    <a:pt x="5213478" y="0"/>
                  </a:lnTo>
                  <a:lnTo>
                    <a:pt x="0" y="0"/>
                  </a:lnTo>
                  <a:close/>
                </a:path>
              </a:pathLst>
            </a:custGeom>
            <a:solidFill>
              <a:srgbClr val="000000">
                <a:alpha val="0"/>
              </a:srgbClr>
            </a:solidFill>
          </p:spPr>
        </p:sp>
      </p:grpSp>
      <p:sp>
        <p:nvSpPr>
          <p:cNvPr name="TextBox 18" id="18"/>
          <p:cNvSpPr txBox="true"/>
          <p:nvPr/>
        </p:nvSpPr>
        <p:spPr>
          <a:xfrm rot="0">
            <a:off x="1028700" y="1207494"/>
            <a:ext cx="6884451" cy="2194922"/>
          </a:xfrm>
          <a:prstGeom prst="rect">
            <a:avLst/>
          </a:prstGeom>
        </p:spPr>
        <p:txBody>
          <a:bodyPr anchor="t" rtlCol="false" tIns="0" lIns="0" bIns="0" rIns="0">
            <a:spAutoFit/>
          </a:bodyPr>
          <a:lstStyle/>
          <a:p>
            <a:pPr algn="l">
              <a:lnSpc>
                <a:spcPts val="8400"/>
              </a:lnSpc>
            </a:pPr>
            <a:r>
              <a:rPr lang="en-US" b="true" sz="8493">
                <a:solidFill>
                  <a:srgbClr val="F7F9FC"/>
                </a:solidFill>
                <a:latin typeface="Montserrat Bold"/>
                <a:ea typeface="Montserrat Bold"/>
                <a:cs typeface="Montserrat Bold"/>
                <a:sym typeface="Montserrat Bold"/>
              </a:rPr>
              <a:t>How LOCUS AI Works</a:t>
            </a:r>
          </a:p>
        </p:txBody>
      </p:sp>
      <p:sp>
        <p:nvSpPr>
          <p:cNvPr name="TextBox 19" id="19"/>
          <p:cNvSpPr txBox="true"/>
          <p:nvPr/>
        </p:nvSpPr>
        <p:spPr>
          <a:xfrm rot="0">
            <a:off x="2996308" y="4408894"/>
            <a:ext cx="66399" cy="348958"/>
          </a:xfrm>
          <a:prstGeom prst="rect">
            <a:avLst/>
          </a:prstGeom>
        </p:spPr>
        <p:txBody>
          <a:bodyPr anchor="t" rtlCol="false" tIns="0" lIns="0" bIns="0" rIns="0">
            <a:spAutoFit/>
          </a:bodyPr>
          <a:lstStyle/>
          <a:p>
            <a:pPr algn="l">
              <a:lnSpc>
                <a:spcPts val="2762"/>
              </a:lnSpc>
            </a:pPr>
            <a:r>
              <a:rPr lang="en-US" b="true" sz="1973">
                <a:solidFill>
                  <a:srgbClr val="F7F9FC"/>
                </a:solidFill>
                <a:latin typeface="Open Sans Bold"/>
                <a:ea typeface="Open Sans Bold"/>
                <a:cs typeface="Open Sans Bold"/>
                <a:sym typeface="Open Sans Bold"/>
              </a:rPr>
              <a:t> </a:t>
            </a:r>
          </a:p>
        </p:txBody>
      </p:sp>
      <p:sp>
        <p:nvSpPr>
          <p:cNvPr name="TextBox 20" id="20"/>
          <p:cNvSpPr txBox="true"/>
          <p:nvPr/>
        </p:nvSpPr>
        <p:spPr>
          <a:xfrm rot="0">
            <a:off x="1421149" y="4418419"/>
            <a:ext cx="4139641" cy="1460459"/>
          </a:xfrm>
          <a:prstGeom prst="rect">
            <a:avLst/>
          </a:prstGeom>
        </p:spPr>
        <p:txBody>
          <a:bodyPr anchor="t" rtlCol="false" tIns="0" lIns="0" bIns="0" rIns="0">
            <a:spAutoFit/>
          </a:bodyPr>
          <a:lstStyle/>
          <a:p>
            <a:pPr algn="l">
              <a:lnSpc>
                <a:spcPts val="2697"/>
              </a:lnSpc>
            </a:pPr>
            <a:r>
              <a:rPr lang="en-US" b="true" sz="1973">
                <a:solidFill>
                  <a:srgbClr val="F7F9FC"/>
                </a:solidFill>
                <a:latin typeface="Open Sans Bold"/>
                <a:ea typeface="Open Sans Bold"/>
                <a:cs typeface="Open Sans Bold"/>
                <a:sym typeface="Open Sans Bold"/>
              </a:rPr>
              <a:t>01/</a:t>
            </a:r>
          </a:p>
          <a:p>
            <a:pPr algn="l">
              <a:lnSpc>
                <a:spcPts val="2625"/>
              </a:lnSpc>
            </a:pPr>
            <a:r>
              <a:rPr lang="en-US" sz="1920">
                <a:solidFill>
                  <a:srgbClr val="F7F9FC"/>
                </a:solidFill>
                <a:latin typeface="Open Sans"/>
                <a:ea typeface="Open Sans"/>
                <a:cs typeface="Open Sans"/>
                <a:sym typeface="Open Sans"/>
              </a:rPr>
              <a:t>Enter your business idea, budget, format, and target customers to get started.</a:t>
            </a:r>
          </a:p>
        </p:txBody>
      </p:sp>
      <p:sp>
        <p:nvSpPr>
          <p:cNvPr name="TextBox 21" id="21"/>
          <p:cNvSpPr txBox="true"/>
          <p:nvPr/>
        </p:nvSpPr>
        <p:spPr>
          <a:xfrm rot="0">
            <a:off x="1493530" y="7186689"/>
            <a:ext cx="3814972" cy="1463497"/>
          </a:xfrm>
          <a:prstGeom prst="rect">
            <a:avLst/>
          </a:prstGeom>
        </p:spPr>
        <p:txBody>
          <a:bodyPr anchor="t" rtlCol="false" tIns="0" lIns="0" bIns="0" rIns="0">
            <a:spAutoFit/>
          </a:bodyPr>
          <a:lstStyle/>
          <a:p>
            <a:pPr algn="just">
              <a:lnSpc>
                <a:spcPts val="2697"/>
              </a:lnSpc>
            </a:pPr>
            <a:r>
              <a:rPr lang="en-US" b="true" sz="1973">
                <a:solidFill>
                  <a:srgbClr val="F7F9FC"/>
                </a:solidFill>
                <a:latin typeface="Open Sans Bold"/>
                <a:ea typeface="Open Sans Bold"/>
                <a:cs typeface="Open Sans Bold"/>
                <a:sym typeface="Open Sans Bold"/>
              </a:rPr>
              <a:t>02/</a:t>
            </a:r>
          </a:p>
          <a:p>
            <a:pPr algn="just">
              <a:lnSpc>
                <a:spcPts val="2625"/>
              </a:lnSpc>
            </a:pPr>
            <a:r>
              <a:rPr lang="en-US" sz="1920">
                <a:solidFill>
                  <a:srgbClr val="F7F9FC"/>
                </a:solidFill>
                <a:latin typeface="Open Sans"/>
                <a:ea typeface="Open Sans"/>
                <a:cs typeface="Open Sans"/>
                <a:sym typeface="Open Sans"/>
              </a:rPr>
              <a:t>Explore nearby competitors, foot traffic signals, and commercial activity across distance bands.</a:t>
            </a:r>
          </a:p>
        </p:txBody>
      </p:sp>
      <p:sp>
        <p:nvSpPr>
          <p:cNvPr name="TextBox 22" id="22"/>
          <p:cNvSpPr txBox="true"/>
          <p:nvPr/>
        </p:nvSpPr>
        <p:spPr>
          <a:xfrm rot="0">
            <a:off x="2249262" y="7177164"/>
            <a:ext cx="2491435" cy="348958"/>
          </a:xfrm>
          <a:prstGeom prst="rect">
            <a:avLst/>
          </a:prstGeom>
        </p:spPr>
        <p:txBody>
          <a:bodyPr anchor="t" rtlCol="false" tIns="0" lIns="0" bIns="0" rIns="0">
            <a:spAutoFit/>
          </a:bodyPr>
          <a:lstStyle/>
          <a:p>
            <a:pPr algn="l">
              <a:lnSpc>
                <a:spcPts val="2762"/>
              </a:lnSpc>
            </a:pPr>
            <a:r>
              <a:rPr lang="en-US" b="true" sz="1973">
                <a:solidFill>
                  <a:srgbClr val="F7F9FC"/>
                </a:solidFill>
                <a:latin typeface="Open Sans Bold"/>
                <a:ea typeface="Open Sans Bold"/>
                <a:cs typeface="Open Sans Bold"/>
                <a:sym typeface="Open Sans Bold"/>
              </a:rPr>
              <a:t>Analyze the Market</a:t>
            </a:r>
          </a:p>
        </p:txBody>
      </p:sp>
      <p:sp>
        <p:nvSpPr>
          <p:cNvPr name="TextBox 23" id="23"/>
          <p:cNvSpPr txBox="true"/>
          <p:nvPr/>
        </p:nvSpPr>
        <p:spPr>
          <a:xfrm rot="0">
            <a:off x="2176882" y="4408894"/>
            <a:ext cx="2687545" cy="348958"/>
          </a:xfrm>
          <a:prstGeom prst="rect">
            <a:avLst/>
          </a:prstGeom>
        </p:spPr>
        <p:txBody>
          <a:bodyPr anchor="t" rtlCol="false" tIns="0" lIns="0" bIns="0" rIns="0">
            <a:spAutoFit/>
          </a:bodyPr>
          <a:lstStyle/>
          <a:p>
            <a:pPr algn="l">
              <a:lnSpc>
                <a:spcPts val="2762"/>
              </a:lnSpc>
            </a:pPr>
            <a:r>
              <a:rPr lang="en-US" b="true" sz="1973">
                <a:solidFill>
                  <a:srgbClr val="F7F9FC"/>
                </a:solidFill>
                <a:latin typeface="Open Sans Bold"/>
                <a:ea typeface="Open Sans Bold"/>
                <a:cs typeface="Open Sans Bold"/>
                <a:sym typeface="Open Sans Bold"/>
              </a:rPr>
              <a:t>Define</a:t>
            </a:r>
            <a:r>
              <a:rPr lang="en-US" b="true" sz="1973">
                <a:solidFill>
                  <a:srgbClr val="000000"/>
                </a:solidFill>
                <a:latin typeface="Open Sans Bold"/>
                <a:ea typeface="Open Sans Bold"/>
                <a:cs typeface="Open Sans Bold"/>
                <a:sym typeface="Open Sans Bold"/>
              </a:rPr>
              <a:t> </a:t>
            </a:r>
            <a:r>
              <a:rPr lang="en-US" b="true" sz="1973">
                <a:solidFill>
                  <a:srgbClr val="F7F9FC"/>
                </a:solidFill>
                <a:latin typeface="Open Sans Bold"/>
                <a:ea typeface="Open Sans Bold"/>
                <a:cs typeface="Open Sans Bold"/>
                <a:sym typeface="Open Sans Bold"/>
              </a:rPr>
              <a:t>Your</a:t>
            </a:r>
            <a:r>
              <a:rPr lang="en-US" b="true" sz="1973">
                <a:solidFill>
                  <a:srgbClr val="000000"/>
                </a:solidFill>
                <a:latin typeface="Open Sans Bold"/>
                <a:ea typeface="Open Sans Bold"/>
                <a:cs typeface="Open Sans Bold"/>
                <a:sym typeface="Open Sans Bold"/>
              </a:rPr>
              <a:t> </a:t>
            </a:r>
            <a:r>
              <a:rPr lang="en-US" b="true" sz="1973">
                <a:solidFill>
                  <a:srgbClr val="F7F9FC"/>
                </a:solidFill>
                <a:latin typeface="Open Sans Bold"/>
                <a:ea typeface="Open Sans Bold"/>
                <a:cs typeface="Open Sans Bold"/>
                <a:sym typeface="Open Sans Bold"/>
              </a:rPr>
              <a:t>Business</a:t>
            </a:r>
          </a:p>
        </p:txBody>
      </p:sp>
      <p:sp>
        <p:nvSpPr>
          <p:cNvPr name="TextBox 24" id="24"/>
          <p:cNvSpPr txBox="true"/>
          <p:nvPr/>
        </p:nvSpPr>
        <p:spPr>
          <a:xfrm rot="0">
            <a:off x="6889699" y="4408894"/>
            <a:ext cx="397754" cy="348958"/>
          </a:xfrm>
          <a:prstGeom prst="rect">
            <a:avLst/>
          </a:prstGeom>
        </p:spPr>
        <p:txBody>
          <a:bodyPr anchor="t" rtlCol="false" tIns="0" lIns="0" bIns="0" rIns="0">
            <a:spAutoFit/>
          </a:bodyPr>
          <a:lstStyle/>
          <a:p>
            <a:pPr algn="l">
              <a:lnSpc>
                <a:spcPts val="2762"/>
              </a:lnSpc>
            </a:pPr>
            <a:r>
              <a:rPr lang="en-US" b="true" sz="1973">
                <a:solidFill>
                  <a:srgbClr val="F7F9FC"/>
                </a:solidFill>
                <a:latin typeface="Open Sans Bold"/>
                <a:ea typeface="Open Sans Bold"/>
                <a:cs typeface="Open Sans Bold"/>
                <a:sym typeface="Open Sans Bold"/>
              </a:rPr>
              <a:t>03/</a:t>
            </a:r>
          </a:p>
        </p:txBody>
      </p:sp>
      <p:sp>
        <p:nvSpPr>
          <p:cNvPr name="TextBox 25" id="25"/>
          <p:cNvSpPr txBox="true"/>
          <p:nvPr/>
        </p:nvSpPr>
        <p:spPr>
          <a:xfrm rot="0">
            <a:off x="6962080" y="7177164"/>
            <a:ext cx="397754" cy="348958"/>
          </a:xfrm>
          <a:prstGeom prst="rect">
            <a:avLst/>
          </a:prstGeom>
        </p:spPr>
        <p:txBody>
          <a:bodyPr anchor="t" rtlCol="false" tIns="0" lIns="0" bIns="0" rIns="0">
            <a:spAutoFit/>
          </a:bodyPr>
          <a:lstStyle/>
          <a:p>
            <a:pPr algn="l">
              <a:lnSpc>
                <a:spcPts val="2762"/>
              </a:lnSpc>
            </a:pPr>
            <a:r>
              <a:rPr lang="en-US" b="true" sz="1973">
                <a:solidFill>
                  <a:srgbClr val="F7F9FC"/>
                </a:solidFill>
                <a:latin typeface="Open Sans Bold"/>
                <a:ea typeface="Open Sans Bold"/>
                <a:cs typeface="Open Sans Bold"/>
                <a:sym typeface="Open Sans Bold"/>
              </a:rPr>
              <a:t>04/</a:t>
            </a:r>
          </a:p>
        </p:txBody>
      </p:sp>
      <p:sp>
        <p:nvSpPr>
          <p:cNvPr name="TextBox 26" id="26"/>
          <p:cNvSpPr txBox="true"/>
          <p:nvPr/>
        </p:nvSpPr>
        <p:spPr>
          <a:xfrm rot="0">
            <a:off x="7717812" y="7177164"/>
            <a:ext cx="2021643" cy="348958"/>
          </a:xfrm>
          <a:prstGeom prst="rect">
            <a:avLst/>
          </a:prstGeom>
        </p:spPr>
        <p:txBody>
          <a:bodyPr anchor="t" rtlCol="false" tIns="0" lIns="0" bIns="0" rIns="0">
            <a:spAutoFit/>
          </a:bodyPr>
          <a:lstStyle/>
          <a:p>
            <a:pPr algn="l">
              <a:lnSpc>
                <a:spcPts val="2762"/>
              </a:lnSpc>
            </a:pPr>
            <a:r>
              <a:rPr lang="en-US" b="true" sz="1973">
                <a:solidFill>
                  <a:srgbClr val="F7F9FC"/>
                </a:solidFill>
                <a:latin typeface="Open Sans Bold"/>
                <a:ea typeface="Open Sans Bold"/>
                <a:cs typeface="Open Sans Bold"/>
                <a:sym typeface="Open Sans Bold"/>
              </a:rPr>
              <a:t>Assess &amp; Decide</a:t>
            </a:r>
          </a:p>
        </p:txBody>
      </p:sp>
      <p:sp>
        <p:nvSpPr>
          <p:cNvPr name="TextBox 27" id="27"/>
          <p:cNvSpPr txBox="true"/>
          <p:nvPr/>
        </p:nvSpPr>
        <p:spPr>
          <a:xfrm rot="0">
            <a:off x="7645432" y="4408894"/>
            <a:ext cx="2243833" cy="348958"/>
          </a:xfrm>
          <a:prstGeom prst="rect">
            <a:avLst/>
          </a:prstGeom>
        </p:spPr>
        <p:txBody>
          <a:bodyPr anchor="t" rtlCol="false" tIns="0" lIns="0" bIns="0" rIns="0">
            <a:spAutoFit/>
          </a:bodyPr>
          <a:lstStyle/>
          <a:p>
            <a:pPr algn="l">
              <a:lnSpc>
                <a:spcPts val="2762"/>
              </a:lnSpc>
            </a:pPr>
            <a:r>
              <a:rPr lang="en-US" b="true" sz="1973">
                <a:solidFill>
                  <a:srgbClr val="F7F9FC"/>
                </a:solidFill>
                <a:latin typeface="Open Sans Bold"/>
                <a:ea typeface="Open Sans Bold"/>
                <a:cs typeface="Open Sans Bold"/>
                <a:sym typeface="Open Sans Bold"/>
              </a:rPr>
              <a:t>Pin</a:t>
            </a:r>
            <a:r>
              <a:rPr lang="en-US" b="true" sz="1973">
                <a:solidFill>
                  <a:srgbClr val="000000"/>
                </a:solidFill>
                <a:latin typeface="Open Sans Bold"/>
                <a:ea typeface="Open Sans Bold"/>
                <a:cs typeface="Open Sans Bold"/>
                <a:sym typeface="Open Sans Bold"/>
              </a:rPr>
              <a:t> </a:t>
            </a:r>
            <a:r>
              <a:rPr lang="en-US" b="true" sz="1973">
                <a:solidFill>
                  <a:srgbClr val="F7F9FC"/>
                </a:solidFill>
                <a:latin typeface="Open Sans Bold"/>
                <a:ea typeface="Open Sans Bold"/>
                <a:cs typeface="Open Sans Bold"/>
                <a:sym typeface="Open Sans Bold"/>
              </a:rPr>
              <a:t>Your</a:t>
            </a:r>
            <a:r>
              <a:rPr lang="en-US" b="true" sz="1973">
                <a:solidFill>
                  <a:srgbClr val="000000"/>
                </a:solidFill>
                <a:latin typeface="Open Sans Bold"/>
                <a:ea typeface="Open Sans Bold"/>
                <a:cs typeface="Open Sans Bold"/>
                <a:sym typeface="Open Sans Bold"/>
              </a:rPr>
              <a:t> </a:t>
            </a:r>
            <a:r>
              <a:rPr lang="en-US" b="true" sz="1973">
                <a:solidFill>
                  <a:srgbClr val="F7F9FC"/>
                </a:solidFill>
                <a:latin typeface="Open Sans Bold"/>
                <a:ea typeface="Open Sans Bold"/>
                <a:cs typeface="Open Sans Bold"/>
                <a:sym typeface="Open Sans Bold"/>
              </a:rPr>
              <a:t>Location</a:t>
            </a:r>
          </a:p>
        </p:txBody>
      </p:sp>
      <p:sp>
        <p:nvSpPr>
          <p:cNvPr name="TextBox 28" id="28"/>
          <p:cNvSpPr txBox="true"/>
          <p:nvPr/>
        </p:nvSpPr>
        <p:spPr>
          <a:xfrm rot="0">
            <a:off x="6889699" y="4871847"/>
            <a:ext cx="4032437" cy="1007440"/>
          </a:xfrm>
          <a:prstGeom prst="rect">
            <a:avLst/>
          </a:prstGeom>
        </p:spPr>
        <p:txBody>
          <a:bodyPr anchor="t" rtlCol="false" tIns="0" lIns="0" bIns="0" rIns="0">
            <a:spAutoFit/>
          </a:bodyPr>
          <a:lstStyle/>
          <a:p>
            <a:pPr algn="l">
              <a:lnSpc>
                <a:spcPts val="2625"/>
              </a:lnSpc>
            </a:pPr>
            <a:r>
              <a:rPr lang="en-US" sz="1920">
                <a:solidFill>
                  <a:srgbClr val="F7F9FC"/>
                </a:solidFill>
                <a:latin typeface="Open Sans"/>
                <a:ea typeface="Open Sans"/>
                <a:cs typeface="Open Sans"/>
                <a:sym typeface="Open Sans"/>
              </a:rPr>
              <a:t>Select a target location on the map and drop a candidate pin to begin analysis.</a:t>
            </a:r>
          </a:p>
        </p:txBody>
      </p:sp>
      <p:sp>
        <p:nvSpPr>
          <p:cNvPr name="TextBox 29" id="29"/>
          <p:cNvSpPr txBox="true"/>
          <p:nvPr/>
        </p:nvSpPr>
        <p:spPr>
          <a:xfrm rot="0">
            <a:off x="6962080" y="7643155"/>
            <a:ext cx="4298499" cy="1007440"/>
          </a:xfrm>
          <a:prstGeom prst="rect">
            <a:avLst/>
          </a:prstGeom>
        </p:spPr>
        <p:txBody>
          <a:bodyPr anchor="t" rtlCol="false" tIns="0" lIns="0" bIns="0" rIns="0">
            <a:spAutoFit/>
          </a:bodyPr>
          <a:lstStyle/>
          <a:p>
            <a:pPr algn="l">
              <a:lnSpc>
                <a:spcPts val="2625"/>
              </a:lnSpc>
            </a:pPr>
            <a:r>
              <a:rPr lang="en-US" sz="1920">
                <a:solidFill>
                  <a:srgbClr val="F7F9FC"/>
                </a:solidFill>
                <a:latin typeface="Open Sans"/>
                <a:ea typeface="Open Sans"/>
                <a:cs typeface="Open Sans"/>
                <a:sym typeface="Open Sans"/>
              </a:rPr>
              <a:t>Review the location intelligence report and decide if the spot is worth your investment.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72B4D"/>
        </a:solidFill>
      </p:bgPr>
    </p:bg>
    <p:spTree>
      <p:nvGrpSpPr>
        <p:cNvPr id="1" name=""/>
        <p:cNvGrpSpPr/>
        <p:nvPr/>
      </p:nvGrpSpPr>
      <p:grpSpPr>
        <a:xfrm>
          <a:off x="0" y="0"/>
          <a:ext cx="0" cy="0"/>
          <a:chOff x="0" y="0"/>
          <a:chExt cx="0" cy="0"/>
        </a:xfrm>
      </p:grpSpPr>
      <p:sp>
        <p:nvSpPr>
          <p:cNvPr name="Freeform 2" id="2"/>
          <p:cNvSpPr/>
          <p:nvPr/>
        </p:nvSpPr>
        <p:spPr>
          <a:xfrm flipH="false" flipV="false" rot="0">
            <a:off x="1332309" y="5905500"/>
            <a:ext cx="5972175" cy="3352800"/>
          </a:xfrm>
          <a:custGeom>
            <a:avLst/>
            <a:gdLst/>
            <a:ahLst/>
            <a:cxnLst/>
            <a:rect r="r" b="b" t="t" l="l"/>
            <a:pathLst>
              <a:path h="3352800" w="5972175">
                <a:moveTo>
                  <a:pt x="0" y="0"/>
                </a:moveTo>
                <a:lnTo>
                  <a:pt x="5972175" y="0"/>
                </a:lnTo>
                <a:lnTo>
                  <a:pt x="5972175" y="3352800"/>
                </a:lnTo>
                <a:lnTo>
                  <a:pt x="0" y="3352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32309" y="2110816"/>
            <a:ext cx="5970594" cy="3032684"/>
          </a:xfrm>
          <a:custGeom>
            <a:avLst/>
            <a:gdLst/>
            <a:ahLst/>
            <a:cxnLst/>
            <a:rect r="r" b="b" t="t" l="l"/>
            <a:pathLst>
              <a:path h="3032684" w="5970594">
                <a:moveTo>
                  <a:pt x="0" y="0"/>
                </a:moveTo>
                <a:lnTo>
                  <a:pt x="5970594" y="0"/>
                </a:lnTo>
                <a:lnTo>
                  <a:pt x="5970594" y="3032684"/>
                </a:lnTo>
                <a:lnTo>
                  <a:pt x="0" y="30326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743856" y="3252940"/>
            <a:ext cx="288798" cy="288798"/>
            <a:chOff x="0" y="0"/>
            <a:chExt cx="385064" cy="385064"/>
          </a:xfrm>
        </p:grpSpPr>
        <p:sp>
          <p:nvSpPr>
            <p:cNvPr name="Freeform 5" id="5"/>
            <p:cNvSpPr/>
            <p:nvPr/>
          </p:nvSpPr>
          <p:spPr>
            <a:xfrm flipH="false" flipV="false" rot="0">
              <a:off x="0" y="0"/>
              <a:ext cx="385064" cy="384937"/>
            </a:xfrm>
            <a:custGeom>
              <a:avLst/>
              <a:gdLst/>
              <a:ahLst/>
              <a:cxnLst/>
              <a:rect r="r" b="b" t="t" l="l"/>
              <a:pathLst>
                <a:path h="384937" w="385064">
                  <a:moveTo>
                    <a:pt x="191897" y="0"/>
                  </a:moveTo>
                  <a:cubicBezTo>
                    <a:pt x="85979" y="381"/>
                    <a:pt x="127" y="86233"/>
                    <a:pt x="0" y="192151"/>
                  </a:cubicBezTo>
                  <a:lnTo>
                    <a:pt x="0" y="192786"/>
                  </a:lnTo>
                  <a:cubicBezTo>
                    <a:pt x="127" y="298958"/>
                    <a:pt x="86360" y="384937"/>
                    <a:pt x="192532" y="384937"/>
                  </a:cubicBezTo>
                  <a:cubicBezTo>
                    <a:pt x="298704" y="384937"/>
                    <a:pt x="385064" y="298704"/>
                    <a:pt x="385064" y="192405"/>
                  </a:cubicBezTo>
                  <a:cubicBezTo>
                    <a:pt x="385064" y="86360"/>
                    <a:pt x="299212" y="381"/>
                    <a:pt x="193167" y="0"/>
                  </a:cubicBezTo>
                  <a:close/>
                </a:path>
              </a:pathLst>
            </a:custGeom>
            <a:blipFill>
              <a:blip r:embed="rId6"/>
              <a:stretch>
                <a:fillRect l="0" t="0" r="0" b="-32"/>
              </a:stretch>
            </a:blipFill>
          </p:spPr>
        </p:sp>
      </p:grpSp>
      <p:grpSp>
        <p:nvGrpSpPr>
          <p:cNvPr name="Group 6" id="6"/>
          <p:cNvGrpSpPr/>
          <p:nvPr/>
        </p:nvGrpSpPr>
        <p:grpSpPr>
          <a:xfrm rot="0">
            <a:off x="1658903" y="7235295"/>
            <a:ext cx="288798" cy="288798"/>
            <a:chOff x="0" y="0"/>
            <a:chExt cx="385064" cy="385064"/>
          </a:xfrm>
        </p:grpSpPr>
        <p:sp>
          <p:nvSpPr>
            <p:cNvPr name="Freeform 7" id="7"/>
            <p:cNvSpPr/>
            <p:nvPr/>
          </p:nvSpPr>
          <p:spPr>
            <a:xfrm flipH="false" flipV="false" rot="0">
              <a:off x="0" y="0"/>
              <a:ext cx="384937" cy="385064"/>
            </a:xfrm>
            <a:custGeom>
              <a:avLst/>
              <a:gdLst/>
              <a:ahLst/>
              <a:cxnLst/>
              <a:rect r="r" b="b" t="t" l="l"/>
              <a:pathLst>
                <a:path h="385064" w="384937">
                  <a:moveTo>
                    <a:pt x="192532" y="0"/>
                  </a:moveTo>
                  <a:cubicBezTo>
                    <a:pt x="86233" y="0"/>
                    <a:pt x="0" y="86233"/>
                    <a:pt x="0" y="192532"/>
                  </a:cubicBezTo>
                  <a:cubicBezTo>
                    <a:pt x="0" y="298704"/>
                    <a:pt x="85979" y="384810"/>
                    <a:pt x="192024" y="385064"/>
                  </a:cubicBezTo>
                  <a:lnTo>
                    <a:pt x="192913" y="385064"/>
                  </a:lnTo>
                  <a:cubicBezTo>
                    <a:pt x="299085" y="384810"/>
                    <a:pt x="384937" y="298704"/>
                    <a:pt x="384937" y="192532"/>
                  </a:cubicBezTo>
                  <a:cubicBezTo>
                    <a:pt x="385064" y="86233"/>
                    <a:pt x="298831" y="0"/>
                    <a:pt x="192532" y="0"/>
                  </a:cubicBezTo>
                  <a:close/>
                </a:path>
              </a:pathLst>
            </a:custGeom>
            <a:blipFill>
              <a:blip r:embed="rId6"/>
              <a:stretch>
                <a:fillRect l="0" t="0" r="-32" b="0"/>
              </a:stretch>
            </a:blipFill>
          </p:spPr>
        </p:sp>
      </p:grpSp>
      <p:grpSp>
        <p:nvGrpSpPr>
          <p:cNvPr name="Group 8" id="8"/>
          <p:cNvGrpSpPr/>
          <p:nvPr/>
        </p:nvGrpSpPr>
        <p:grpSpPr>
          <a:xfrm rot="0">
            <a:off x="1743856" y="3792960"/>
            <a:ext cx="288798" cy="288798"/>
            <a:chOff x="0" y="0"/>
            <a:chExt cx="385064" cy="385064"/>
          </a:xfrm>
        </p:grpSpPr>
        <p:sp>
          <p:nvSpPr>
            <p:cNvPr name="Freeform 9" id="9"/>
            <p:cNvSpPr/>
            <p:nvPr/>
          </p:nvSpPr>
          <p:spPr>
            <a:xfrm flipH="false" flipV="false" rot="0">
              <a:off x="0" y="0"/>
              <a:ext cx="385064" cy="384937"/>
            </a:xfrm>
            <a:custGeom>
              <a:avLst/>
              <a:gdLst/>
              <a:ahLst/>
              <a:cxnLst/>
              <a:rect r="r" b="b" t="t" l="l"/>
              <a:pathLst>
                <a:path h="384937" w="385064">
                  <a:moveTo>
                    <a:pt x="192532" y="0"/>
                  </a:moveTo>
                  <a:cubicBezTo>
                    <a:pt x="86360" y="0"/>
                    <a:pt x="127" y="85979"/>
                    <a:pt x="0" y="192151"/>
                  </a:cubicBezTo>
                  <a:lnTo>
                    <a:pt x="0" y="192786"/>
                  </a:lnTo>
                  <a:cubicBezTo>
                    <a:pt x="127" y="298958"/>
                    <a:pt x="86360" y="384937"/>
                    <a:pt x="192532" y="384937"/>
                  </a:cubicBezTo>
                  <a:cubicBezTo>
                    <a:pt x="298704" y="384937"/>
                    <a:pt x="385064" y="298704"/>
                    <a:pt x="385064" y="192405"/>
                  </a:cubicBezTo>
                  <a:cubicBezTo>
                    <a:pt x="385064" y="86106"/>
                    <a:pt x="298831" y="0"/>
                    <a:pt x="192532" y="0"/>
                  </a:cubicBezTo>
                  <a:close/>
                </a:path>
              </a:pathLst>
            </a:custGeom>
            <a:blipFill>
              <a:blip r:embed="rId6"/>
              <a:stretch>
                <a:fillRect l="0" t="0" r="0" b="-32"/>
              </a:stretch>
            </a:blipFill>
          </p:spPr>
        </p:sp>
      </p:grpSp>
      <p:grpSp>
        <p:nvGrpSpPr>
          <p:cNvPr name="Group 10" id="10"/>
          <p:cNvGrpSpPr/>
          <p:nvPr/>
        </p:nvGrpSpPr>
        <p:grpSpPr>
          <a:xfrm rot="0">
            <a:off x="1658903" y="7823787"/>
            <a:ext cx="288798" cy="288798"/>
            <a:chOff x="0" y="0"/>
            <a:chExt cx="385064" cy="385064"/>
          </a:xfrm>
        </p:grpSpPr>
        <p:sp>
          <p:nvSpPr>
            <p:cNvPr name="Freeform 11" id="11"/>
            <p:cNvSpPr/>
            <p:nvPr/>
          </p:nvSpPr>
          <p:spPr>
            <a:xfrm flipH="false" flipV="false" rot="0">
              <a:off x="0" y="0"/>
              <a:ext cx="384937" cy="385064"/>
            </a:xfrm>
            <a:custGeom>
              <a:avLst/>
              <a:gdLst/>
              <a:ahLst/>
              <a:cxnLst/>
              <a:rect r="r" b="b" t="t" l="l"/>
              <a:pathLst>
                <a:path h="385064" w="384937">
                  <a:moveTo>
                    <a:pt x="192532" y="0"/>
                  </a:moveTo>
                  <a:cubicBezTo>
                    <a:pt x="86233" y="0"/>
                    <a:pt x="0" y="86233"/>
                    <a:pt x="0" y="192532"/>
                  </a:cubicBezTo>
                  <a:cubicBezTo>
                    <a:pt x="0" y="298831"/>
                    <a:pt x="85979" y="384937"/>
                    <a:pt x="192151" y="385064"/>
                  </a:cubicBezTo>
                  <a:lnTo>
                    <a:pt x="192786" y="385064"/>
                  </a:lnTo>
                  <a:cubicBezTo>
                    <a:pt x="298958" y="384937"/>
                    <a:pt x="384937" y="298704"/>
                    <a:pt x="384937" y="192532"/>
                  </a:cubicBezTo>
                  <a:cubicBezTo>
                    <a:pt x="384937" y="86360"/>
                    <a:pt x="298831" y="0"/>
                    <a:pt x="192532" y="0"/>
                  </a:cubicBezTo>
                  <a:close/>
                </a:path>
              </a:pathLst>
            </a:custGeom>
            <a:blipFill>
              <a:blip r:embed="rId6"/>
              <a:stretch>
                <a:fillRect l="0" t="0" r="-32" b="0"/>
              </a:stretch>
            </a:blipFill>
          </p:spPr>
        </p:sp>
      </p:grpSp>
      <p:grpSp>
        <p:nvGrpSpPr>
          <p:cNvPr name="Group 12" id="12"/>
          <p:cNvGrpSpPr/>
          <p:nvPr/>
        </p:nvGrpSpPr>
        <p:grpSpPr>
          <a:xfrm rot="0">
            <a:off x="1743856" y="4299995"/>
            <a:ext cx="288798" cy="288798"/>
            <a:chOff x="0" y="0"/>
            <a:chExt cx="385064" cy="385064"/>
          </a:xfrm>
        </p:grpSpPr>
        <p:sp>
          <p:nvSpPr>
            <p:cNvPr name="Freeform 13" id="13"/>
            <p:cNvSpPr/>
            <p:nvPr/>
          </p:nvSpPr>
          <p:spPr>
            <a:xfrm flipH="false" flipV="false" rot="0">
              <a:off x="0" y="0"/>
              <a:ext cx="385064" cy="384937"/>
            </a:xfrm>
            <a:custGeom>
              <a:avLst/>
              <a:gdLst/>
              <a:ahLst/>
              <a:cxnLst/>
              <a:rect r="r" b="b" t="t" l="l"/>
              <a:pathLst>
                <a:path h="384937" w="385064">
                  <a:moveTo>
                    <a:pt x="192151" y="0"/>
                  </a:moveTo>
                  <a:cubicBezTo>
                    <a:pt x="86106" y="127"/>
                    <a:pt x="127" y="86106"/>
                    <a:pt x="0" y="192151"/>
                  </a:cubicBezTo>
                  <a:lnTo>
                    <a:pt x="0" y="192786"/>
                  </a:lnTo>
                  <a:cubicBezTo>
                    <a:pt x="127" y="298958"/>
                    <a:pt x="86360" y="384937"/>
                    <a:pt x="192532" y="384937"/>
                  </a:cubicBezTo>
                  <a:cubicBezTo>
                    <a:pt x="298704" y="384937"/>
                    <a:pt x="385064" y="298704"/>
                    <a:pt x="385064" y="192405"/>
                  </a:cubicBezTo>
                  <a:cubicBezTo>
                    <a:pt x="385064" y="86106"/>
                    <a:pt x="299085" y="127"/>
                    <a:pt x="192913" y="0"/>
                  </a:cubicBezTo>
                  <a:close/>
                </a:path>
              </a:pathLst>
            </a:custGeom>
            <a:blipFill>
              <a:blip r:embed="rId6"/>
              <a:stretch>
                <a:fillRect l="0" t="0" r="0" b="-32"/>
              </a:stretch>
            </a:blipFill>
          </p:spPr>
        </p:sp>
      </p:grpSp>
      <p:grpSp>
        <p:nvGrpSpPr>
          <p:cNvPr name="Group 14" id="14"/>
          <p:cNvGrpSpPr/>
          <p:nvPr/>
        </p:nvGrpSpPr>
        <p:grpSpPr>
          <a:xfrm rot="0">
            <a:off x="1658903" y="8407946"/>
            <a:ext cx="288798" cy="288798"/>
            <a:chOff x="0" y="0"/>
            <a:chExt cx="385064" cy="385064"/>
          </a:xfrm>
        </p:grpSpPr>
        <p:sp>
          <p:nvSpPr>
            <p:cNvPr name="Freeform 15" id="15"/>
            <p:cNvSpPr/>
            <p:nvPr/>
          </p:nvSpPr>
          <p:spPr>
            <a:xfrm flipH="false" flipV="false" rot="0">
              <a:off x="0" y="0"/>
              <a:ext cx="385064" cy="385064"/>
            </a:xfrm>
            <a:custGeom>
              <a:avLst/>
              <a:gdLst/>
              <a:ahLst/>
              <a:cxnLst/>
              <a:rect r="r" b="b" t="t" l="l"/>
              <a:pathLst>
                <a:path h="385064" w="385064">
                  <a:moveTo>
                    <a:pt x="192532" y="0"/>
                  </a:moveTo>
                  <a:cubicBezTo>
                    <a:pt x="86233" y="0"/>
                    <a:pt x="0" y="86233"/>
                    <a:pt x="0" y="192532"/>
                  </a:cubicBezTo>
                  <a:cubicBezTo>
                    <a:pt x="0" y="298831"/>
                    <a:pt x="86233" y="385064"/>
                    <a:pt x="192532" y="385064"/>
                  </a:cubicBezTo>
                  <a:cubicBezTo>
                    <a:pt x="298831" y="385064"/>
                    <a:pt x="385064" y="298831"/>
                    <a:pt x="385064" y="192532"/>
                  </a:cubicBezTo>
                  <a:cubicBezTo>
                    <a:pt x="385064" y="86233"/>
                    <a:pt x="298831" y="0"/>
                    <a:pt x="192532" y="0"/>
                  </a:cubicBezTo>
                  <a:close/>
                </a:path>
              </a:pathLst>
            </a:custGeom>
            <a:blipFill>
              <a:blip r:embed="rId6"/>
              <a:stretch>
                <a:fillRect l="0" t="0" r="0" b="0"/>
              </a:stretch>
            </a:blipFill>
          </p:spPr>
        </p:sp>
      </p:grpSp>
      <p:grpSp>
        <p:nvGrpSpPr>
          <p:cNvPr name="Group 16" id="16"/>
          <p:cNvGrpSpPr/>
          <p:nvPr/>
        </p:nvGrpSpPr>
        <p:grpSpPr>
          <a:xfrm rot="0">
            <a:off x="9144000" y="5262667"/>
            <a:ext cx="9144000" cy="5024333"/>
            <a:chOff x="0" y="0"/>
            <a:chExt cx="12192000" cy="6699110"/>
          </a:xfrm>
        </p:grpSpPr>
        <p:sp>
          <p:nvSpPr>
            <p:cNvPr name="Freeform 17" id="17"/>
            <p:cNvSpPr/>
            <p:nvPr/>
          </p:nvSpPr>
          <p:spPr>
            <a:xfrm flipH="false" flipV="false" rot="0">
              <a:off x="0" y="0"/>
              <a:ext cx="12192000" cy="6699123"/>
            </a:xfrm>
            <a:custGeom>
              <a:avLst/>
              <a:gdLst/>
              <a:ahLst/>
              <a:cxnLst/>
              <a:rect r="r" b="b" t="t" l="l"/>
              <a:pathLst>
                <a:path h="6699123" w="12192000">
                  <a:moveTo>
                    <a:pt x="6699123" y="0"/>
                  </a:moveTo>
                  <a:cubicBezTo>
                    <a:pt x="3050159" y="0"/>
                    <a:pt x="0" y="3050159"/>
                    <a:pt x="0" y="6699123"/>
                  </a:cubicBezTo>
                  <a:lnTo>
                    <a:pt x="3719703" y="6699123"/>
                  </a:lnTo>
                  <a:cubicBezTo>
                    <a:pt x="3719703" y="5076317"/>
                    <a:pt x="5076190" y="3719830"/>
                    <a:pt x="6698997" y="3719830"/>
                  </a:cubicBezTo>
                  <a:cubicBezTo>
                    <a:pt x="8321802" y="3719830"/>
                    <a:pt x="9678416" y="5076317"/>
                    <a:pt x="9678416" y="6699123"/>
                  </a:cubicBezTo>
                  <a:lnTo>
                    <a:pt x="12192000" y="6699123"/>
                  </a:lnTo>
                  <a:lnTo>
                    <a:pt x="12192000" y="2905379"/>
                  </a:lnTo>
                  <a:cubicBezTo>
                    <a:pt x="10972165" y="1160145"/>
                    <a:pt x="8949436" y="0"/>
                    <a:pt x="6699123" y="0"/>
                  </a:cubicBezTo>
                  <a:close/>
                </a:path>
              </a:pathLst>
            </a:custGeom>
            <a:blipFill>
              <a:blip r:embed="rId7"/>
              <a:stretch>
                <a:fillRect l="0" t="0" r="-9893" b="0"/>
              </a:stretch>
            </a:blipFill>
          </p:spPr>
        </p:sp>
      </p:grpSp>
      <p:grpSp>
        <p:nvGrpSpPr>
          <p:cNvPr name="Group 18" id="18"/>
          <p:cNvGrpSpPr/>
          <p:nvPr/>
        </p:nvGrpSpPr>
        <p:grpSpPr>
          <a:xfrm rot="0">
            <a:off x="8518760" y="4334218"/>
            <a:ext cx="8732558" cy="4924082"/>
            <a:chOff x="0" y="0"/>
            <a:chExt cx="11643411" cy="6565443"/>
          </a:xfrm>
        </p:grpSpPr>
        <p:sp>
          <p:nvSpPr>
            <p:cNvPr name="Freeform 19" id="19"/>
            <p:cNvSpPr/>
            <p:nvPr/>
          </p:nvSpPr>
          <p:spPr>
            <a:xfrm flipH="false" flipV="false" rot="0">
              <a:off x="0" y="0"/>
              <a:ext cx="11643487" cy="6565392"/>
            </a:xfrm>
            <a:custGeom>
              <a:avLst/>
              <a:gdLst/>
              <a:ahLst/>
              <a:cxnLst/>
              <a:rect r="r" b="b" t="t" l="l"/>
              <a:pathLst>
                <a:path h="6565392" w="11643487">
                  <a:moveTo>
                    <a:pt x="381000" y="0"/>
                  </a:moveTo>
                  <a:cubicBezTo>
                    <a:pt x="170561" y="0"/>
                    <a:pt x="0" y="170561"/>
                    <a:pt x="0" y="381000"/>
                  </a:cubicBezTo>
                  <a:lnTo>
                    <a:pt x="0" y="6184392"/>
                  </a:lnTo>
                  <a:cubicBezTo>
                    <a:pt x="0" y="6394704"/>
                    <a:pt x="170307" y="6565138"/>
                    <a:pt x="380492" y="6565392"/>
                  </a:cubicBezTo>
                  <a:lnTo>
                    <a:pt x="11273536" y="6565392"/>
                  </a:lnTo>
                  <a:cubicBezTo>
                    <a:pt x="11452860" y="6565138"/>
                    <a:pt x="11603101" y="6441186"/>
                    <a:pt x="11643487" y="6274181"/>
                  </a:cubicBezTo>
                  <a:lnTo>
                    <a:pt x="11643487" y="291211"/>
                  </a:lnTo>
                  <a:cubicBezTo>
                    <a:pt x="11602974" y="124079"/>
                    <a:pt x="11452479" y="0"/>
                    <a:pt x="11273028" y="0"/>
                  </a:cubicBezTo>
                  <a:close/>
                </a:path>
              </a:pathLst>
            </a:custGeom>
            <a:blipFill>
              <a:blip r:embed="rId8"/>
              <a:stretch>
                <a:fillRect l="0" t="-478" r="0" b="-303"/>
              </a:stretch>
            </a:blipFill>
          </p:spPr>
        </p:sp>
      </p:grpSp>
      <p:grpSp>
        <p:nvGrpSpPr>
          <p:cNvPr name="Group 20" id="20"/>
          <p:cNvGrpSpPr/>
          <p:nvPr/>
        </p:nvGrpSpPr>
        <p:grpSpPr>
          <a:xfrm rot="0">
            <a:off x="1332309" y="2110816"/>
            <a:ext cx="5973166" cy="3032684"/>
            <a:chOff x="0" y="0"/>
            <a:chExt cx="5973166" cy="3032684"/>
          </a:xfrm>
        </p:grpSpPr>
        <p:sp>
          <p:nvSpPr>
            <p:cNvPr name="Freeform 21" id="21"/>
            <p:cNvSpPr/>
            <p:nvPr/>
          </p:nvSpPr>
          <p:spPr>
            <a:xfrm flipH="false" flipV="false" rot="0">
              <a:off x="0" y="0"/>
              <a:ext cx="5973192" cy="3032636"/>
            </a:xfrm>
            <a:custGeom>
              <a:avLst/>
              <a:gdLst/>
              <a:ahLst/>
              <a:cxnLst/>
              <a:rect r="r" b="b" t="t" l="l"/>
              <a:pathLst>
                <a:path h="3032636" w="5973192">
                  <a:moveTo>
                    <a:pt x="0" y="3032636"/>
                  </a:moveTo>
                  <a:lnTo>
                    <a:pt x="5973192" y="3032636"/>
                  </a:lnTo>
                  <a:lnTo>
                    <a:pt x="5973192" y="0"/>
                  </a:lnTo>
                  <a:lnTo>
                    <a:pt x="0" y="0"/>
                  </a:lnTo>
                  <a:close/>
                </a:path>
              </a:pathLst>
            </a:custGeom>
            <a:solidFill>
              <a:srgbClr val="000000">
                <a:alpha val="0"/>
              </a:srgbClr>
            </a:solidFill>
          </p:spPr>
        </p:sp>
      </p:grpSp>
      <p:grpSp>
        <p:nvGrpSpPr>
          <p:cNvPr name="Group 22" id="22"/>
          <p:cNvGrpSpPr/>
          <p:nvPr/>
        </p:nvGrpSpPr>
        <p:grpSpPr>
          <a:xfrm rot="0">
            <a:off x="1332309" y="5905500"/>
            <a:ext cx="5973166" cy="3352800"/>
            <a:chOff x="0" y="0"/>
            <a:chExt cx="5973166" cy="3352800"/>
          </a:xfrm>
        </p:grpSpPr>
        <p:sp>
          <p:nvSpPr>
            <p:cNvPr name="Freeform 23" id="23"/>
            <p:cNvSpPr/>
            <p:nvPr/>
          </p:nvSpPr>
          <p:spPr>
            <a:xfrm flipH="false" flipV="false" rot="0">
              <a:off x="0" y="0"/>
              <a:ext cx="5973192" cy="3352800"/>
            </a:xfrm>
            <a:custGeom>
              <a:avLst/>
              <a:gdLst/>
              <a:ahLst/>
              <a:cxnLst/>
              <a:rect r="r" b="b" t="t" l="l"/>
              <a:pathLst>
                <a:path h="3352800" w="5973192">
                  <a:moveTo>
                    <a:pt x="0" y="3352800"/>
                  </a:moveTo>
                  <a:lnTo>
                    <a:pt x="5973192" y="3352800"/>
                  </a:lnTo>
                  <a:lnTo>
                    <a:pt x="5973192" y="0"/>
                  </a:lnTo>
                  <a:lnTo>
                    <a:pt x="0" y="0"/>
                  </a:lnTo>
                  <a:close/>
                </a:path>
              </a:pathLst>
            </a:custGeom>
            <a:solidFill>
              <a:srgbClr val="000000">
                <a:alpha val="0"/>
              </a:srgbClr>
            </a:solidFill>
          </p:spPr>
        </p:sp>
      </p:grpSp>
      <p:sp>
        <p:nvSpPr>
          <p:cNvPr name="TextBox 24" id="24"/>
          <p:cNvSpPr txBox="true"/>
          <p:nvPr/>
        </p:nvSpPr>
        <p:spPr>
          <a:xfrm rot="0">
            <a:off x="8632260" y="1704994"/>
            <a:ext cx="5506498" cy="2132266"/>
          </a:xfrm>
          <a:prstGeom prst="rect">
            <a:avLst/>
          </a:prstGeom>
        </p:spPr>
        <p:txBody>
          <a:bodyPr anchor="t" rtlCol="false" tIns="0" lIns="0" bIns="0" rIns="0">
            <a:spAutoFit/>
          </a:bodyPr>
          <a:lstStyle/>
          <a:p>
            <a:pPr algn="l">
              <a:lnSpc>
                <a:spcPts val="8171"/>
              </a:lnSpc>
            </a:pPr>
            <a:r>
              <a:rPr lang="en-US" b="true" sz="8271">
                <a:solidFill>
                  <a:srgbClr val="F7F9FC"/>
                </a:solidFill>
                <a:latin typeface="Montserrat Bold"/>
                <a:ea typeface="Montserrat Bold"/>
                <a:cs typeface="Montserrat Bold"/>
                <a:sym typeface="Montserrat Bold"/>
              </a:rPr>
              <a:t>Market Discovery</a:t>
            </a:r>
          </a:p>
        </p:txBody>
      </p:sp>
      <p:sp>
        <p:nvSpPr>
          <p:cNvPr name="TextBox 25" id="25"/>
          <p:cNvSpPr txBox="true"/>
          <p:nvPr/>
        </p:nvSpPr>
        <p:spPr>
          <a:xfrm rot="0">
            <a:off x="1743856" y="2395137"/>
            <a:ext cx="2638377" cy="466430"/>
          </a:xfrm>
          <a:prstGeom prst="rect">
            <a:avLst/>
          </a:prstGeom>
        </p:spPr>
        <p:txBody>
          <a:bodyPr anchor="t" rtlCol="false" tIns="0" lIns="0" bIns="0" rIns="0">
            <a:spAutoFit/>
          </a:bodyPr>
          <a:lstStyle/>
          <a:p>
            <a:pPr algn="l">
              <a:lnSpc>
                <a:spcPts val="3637"/>
              </a:lnSpc>
            </a:pPr>
            <a:r>
              <a:rPr lang="en-US" b="true" sz="2598">
                <a:solidFill>
                  <a:srgbClr val="F7F9FC"/>
                </a:solidFill>
                <a:latin typeface="Open Sans Bold"/>
                <a:ea typeface="Open Sans Bold"/>
                <a:cs typeface="Open Sans Bold"/>
                <a:sym typeface="Open Sans Bold"/>
              </a:rPr>
              <a:t>Business Inputs</a:t>
            </a:r>
          </a:p>
        </p:txBody>
      </p:sp>
      <p:sp>
        <p:nvSpPr>
          <p:cNvPr name="TextBox 26" id="26"/>
          <p:cNvSpPr txBox="true"/>
          <p:nvPr/>
        </p:nvSpPr>
        <p:spPr>
          <a:xfrm rot="0">
            <a:off x="2204876" y="6953269"/>
            <a:ext cx="2529354" cy="1706728"/>
          </a:xfrm>
          <a:prstGeom prst="rect">
            <a:avLst/>
          </a:prstGeom>
        </p:spPr>
        <p:txBody>
          <a:bodyPr anchor="t" rtlCol="false" tIns="0" lIns="0" bIns="0" rIns="0">
            <a:spAutoFit/>
          </a:bodyPr>
          <a:lstStyle/>
          <a:p>
            <a:pPr algn="l">
              <a:lnSpc>
                <a:spcPts val="4610"/>
              </a:lnSpc>
            </a:pPr>
            <a:r>
              <a:rPr lang="en-US" sz="1999">
                <a:solidFill>
                  <a:srgbClr val="F7F9FC"/>
                </a:solidFill>
                <a:latin typeface="Open Sans"/>
                <a:ea typeface="Open Sans"/>
                <a:cs typeface="Open Sans"/>
                <a:sym typeface="Open Sans"/>
              </a:rPr>
              <a:t>Interactive map view Drop a candidate pin Confirm target area</a:t>
            </a:r>
          </a:p>
        </p:txBody>
      </p:sp>
      <p:sp>
        <p:nvSpPr>
          <p:cNvPr name="TextBox 27" id="27"/>
          <p:cNvSpPr txBox="true"/>
          <p:nvPr/>
        </p:nvSpPr>
        <p:spPr>
          <a:xfrm rot="0">
            <a:off x="2292048" y="3039094"/>
            <a:ext cx="3242691" cy="1555852"/>
          </a:xfrm>
          <a:prstGeom prst="rect">
            <a:avLst/>
          </a:prstGeom>
        </p:spPr>
        <p:txBody>
          <a:bodyPr anchor="t" rtlCol="false" tIns="0" lIns="0" bIns="0" rIns="0">
            <a:spAutoFit/>
          </a:bodyPr>
          <a:lstStyle/>
          <a:p>
            <a:pPr algn="l">
              <a:lnSpc>
                <a:spcPts val="4154"/>
              </a:lnSpc>
            </a:pPr>
            <a:r>
              <a:rPr lang="en-US" sz="1999">
                <a:solidFill>
                  <a:srgbClr val="F7F9FC"/>
                </a:solidFill>
                <a:latin typeface="Open Sans"/>
                <a:ea typeface="Open Sans"/>
                <a:cs typeface="Open Sans"/>
                <a:sym typeface="Open Sans"/>
              </a:rPr>
              <a:t>Business idea &amp; format Budget &amp; target customers Business format type</a:t>
            </a:r>
          </a:p>
        </p:txBody>
      </p:sp>
      <p:sp>
        <p:nvSpPr>
          <p:cNvPr name="TextBox 28" id="28"/>
          <p:cNvSpPr txBox="true"/>
          <p:nvPr/>
        </p:nvSpPr>
        <p:spPr>
          <a:xfrm rot="0">
            <a:off x="1658903" y="6365958"/>
            <a:ext cx="2958398" cy="441074"/>
          </a:xfrm>
          <a:prstGeom prst="rect">
            <a:avLst/>
          </a:prstGeom>
        </p:spPr>
        <p:txBody>
          <a:bodyPr anchor="t" rtlCol="false" tIns="0" lIns="0" bIns="0" rIns="0">
            <a:spAutoFit/>
          </a:bodyPr>
          <a:lstStyle/>
          <a:p>
            <a:pPr algn="l">
              <a:lnSpc>
                <a:spcPts val="3496"/>
              </a:lnSpc>
            </a:pPr>
            <a:r>
              <a:rPr lang="en-US" b="true" sz="2497">
                <a:solidFill>
                  <a:srgbClr val="F7F9FC"/>
                </a:solidFill>
                <a:latin typeface="Open Sans Bold"/>
                <a:ea typeface="Open Sans Bold"/>
                <a:cs typeface="Open Sans Bold"/>
                <a:sym typeface="Open Sans Bold"/>
              </a:rPr>
              <a:t>Location Selection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72B4D"/>
        </a:solidFill>
      </p:bgPr>
    </p:bg>
    <p:spTree>
      <p:nvGrpSpPr>
        <p:cNvPr id="1" name=""/>
        <p:cNvGrpSpPr/>
        <p:nvPr/>
      </p:nvGrpSpPr>
      <p:grpSpPr>
        <a:xfrm>
          <a:off x="0" y="0"/>
          <a:ext cx="0" cy="0"/>
          <a:chOff x="0" y="0"/>
          <a:chExt cx="0" cy="0"/>
        </a:xfrm>
      </p:grpSpPr>
      <p:sp>
        <p:nvSpPr>
          <p:cNvPr name="Freeform 2" id="2"/>
          <p:cNvSpPr/>
          <p:nvPr/>
        </p:nvSpPr>
        <p:spPr>
          <a:xfrm flipH="false" flipV="false" rot="0">
            <a:off x="6613465" y="3151537"/>
            <a:ext cx="5215004" cy="2940625"/>
          </a:xfrm>
          <a:custGeom>
            <a:avLst/>
            <a:gdLst/>
            <a:ahLst/>
            <a:cxnLst/>
            <a:rect r="r" b="b" t="t" l="l"/>
            <a:pathLst>
              <a:path h="2940625" w="5215004">
                <a:moveTo>
                  <a:pt x="0" y="0"/>
                </a:moveTo>
                <a:lnTo>
                  <a:pt x="5215004" y="0"/>
                </a:lnTo>
                <a:lnTo>
                  <a:pt x="5215004" y="2940624"/>
                </a:lnTo>
                <a:lnTo>
                  <a:pt x="0" y="29406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13465" y="6317675"/>
            <a:ext cx="5215004" cy="2940625"/>
          </a:xfrm>
          <a:custGeom>
            <a:avLst/>
            <a:gdLst/>
            <a:ahLst/>
            <a:cxnLst/>
            <a:rect r="r" b="b" t="t" l="l"/>
            <a:pathLst>
              <a:path h="2940625" w="5215004">
                <a:moveTo>
                  <a:pt x="0" y="0"/>
                </a:moveTo>
                <a:lnTo>
                  <a:pt x="5215004" y="0"/>
                </a:lnTo>
                <a:lnTo>
                  <a:pt x="5215004" y="2940625"/>
                </a:lnTo>
                <a:lnTo>
                  <a:pt x="0" y="2940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45820" y="3151537"/>
            <a:ext cx="5215004" cy="2940625"/>
          </a:xfrm>
          <a:custGeom>
            <a:avLst/>
            <a:gdLst/>
            <a:ahLst/>
            <a:cxnLst/>
            <a:rect r="r" b="b" t="t" l="l"/>
            <a:pathLst>
              <a:path h="2940625" w="5215004">
                <a:moveTo>
                  <a:pt x="0" y="0"/>
                </a:moveTo>
                <a:lnTo>
                  <a:pt x="5215004" y="0"/>
                </a:lnTo>
                <a:lnTo>
                  <a:pt x="5215004" y="2940624"/>
                </a:lnTo>
                <a:lnTo>
                  <a:pt x="0" y="2940624"/>
                </a:lnTo>
                <a:lnTo>
                  <a:pt x="0" y="0"/>
                </a:lnTo>
                <a:close/>
              </a:path>
            </a:pathLst>
          </a:custGeom>
          <a:blipFill>
            <a:blip r:embed="rId4">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2045820" y="6317675"/>
            <a:ext cx="5215004" cy="2940625"/>
          </a:xfrm>
          <a:custGeom>
            <a:avLst/>
            <a:gdLst/>
            <a:ahLst/>
            <a:cxnLst/>
            <a:rect r="r" b="b" t="t" l="l"/>
            <a:pathLst>
              <a:path h="2940625" w="5215004">
                <a:moveTo>
                  <a:pt x="0" y="0"/>
                </a:moveTo>
                <a:lnTo>
                  <a:pt x="5215004" y="0"/>
                </a:lnTo>
                <a:lnTo>
                  <a:pt x="5215004" y="2940625"/>
                </a:lnTo>
                <a:lnTo>
                  <a:pt x="0" y="2940625"/>
                </a:lnTo>
                <a:lnTo>
                  <a:pt x="0" y="0"/>
                </a:lnTo>
                <a:close/>
              </a:path>
            </a:pathLst>
          </a:custGeom>
          <a:blipFill>
            <a:blip r:embed="rId4">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0" y="3684146"/>
            <a:ext cx="5889565" cy="6602063"/>
            <a:chOff x="0" y="0"/>
            <a:chExt cx="7852753" cy="8802751"/>
          </a:xfrm>
        </p:grpSpPr>
        <p:sp>
          <p:nvSpPr>
            <p:cNvPr name="Freeform 7" id="7"/>
            <p:cNvSpPr/>
            <p:nvPr/>
          </p:nvSpPr>
          <p:spPr>
            <a:xfrm flipH="false" flipV="false" rot="0">
              <a:off x="0" y="0"/>
              <a:ext cx="7852791" cy="8802751"/>
            </a:xfrm>
            <a:custGeom>
              <a:avLst/>
              <a:gdLst/>
              <a:ahLst/>
              <a:cxnLst/>
              <a:rect r="r" b="b" t="t" l="l"/>
              <a:pathLst>
                <a:path h="8802751" w="7852791">
                  <a:moveTo>
                    <a:pt x="3026664" y="0"/>
                  </a:moveTo>
                  <a:cubicBezTo>
                    <a:pt x="2474214" y="0"/>
                    <a:pt x="1909826" y="110490"/>
                    <a:pt x="1416304" y="278892"/>
                  </a:cubicBezTo>
                  <a:cubicBezTo>
                    <a:pt x="897636" y="462153"/>
                    <a:pt x="419862" y="732663"/>
                    <a:pt x="0" y="1071118"/>
                  </a:cubicBezTo>
                  <a:lnTo>
                    <a:pt x="0" y="8802751"/>
                  </a:lnTo>
                  <a:lnTo>
                    <a:pt x="7852791" y="8802751"/>
                  </a:lnTo>
                  <a:lnTo>
                    <a:pt x="7852791" y="4735322"/>
                  </a:lnTo>
                  <a:cubicBezTo>
                    <a:pt x="7826629" y="2725547"/>
                    <a:pt x="6471666" y="947039"/>
                    <a:pt x="4631944" y="273558"/>
                  </a:cubicBezTo>
                  <a:cubicBezTo>
                    <a:pt x="4621530" y="268351"/>
                    <a:pt x="4611116" y="268351"/>
                    <a:pt x="4600702" y="263017"/>
                  </a:cubicBezTo>
                  <a:cubicBezTo>
                    <a:pt x="4110736" y="94742"/>
                    <a:pt x="3579114" y="0"/>
                    <a:pt x="3026664" y="0"/>
                  </a:cubicBezTo>
                  <a:close/>
                </a:path>
              </a:pathLst>
            </a:custGeom>
            <a:blipFill>
              <a:blip r:embed="rId8"/>
              <a:stretch>
                <a:fillRect l="-22979" t="-11" r="-79" b="0"/>
              </a:stretch>
            </a:blipFill>
          </p:spPr>
        </p:sp>
      </p:grpSp>
      <p:grpSp>
        <p:nvGrpSpPr>
          <p:cNvPr name="Group 8" id="8"/>
          <p:cNvGrpSpPr/>
          <p:nvPr/>
        </p:nvGrpSpPr>
        <p:grpSpPr>
          <a:xfrm rot="0">
            <a:off x="0" y="2561572"/>
            <a:ext cx="6272064" cy="8065632"/>
            <a:chOff x="0" y="0"/>
            <a:chExt cx="8168018" cy="10503755"/>
          </a:xfrm>
        </p:grpSpPr>
        <p:sp>
          <p:nvSpPr>
            <p:cNvPr name="Freeform 9" id="9"/>
            <p:cNvSpPr/>
            <p:nvPr/>
          </p:nvSpPr>
          <p:spPr>
            <a:xfrm flipH="false" flipV="false" rot="0">
              <a:off x="0" y="0"/>
              <a:ext cx="8168005" cy="10503691"/>
            </a:xfrm>
            <a:custGeom>
              <a:avLst/>
              <a:gdLst/>
              <a:ahLst/>
              <a:cxnLst/>
              <a:rect r="r" b="b" t="t" l="l"/>
              <a:pathLst>
                <a:path h="10503691" w="8168005">
                  <a:moveTo>
                    <a:pt x="381000" y="0"/>
                  </a:moveTo>
                  <a:cubicBezTo>
                    <a:pt x="279908" y="0"/>
                    <a:pt x="183007" y="40317"/>
                    <a:pt x="111633" y="112147"/>
                  </a:cubicBezTo>
                  <a:cubicBezTo>
                    <a:pt x="40259" y="183978"/>
                    <a:pt x="0" y="281197"/>
                    <a:pt x="0" y="382755"/>
                  </a:cubicBezTo>
                  <a:lnTo>
                    <a:pt x="0" y="10120936"/>
                  </a:lnTo>
                  <a:cubicBezTo>
                    <a:pt x="0" y="10222494"/>
                    <a:pt x="40132" y="10319841"/>
                    <a:pt x="111633" y="10391544"/>
                  </a:cubicBezTo>
                  <a:cubicBezTo>
                    <a:pt x="183134" y="10463247"/>
                    <a:pt x="280035" y="10503691"/>
                    <a:pt x="381000" y="10503691"/>
                  </a:cubicBezTo>
                  <a:lnTo>
                    <a:pt x="7787005" y="10503691"/>
                  </a:lnTo>
                  <a:cubicBezTo>
                    <a:pt x="7888098" y="10503691"/>
                    <a:pt x="7984999" y="10463375"/>
                    <a:pt x="8056373" y="10391544"/>
                  </a:cubicBezTo>
                  <a:cubicBezTo>
                    <a:pt x="8127747" y="10319714"/>
                    <a:pt x="8168005" y="10222367"/>
                    <a:pt x="8168005" y="10120936"/>
                  </a:cubicBezTo>
                  <a:lnTo>
                    <a:pt x="8168005" y="382755"/>
                  </a:lnTo>
                  <a:cubicBezTo>
                    <a:pt x="8168005" y="281197"/>
                    <a:pt x="8127874" y="183850"/>
                    <a:pt x="8056373" y="112147"/>
                  </a:cubicBezTo>
                  <a:cubicBezTo>
                    <a:pt x="7984872" y="40444"/>
                    <a:pt x="7888097" y="0"/>
                    <a:pt x="7787005" y="0"/>
                  </a:cubicBezTo>
                  <a:close/>
                </a:path>
              </a:pathLst>
            </a:custGeom>
            <a:blipFill>
              <a:blip r:embed="rId9"/>
              <a:stretch>
                <a:fillRect l="-214" t="-62" r="-214" b="0"/>
              </a:stretch>
            </a:blipFill>
          </p:spPr>
        </p:sp>
      </p:grpSp>
      <p:grpSp>
        <p:nvGrpSpPr>
          <p:cNvPr name="Group 10" id="10"/>
          <p:cNvGrpSpPr/>
          <p:nvPr/>
        </p:nvGrpSpPr>
        <p:grpSpPr>
          <a:xfrm rot="0">
            <a:off x="6613465" y="3151537"/>
            <a:ext cx="5213480" cy="2940625"/>
            <a:chOff x="0" y="0"/>
            <a:chExt cx="5213477" cy="2940621"/>
          </a:xfrm>
        </p:grpSpPr>
        <p:sp>
          <p:nvSpPr>
            <p:cNvPr name="Freeform 11" id="11"/>
            <p:cNvSpPr/>
            <p:nvPr/>
          </p:nvSpPr>
          <p:spPr>
            <a:xfrm flipH="false" flipV="false" rot="0">
              <a:off x="0" y="0"/>
              <a:ext cx="5213477" cy="2940559"/>
            </a:xfrm>
            <a:custGeom>
              <a:avLst/>
              <a:gdLst/>
              <a:ahLst/>
              <a:cxnLst/>
              <a:rect r="r" b="b" t="t" l="l"/>
              <a:pathLst>
                <a:path h="2940559" w="5213477">
                  <a:moveTo>
                    <a:pt x="0" y="2940559"/>
                  </a:moveTo>
                  <a:lnTo>
                    <a:pt x="5213477" y="2940559"/>
                  </a:lnTo>
                  <a:lnTo>
                    <a:pt x="5213477" y="0"/>
                  </a:lnTo>
                  <a:lnTo>
                    <a:pt x="0" y="0"/>
                  </a:lnTo>
                  <a:close/>
                </a:path>
              </a:pathLst>
            </a:custGeom>
            <a:solidFill>
              <a:srgbClr val="000000">
                <a:alpha val="0"/>
              </a:srgbClr>
            </a:solidFill>
          </p:spPr>
        </p:sp>
      </p:grpSp>
      <p:grpSp>
        <p:nvGrpSpPr>
          <p:cNvPr name="Group 12" id="12"/>
          <p:cNvGrpSpPr/>
          <p:nvPr/>
        </p:nvGrpSpPr>
        <p:grpSpPr>
          <a:xfrm rot="0">
            <a:off x="6613465" y="6317675"/>
            <a:ext cx="5213480" cy="2940625"/>
            <a:chOff x="0" y="0"/>
            <a:chExt cx="5213477" cy="2940622"/>
          </a:xfrm>
        </p:grpSpPr>
        <p:sp>
          <p:nvSpPr>
            <p:cNvPr name="Freeform 13" id="13"/>
            <p:cNvSpPr/>
            <p:nvPr/>
          </p:nvSpPr>
          <p:spPr>
            <a:xfrm flipH="false" flipV="false" rot="0">
              <a:off x="0" y="0"/>
              <a:ext cx="5213477" cy="2940559"/>
            </a:xfrm>
            <a:custGeom>
              <a:avLst/>
              <a:gdLst/>
              <a:ahLst/>
              <a:cxnLst/>
              <a:rect r="r" b="b" t="t" l="l"/>
              <a:pathLst>
                <a:path h="2940559" w="5213477">
                  <a:moveTo>
                    <a:pt x="0" y="2940559"/>
                  </a:moveTo>
                  <a:lnTo>
                    <a:pt x="5213477" y="2940559"/>
                  </a:lnTo>
                  <a:lnTo>
                    <a:pt x="5213477" y="0"/>
                  </a:lnTo>
                  <a:lnTo>
                    <a:pt x="0" y="0"/>
                  </a:lnTo>
                  <a:close/>
                </a:path>
              </a:pathLst>
            </a:custGeom>
            <a:solidFill>
              <a:srgbClr val="000000">
                <a:alpha val="0"/>
              </a:srgbClr>
            </a:solidFill>
          </p:spPr>
        </p:sp>
      </p:grpSp>
      <p:grpSp>
        <p:nvGrpSpPr>
          <p:cNvPr name="Group 14" id="14"/>
          <p:cNvGrpSpPr/>
          <p:nvPr/>
        </p:nvGrpSpPr>
        <p:grpSpPr>
          <a:xfrm rot="0">
            <a:off x="12045820" y="3151537"/>
            <a:ext cx="5213480" cy="2940625"/>
            <a:chOff x="0" y="0"/>
            <a:chExt cx="5213477" cy="2940621"/>
          </a:xfrm>
        </p:grpSpPr>
        <p:sp>
          <p:nvSpPr>
            <p:cNvPr name="Freeform 15" id="15"/>
            <p:cNvSpPr/>
            <p:nvPr/>
          </p:nvSpPr>
          <p:spPr>
            <a:xfrm flipH="false" flipV="false" rot="0">
              <a:off x="0" y="0"/>
              <a:ext cx="5213478" cy="2940559"/>
            </a:xfrm>
            <a:custGeom>
              <a:avLst/>
              <a:gdLst/>
              <a:ahLst/>
              <a:cxnLst/>
              <a:rect r="r" b="b" t="t" l="l"/>
              <a:pathLst>
                <a:path h="2940559" w="5213478">
                  <a:moveTo>
                    <a:pt x="0" y="2940559"/>
                  </a:moveTo>
                  <a:lnTo>
                    <a:pt x="5213478" y="2940559"/>
                  </a:lnTo>
                  <a:lnTo>
                    <a:pt x="5213478" y="0"/>
                  </a:lnTo>
                  <a:lnTo>
                    <a:pt x="0" y="0"/>
                  </a:lnTo>
                  <a:close/>
                </a:path>
              </a:pathLst>
            </a:custGeom>
            <a:solidFill>
              <a:srgbClr val="000000">
                <a:alpha val="0"/>
              </a:srgbClr>
            </a:solidFill>
          </p:spPr>
        </p:sp>
      </p:grpSp>
      <p:grpSp>
        <p:nvGrpSpPr>
          <p:cNvPr name="Group 16" id="16"/>
          <p:cNvGrpSpPr/>
          <p:nvPr/>
        </p:nvGrpSpPr>
        <p:grpSpPr>
          <a:xfrm rot="0">
            <a:off x="12045820" y="6317675"/>
            <a:ext cx="5213480" cy="2940625"/>
            <a:chOff x="0" y="0"/>
            <a:chExt cx="5213477" cy="2940622"/>
          </a:xfrm>
        </p:grpSpPr>
        <p:sp>
          <p:nvSpPr>
            <p:cNvPr name="Freeform 17" id="17"/>
            <p:cNvSpPr/>
            <p:nvPr/>
          </p:nvSpPr>
          <p:spPr>
            <a:xfrm flipH="false" flipV="false" rot="0">
              <a:off x="0" y="0"/>
              <a:ext cx="5213478" cy="2940559"/>
            </a:xfrm>
            <a:custGeom>
              <a:avLst/>
              <a:gdLst/>
              <a:ahLst/>
              <a:cxnLst/>
              <a:rect r="r" b="b" t="t" l="l"/>
              <a:pathLst>
                <a:path h="2940559" w="5213478">
                  <a:moveTo>
                    <a:pt x="0" y="2940559"/>
                  </a:moveTo>
                  <a:lnTo>
                    <a:pt x="5213478" y="2940559"/>
                  </a:lnTo>
                  <a:lnTo>
                    <a:pt x="5213478" y="0"/>
                  </a:lnTo>
                  <a:lnTo>
                    <a:pt x="0" y="0"/>
                  </a:lnTo>
                  <a:close/>
                </a:path>
              </a:pathLst>
            </a:custGeom>
            <a:solidFill>
              <a:srgbClr val="000000">
                <a:alpha val="0"/>
              </a:srgbClr>
            </a:solidFill>
          </p:spPr>
        </p:sp>
      </p:grpSp>
      <p:sp>
        <p:nvSpPr>
          <p:cNvPr name="TextBox 18" id="18"/>
          <p:cNvSpPr txBox="true"/>
          <p:nvPr/>
        </p:nvSpPr>
        <p:spPr>
          <a:xfrm rot="0">
            <a:off x="8733625" y="3854653"/>
            <a:ext cx="837076" cy="1693240"/>
          </a:xfrm>
          <a:prstGeom prst="rect">
            <a:avLst/>
          </a:prstGeom>
        </p:spPr>
        <p:txBody>
          <a:bodyPr anchor="t" rtlCol="false" tIns="0" lIns="0" bIns="0" rIns="0">
            <a:spAutoFit/>
          </a:bodyPr>
          <a:lstStyle/>
          <a:p>
            <a:pPr algn="l">
              <a:lnSpc>
                <a:spcPts val="9212"/>
              </a:lnSpc>
            </a:pPr>
            <a:r>
              <a:rPr lang="en-US" b="true" sz="6580">
                <a:solidFill>
                  <a:srgbClr val="F7F9FC"/>
                </a:solidFill>
                <a:latin typeface="Montserrat Bold"/>
                <a:ea typeface="Montserrat Bold"/>
                <a:cs typeface="Montserrat Bold"/>
                <a:sym typeface="Montserrat Bold"/>
              </a:rPr>
              <a:t>12</a:t>
            </a:r>
            <a:r>
              <a:rPr lang="en-US" b="true" sz="6580">
                <a:solidFill>
                  <a:srgbClr val="F7F9FC"/>
                </a:solidFill>
                <a:latin typeface="Montserrat Bold"/>
                <a:ea typeface="Montserrat Bold"/>
                <a:cs typeface="Montserrat Bold"/>
                <a:sym typeface="Montserrat Bold"/>
              </a:rPr>
              <a:t> </a:t>
            </a:r>
          </a:p>
        </p:txBody>
      </p:sp>
      <p:sp>
        <p:nvSpPr>
          <p:cNvPr name="TextBox 19" id="19"/>
          <p:cNvSpPr txBox="true"/>
          <p:nvPr/>
        </p:nvSpPr>
        <p:spPr>
          <a:xfrm rot="0">
            <a:off x="8583120" y="6844817"/>
            <a:ext cx="1025452" cy="1692231"/>
          </a:xfrm>
          <a:prstGeom prst="rect">
            <a:avLst/>
          </a:prstGeom>
        </p:spPr>
        <p:txBody>
          <a:bodyPr anchor="t" rtlCol="false" tIns="0" lIns="0" bIns="0" rIns="0">
            <a:spAutoFit/>
          </a:bodyPr>
          <a:lstStyle/>
          <a:p>
            <a:pPr algn="l">
              <a:lnSpc>
                <a:spcPts val="9212"/>
              </a:lnSpc>
            </a:pPr>
            <a:r>
              <a:rPr lang="en-US" b="true" sz="6580">
                <a:solidFill>
                  <a:srgbClr val="F7F9FC"/>
                </a:solidFill>
                <a:latin typeface="Montserrat Bold"/>
                <a:ea typeface="Montserrat Bold"/>
                <a:cs typeface="Montserrat Bold"/>
                <a:sym typeface="Montserrat Bold"/>
              </a:rPr>
              <a:t>57</a:t>
            </a:r>
            <a:r>
              <a:rPr lang="en-US" b="true" sz="6580">
                <a:solidFill>
                  <a:srgbClr val="F7F9FC"/>
                </a:solidFill>
                <a:latin typeface="Montserrat Bold"/>
                <a:ea typeface="Montserrat Bold"/>
                <a:cs typeface="Montserrat Bold"/>
                <a:sym typeface="Montserrat Bold"/>
              </a:rPr>
              <a:t> </a:t>
            </a:r>
          </a:p>
        </p:txBody>
      </p:sp>
      <p:sp>
        <p:nvSpPr>
          <p:cNvPr name="TextBox 20" id="20"/>
          <p:cNvSpPr txBox="true"/>
          <p:nvPr/>
        </p:nvSpPr>
        <p:spPr>
          <a:xfrm rot="0">
            <a:off x="14117174" y="3720417"/>
            <a:ext cx="1091936" cy="1728473"/>
          </a:xfrm>
          <a:prstGeom prst="rect">
            <a:avLst/>
          </a:prstGeom>
        </p:spPr>
        <p:txBody>
          <a:bodyPr anchor="t" rtlCol="false" tIns="0" lIns="0" bIns="0" rIns="0">
            <a:spAutoFit/>
          </a:bodyPr>
          <a:lstStyle/>
          <a:p>
            <a:pPr algn="l">
              <a:lnSpc>
                <a:spcPts val="9212"/>
              </a:lnSpc>
            </a:pPr>
            <a:r>
              <a:rPr lang="en-US" b="true" sz="6580">
                <a:solidFill>
                  <a:srgbClr val="F7F9FC"/>
                </a:solidFill>
                <a:latin typeface="Montserrat Bold"/>
                <a:ea typeface="Montserrat Bold"/>
                <a:cs typeface="Montserrat Bold"/>
                <a:sym typeface="Montserrat Bold"/>
              </a:rPr>
              <a:t>34</a:t>
            </a:r>
            <a:r>
              <a:rPr lang="en-US" b="true" sz="6580">
                <a:solidFill>
                  <a:srgbClr val="F7F9FC"/>
                </a:solidFill>
                <a:latin typeface="Montserrat Bold"/>
                <a:ea typeface="Montserrat Bold"/>
                <a:cs typeface="Montserrat Bold"/>
                <a:sym typeface="Montserrat Bold"/>
              </a:rPr>
              <a:t> </a:t>
            </a:r>
          </a:p>
        </p:txBody>
      </p:sp>
      <p:sp>
        <p:nvSpPr>
          <p:cNvPr name="TextBox 21" id="21"/>
          <p:cNvSpPr txBox="true"/>
          <p:nvPr/>
        </p:nvSpPr>
        <p:spPr>
          <a:xfrm rot="0">
            <a:off x="13587822" y="7224360"/>
            <a:ext cx="2131000" cy="1730331"/>
          </a:xfrm>
          <a:prstGeom prst="rect">
            <a:avLst/>
          </a:prstGeom>
        </p:spPr>
        <p:txBody>
          <a:bodyPr anchor="t" rtlCol="false" tIns="0" lIns="0" bIns="0" rIns="0">
            <a:spAutoFit/>
          </a:bodyPr>
          <a:lstStyle/>
          <a:p>
            <a:pPr algn="ctr">
              <a:lnSpc>
                <a:spcPts val="9212"/>
              </a:lnSpc>
            </a:pPr>
            <a:r>
              <a:rPr lang="en-US" b="true" sz="6580">
                <a:solidFill>
                  <a:srgbClr val="F7F9FC"/>
                </a:solidFill>
                <a:latin typeface="Montserrat Bold"/>
                <a:ea typeface="Montserrat Bold"/>
                <a:cs typeface="Montserrat Bold"/>
                <a:sym typeface="Montserrat Bold"/>
              </a:rPr>
              <a:t>High</a:t>
            </a:r>
          </a:p>
        </p:txBody>
      </p:sp>
      <p:sp>
        <p:nvSpPr>
          <p:cNvPr name="TextBox 22" id="22"/>
          <p:cNvSpPr txBox="true"/>
          <p:nvPr/>
        </p:nvSpPr>
        <p:spPr>
          <a:xfrm rot="0">
            <a:off x="3277981" y="964882"/>
            <a:ext cx="12680090" cy="1140190"/>
          </a:xfrm>
          <a:prstGeom prst="rect">
            <a:avLst/>
          </a:prstGeom>
        </p:spPr>
        <p:txBody>
          <a:bodyPr anchor="t" rtlCol="false" tIns="0" lIns="0" bIns="0" rIns="0">
            <a:spAutoFit/>
          </a:bodyPr>
          <a:lstStyle/>
          <a:p>
            <a:pPr algn="l">
              <a:lnSpc>
                <a:spcPts val="9212"/>
              </a:lnSpc>
            </a:pPr>
            <a:r>
              <a:rPr lang="en-US" b="true" sz="6580">
                <a:solidFill>
                  <a:srgbClr val="F7F9FC"/>
                </a:solidFill>
                <a:latin typeface="Montserrat Bold"/>
                <a:ea typeface="Montserrat Bold"/>
                <a:cs typeface="Montserrat Bold"/>
                <a:sym typeface="Montserrat Bold"/>
              </a:rPr>
              <a:t>Competitor Density Analysis</a:t>
            </a:r>
          </a:p>
        </p:txBody>
      </p:sp>
      <p:sp>
        <p:nvSpPr>
          <p:cNvPr name="TextBox 23" id="23"/>
          <p:cNvSpPr txBox="true"/>
          <p:nvPr/>
        </p:nvSpPr>
        <p:spPr>
          <a:xfrm rot="0">
            <a:off x="8045082" y="5128946"/>
            <a:ext cx="2396985" cy="406860"/>
          </a:xfrm>
          <a:prstGeom prst="rect">
            <a:avLst/>
          </a:prstGeom>
        </p:spPr>
        <p:txBody>
          <a:bodyPr anchor="t" rtlCol="false" tIns="0" lIns="0" bIns="0" rIns="0">
            <a:spAutoFit/>
          </a:bodyPr>
          <a:lstStyle/>
          <a:p>
            <a:pPr algn="l">
              <a:lnSpc>
                <a:spcPts val="3277"/>
              </a:lnSpc>
            </a:pPr>
            <a:r>
              <a:rPr lang="en-US" b="true" sz="2340">
                <a:solidFill>
                  <a:srgbClr val="F7F9FC"/>
                </a:solidFill>
                <a:latin typeface="Open Sans Bold"/>
                <a:ea typeface="Open Sans Bold"/>
                <a:cs typeface="Open Sans Bold"/>
                <a:sym typeface="Open Sans Bold"/>
              </a:rPr>
              <a:t>Rivals</a:t>
            </a:r>
            <a:r>
              <a:rPr lang="en-US" b="true" sz="2340">
                <a:solidFill>
                  <a:srgbClr val="000000"/>
                </a:solidFill>
                <a:latin typeface="Open Sans Bold"/>
                <a:ea typeface="Open Sans Bold"/>
                <a:cs typeface="Open Sans Bold"/>
                <a:sym typeface="Open Sans Bold"/>
              </a:rPr>
              <a:t> </a:t>
            </a:r>
            <a:r>
              <a:rPr lang="en-US" b="true" sz="2340">
                <a:solidFill>
                  <a:srgbClr val="F7F9FC"/>
                </a:solidFill>
                <a:latin typeface="Open Sans Bold"/>
                <a:ea typeface="Open Sans Bold"/>
                <a:cs typeface="Open Sans Bold"/>
                <a:sym typeface="Open Sans Bold"/>
              </a:rPr>
              <a:t>(0–300</a:t>
            </a:r>
            <a:r>
              <a:rPr lang="en-US" b="true" sz="2340">
                <a:solidFill>
                  <a:srgbClr val="000000"/>
                </a:solidFill>
                <a:latin typeface="Open Sans Bold"/>
                <a:ea typeface="Open Sans Bold"/>
                <a:cs typeface="Open Sans Bold"/>
                <a:sym typeface="Open Sans Bold"/>
              </a:rPr>
              <a:t> </a:t>
            </a:r>
            <a:r>
              <a:rPr lang="en-US" b="true" sz="2340">
                <a:solidFill>
                  <a:srgbClr val="F7F9FC"/>
                </a:solidFill>
                <a:latin typeface="Open Sans Bold"/>
                <a:ea typeface="Open Sans Bold"/>
                <a:cs typeface="Open Sans Bold"/>
                <a:sym typeface="Open Sans Bold"/>
              </a:rPr>
              <a:t>m)</a:t>
            </a:r>
          </a:p>
        </p:txBody>
      </p:sp>
      <p:sp>
        <p:nvSpPr>
          <p:cNvPr name="TextBox 24" id="24"/>
          <p:cNvSpPr txBox="true"/>
          <p:nvPr/>
        </p:nvSpPr>
        <p:spPr>
          <a:xfrm rot="0">
            <a:off x="7991361" y="8118100"/>
            <a:ext cx="2506666" cy="406860"/>
          </a:xfrm>
          <a:prstGeom prst="rect">
            <a:avLst/>
          </a:prstGeom>
        </p:spPr>
        <p:txBody>
          <a:bodyPr anchor="t" rtlCol="false" tIns="0" lIns="0" bIns="0" rIns="0">
            <a:spAutoFit/>
          </a:bodyPr>
          <a:lstStyle/>
          <a:p>
            <a:pPr algn="l">
              <a:lnSpc>
                <a:spcPts val="3277"/>
              </a:lnSpc>
            </a:pPr>
            <a:r>
              <a:rPr lang="en-US" b="true" sz="2340">
                <a:solidFill>
                  <a:srgbClr val="F7F9FC"/>
                </a:solidFill>
                <a:latin typeface="Open Sans Bold"/>
                <a:ea typeface="Open Sans Bold"/>
                <a:cs typeface="Open Sans Bold"/>
                <a:sym typeface="Open Sans Bold"/>
              </a:rPr>
              <a:t>Listings</a:t>
            </a:r>
            <a:r>
              <a:rPr lang="en-US" b="true" sz="2340">
                <a:solidFill>
                  <a:srgbClr val="000000"/>
                </a:solidFill>
                <a:latin typeface="Open Sans Bold"/>
                <a:ea typeface="Open Sans Bold"/>
                <a:cs typeface="Open Sans Bold"/>
                <a:sym typeface="Open Sans Bold"/>
              </a:rPr>
              <a:t> </a:t>
            </a:r>
            <a:r>
              <a:rPr lang="en-US" b="true" sz="2340">
                <a:solidFill>
                  <a:srgbClr val="F7F9FC"/>
                </a:solidFill>
                <a:latin typeface="Open Sans Bold"/>
                <a:ea typeface="Open Sans Bold"/>
                <a:cs typeface="Open Sans Bold"/>
                <a:sym typeface="Open Sans Bold"/>
              </a:rPr>
              <a:t>(2–5</a:t>
            </a:r>
            <a:r>
              <a:rPr lang="en-US" b="true" sz="2340">
                <a:solidFill>
                  <a:srgbClr val="000000"/>
                </a:solidFill>
                <a:latin typeface="Open Sans Bold"/>
                <a:ea typeface="Open Sans Bold"/>
                <a:cs typeface="Open Sans Bold"/>
                <a:sym typeface="Open Sans Bold"/>
              </a:rPr>
              <a:t> </a:t>
            </a:r>
            <a:r>
              <a:rPr lang="en-US" b="true" sz="2340">
                <a:solidFill>
                  <a:srgbClr val="F7F9FC"/>
                </a:solidFill>
                <a:latin typeface="Open Sans Bold"/>
                <a:ea typeface="Open Sans Bold"/>
                <a:cs typeface="Open Sans Bold"/>
                <a:sym typeface="Open Sans Bold"/>
              </a:rPr>
              <a:t>km)</a:t>
            </a:r>
          </a:p>
        </p:txBody>
      </p:sp>
      <p:sp>
        <p:nvSpPr>
          <p:cNvPr name="TextBox 25" id="25"/>
          <p:cNvSpPr txBox="true"/>
          <p:nvPr/>
        </p:nvSpPr>
        <p:spPr>
          <a:xfrm rot="0">
            <a:off x="13288680" y="5029943"/>
            <a:ext cx="2882656" cy="406860"/>
          </a:xfrm>
          <a:prstGeom prst="rect">
            <a:avLst/>
          </a:prstGeom>
        </p:spPr>
        <p:txBody>
          <a:bodyPr anchor="t" rtlCol="false" tIns="0" lIns="0" bIns="0" rIns="0">
            <a:spAutoFit/>
          </a:bodyPr>
          <a:lstStyle/>
          <a:p>
            <a:pPr algn="l">
              <a:lnSpc>
                <a:spcPts val="3277"/>
              </a:lnSpc>
            </a:pPr>
            <a:r>
              <a:rPr lang="en-US" b="true" sz="2340">
                <a:solidFill>
                  <a:srgbClr val="F7F9FC"/>
                </a:solidFill>
                <a:latin typeface="Open Sans Bold"/>
                <a:ea typeface="Open Sans Bold"/>
                <a:cs typeface="Open Sans Bold"/>
                <a:sym typeface="Open Sans Bold"/>
              </a:rPr>
              <a:t>Rivals</a:t>
            </a:r>
            <a:r>
              <a:rPr lang="en-US" b="true" sz="2340">
                <a:solidFill>
                  <a:srgbClr val="000000"/>
                </a:solidFill>
                <a:latin typeface="Open Sans Bold"/>
                <a:ea typeface="Open Sans Bold"/>
                <a:cs typeface="Open Sans Bold"/>
                <a:sym typeface="Open Sans Bold"/>
              </a:rPr>
              <a:t> </a:t>
            </a:r>
            <a:r>
              <a:rPr lang="en-US" b="true" sz="2340">
                <a:solidFill>
                  <a:srgbClr val="F7F9FC"/>
                </a:solidFill>
                <a:latin typeface="Open Sans Bold"/>
                <a:ea typeface="Open Sans Bold"/>
                <a:cs typeface="Open Sans Bold"/>
                <a:sym typeface="Open Sans Bold"/>
              </a:rPr>
              <a:t>(300m–2</a:t>
            </a:r>
            <a:r>
              <a:rPr lang="en-US" b="true" sz="2340">
                <a:solidFill>
                  <a:srgbClr val="000000"/>
                </a:solidFill>
                <a:latin typeface="Open Sans Bold"/>
                <a:ea typeface="Open Sans Bold"/>
                <a:cs typeface="Open Sans Bold"/>
                <a:sym typeface="Open Sans Bold"/>
              </a:rPr>
              <a:t> </a:t>
            </a:r>
            <a:r>
              <a:rPr lang="en-US" b="true" sz="2340">
                <a:solidFill>
                  <a:srgbClr val="F7F9FC"/>
                </a:solidFill>
                <a:latin typeface="Open Sans Bold"/>
                <a:ea typeface="Open Sans Bold"/>
                <a:cs typeface="Open Sans Bold"/>
                <a:sym typeface="Open Sans Bold"/>
              </a:rPr>
              <a:t>km)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72B4D"/>
        </a:solidFill>
      </p:bgPr>
    </p:bg>
    <p:spTree>
      <p:nvGrpSpPr>
        <p:cNvPr id="1" name=""/>
        <p:cNvGrpSpPr/>
        <p:nvPr/>
      </p:nvGrpSpPr>
      <p:grpSpPr>
        <a:xfrm>
          <a:off x="0" y="0"/>
          <a:ext cx="0" cy="0"/>
          <a:chOff x="0" y="0"/>
          <a:chExt cx="0" cy="0"/>
        </a:xfrm>
      </p:grpSpPr>
      <p:grpSp>
        <p:nvGrpSpPr>
          <p:cNvPr name="Group 2" id="2"/>
          <p:cNvGrpSpPr/>
          <p:nvPr/>
        </p:nvGrpSpPr>
        <p:grpSpPr>
          <a:xfrm rot="0">
            <a:off x="0" y="5412781"/>
            <a:ext cx="9363732" cy="4874219"/>
            <a:chOff x="0" y="0"/>
            <a:chExt cx="12484976" cy="6498958"/>
          </a:xfrm>
        </p:grpSpPr>
        <p:sp>
          <p:nvSpPr>
            <p:cNvPr name="Freeform 3" id="3"/>
            <p:cNvSpPr/>
            <p:nvPr/>
          </p:nvSpPr>
          <p:spPr>
            <a:xfrm flipH="false" flipV="false" rot="0">
              <a:off x="0" y="0"/>
              <a:ext cx="12484989" cy="6498971"/>
            </a:xfrm>
            <a:custGeom>
              <a:avLst/>
              <a:gdLst/>
              <a:ahLst/>
              <a:cxnLst/>
              <a:rect r="r" b="b" t="t" l="l"/>
              <a:pathLst>
                <a:path h="6498971" w="12484989">
                  <a:moveTo>
                    <a:pt x="5788914" y="0"/>
                  </a:moveTo>
                  <a:cubicBezTo>
                    <a:pt x="3345434" y="0"/>
                    <a:pt x="1170305" y="1367790"/>
                    <a:pt x="0" y="3367278"/>
                  </a:cubicBezTo>
                  <a:lnTo>
                    <a:pt x="0" y="6498971"/>
                  </a:lnTo>
                  <a:lnTo>
                    <a:pt x="2816479" y="6498971"/>
                  </a:lnTo>
                  <a:cubicBezTo>
                    <a:pt x="2922397" y="4966335"/>
                    <a:pt x="4233291" y="3719830"/>
                    <a:pt x="5788914" y="3719830"/>
                  </a:cubicBezTo>
                  <a:cubicBezTo>
                    <a:pt x="7344537" y="3719830"/>
                    <a:pt x="8655431" y="4966335"/>
                    <a:pt x="8761349" y="6498971"/>
                  </a:cubicBezTo>
                  <a:lnTo>
                    <a:pt x="12484989" y="6498971"/>
                  </a:lnTo>
                  <a:cubicBezTo>
                    <a:pt x="12375896" y="2939288"/>
                    <a:pt x="9370949" y="0"/>
                    <a:pt x="5788914" y="0"/>
                  </a:cubicBezTo>
                  <a:close/>
                </a:path>
              </a:pathLst>
            </a:custGeom>
            <a:blipFill>
              <a:blip r:embed="rId2"/>
              <a:stretch>
                <a:fillRect l="-7290" t="0" r="-24" b="-3079"/>
              </a:stretch>
            </a:blipFill>
          </p:spPr>
        </p:sp>
      </p:grpSp>
      <p:grpSp>
        <p:nvGrpSpPr>
          <p:cNvPr name="Group 4" id="4"/>
          <p:cNvGrpSpPr/>
          <p:nvPr/>
        </p:nvGrpSpPr>
        <p:grpSpPr>
          <a:xfrm rot="0">
            <a:off x="1028700" y="1028700"/>
            <a:ext cx="8337328" cy="8147437"/>
            <a:chOff x="0" y="0"/>
            <a:chExt cx="11116437" cy="10863250"/>
          </a:xfrm>
        </p:grpSpPr>
        <p:sp>
          <p:nvSpPr>
            <p:cNvPr name="Freeform 5" id="5"/>
            <p:cNvSpPr/>
            <p:nvPr/>
          </p:nvSpPr>
          <p:spPr>
            <a:xfrm flipH="false" flipV="false" rot="0">
              <a:off x="0" y="0"/>
              <a:ext cx="11116437" cy="10863199"/>
            </a:xfrm>
            <a:custGeom>
              <a:avLst/>
              <a:gdLst/>
              <a:ahLst/>
              <a:cxnLst/>
              <a:rect r="r" b="b" t="t" l="l"/>
              <a:pathLst>
                <a:path h="10863199" w="11116437">
                  <a:moveTo>
                    <a:pt x="381000" y="0"/>
                  </a:moveTo>
                  <a:cubicBezTo>
                    <a:pt x="170561" y="0"/>
                    <a:pt x="0" y="170561"/>
                    <a:pt x="0" y="381000"/>
                  </a:cubicBezTo>
                  <a:lnTo>
                    <a:pt x="0" y="10482199"/>
                  </a:lnTo>
                  <a:cubicBezTo>
                    <a:pt x="0" y="10692638"/>
                    <a:pt x="170561" y="10863199"/>
                    <a:pt x="381000" y="10863199"/>
                  </a:cubicBezTo>
                  <a:lnTo>
                    <a:pt x="10735437" y="10863199"/>
                  </a:lnTo>
                  <a:cubicBezTo>
                    <a:pt x="10945876" y="10863199"/>
                    <a:pt x="11116437" y="10692638"/>
                    <a:pt x="11116437" y="10482199"/>
                  </a:cubicBezTo>
                  <a:lnTo>
                    <a:pt x="11116437" y="381000"/>
                  </a:lnTo>
                  <a:cubicBezTo>
                    <a:pt x="11116437" y="170561"/>
                    <a:pt x="10945876" y="0"/>
                    <a:pt x="10735437" y="0"/>
                  </a:cubicBezTo>
                  <a:close/>
                </a:path>
              </a:pathLst>
            </a:custGeom>
            <a:blipFill>
              <a:blip r:embed="rId3"/>
              <a:stretch>
                <a:fillRect l="0" t="-333" r="-12" b="-447"/>
              </a:stretch>
            </a:blipFill>
          </p:spPr>
        </p:sp>
      </p:grpSp>
      <p:sp>
        <p:nvSpPr>
          <p:cNvPr name="TextBox 6" id="6"/>
          <p:cNvSpPr txBox="true"/>
          <p:nvPr/>
        </p:nvSpPr>
        <p:spPr>
          <a:xfrm rot="0">
            <a:off x="10396833" y="1700251"/>
            <a:ext cx="6837140" cy="2194922"/>
          </a:xfrm>
          <a:prstGeom prst="rect">
            <a:avLst/>
          </a:prstGeom>
        </p:spPr>
        <p:txBody>
          <a:bodyPr anchor="t" rtlCol="false" tIns="0" lIns="0" bIns="0" rIns="0">
            <a:spAutoFit/>
          </a:bodyPr>
          <a:lstStyle/>
          <a:p>
            <a:pPr algn="l">
              <a:lnSpc>
                <a:spcPts val="8400"/>
              </a:lnSpc>
            </a:pPr>
            <a:r>
              <a:rPr lang="en-US" b="true" sz="8493">
                <a:solidFill>
                  <a:srgbClr val="F7F9FC"/>
                </a:solidFill>
                <a:latin typeface="Montserrat Bold"/>
                <a:ea typeface="Montserrat Bold"/>
                <a:cs typeface="Montserrat Bold"/>
                <a:sym typeface="Montserrat Bold"/>
              </a:rPr>
              <a:t>Location</a:t>
            </a:r>
          </a:p>
          <a:p>
            <a:pPr algn="l">
              <a:lnSpc>
                <a:spcPts val="8400"/>
              </a:lnSpc>
            </a:pPr>
            <a:r>
              <a:rPr lang="en-US" b="true" sz="8493">
                <a:solidFill>
                  <a:srgbClr val="F7F9FC"/>
                </a:solidFill>
                <a:latin typeface="Montserrat Bold"/>
                <a:ea typeface="Montserrat Bold"/>
                <a:cs typeface="Montserrat Bold"/>
                <a:sym typeface="Montserrat Bold"/>
              </a:rPr>
              <a:t>Intelligence</a:t>
            </a:r>
          </a:p>
        </p:txBody>
      </p:sp>
      <p:sp>
        <p:nvSpPr>
          <p:cNvPr name="TextBox 7" id="7"/>
          <p:cNvSpPr txBox="true"/>
          <p:nvPr/>
        </p:nvSpPr>
        <p:spPr>
          <a:xfrm rot="0">
            <a:off x="11397729" y="4072490"/>
            <a:ext cx="82725" cy="425406"/>
          </a:xfrm>
          <a:prstGeom prst="rect">
            <a:avLst/>
          </a:prstGeom>
        </p:spPr>
        <p:txBody>
          <a:bodyPr anchor="t" rtlCol="false" tIns="0" lIns="0" bIns="0" rIns="0">
            <a:spAutoFit/>
          </a:bodyPr>
          <a:lstStyle/>
          <a:p>
            <a:pPr algn="l">
              <a:lnSpc>
                <a:spcPts val="3441"/>
              </a:lnSpc>
            </a:pPr>
            <a:r>
              <a:rPr lang="en-US" sz="2458">
                <a:solidFill>
                  <a:srgbClr val="F7F9FC"/>
                </a:solidFill>
                <a:latin typeface="Open Sans"/>
                <a:ea typeface="Open Sans"/>
                <a:cs typeface="Open Sans"/>
                <a:sym typeface="Open Sans"/>
              </a:rPr>
              <a:t> </a:t>
            </a:r>
          </a:p>
        </p:txBody>
      </p:sp>
      <p:sp>
        <p:nvSpPr>
          <p:cNvPr name="TextBox 8" id="8"/>
          <p:cNvSpPr txBox="true"/>
          <p:nvPr/>
        </p:nvSpPr>
        <p:spPr>
          <a:xfrm rot="0">
            <a:off x="10396833" y="4072490"/>
            <a:ext cx="6502679" cy="425406"/>
          </a:xfrm>
          <a:prstGeom prst="rect">
            <a:avLst/>
          </a:prstGeom>
        </p:spPr>
        <p:txBody>
          <a:bodyPr anchor="t" rtlCol="false" tIns="0" lIns="0" bIns="0" rIns="0">
            <a:spAutoFit/>
          </a:bodyPr>
          <a:lstStyle/>
          <a:p>
            <a:pPr algn="l">
              <a:lnSpc>
                <a:spcPts val="3441"/>
              </a:lnSpc>
            </a:pPr>
            <a:r>
              <a:rPr lang="en-US" sz="2458">
                <a:solidFill>
                  <a:srgbClr val="F7F9FC"/>
                </a:solidFill>
                <a:latin typeface="Open Sans"/>
                <a:ea typeface="Open Sans"/>
                <a:cs typeface="Open Sans"/>
                <a:sym typeface="Open Sans"/>
              </a:rPr>
              <a:t>LOCUSAIaggregates localmarket signals—</a:t>
            </a:r>
          </a:p>
        </p:txBody>
      </p:sp>
      <p:sp>
        <p:nvSpPr>
          <p:cNvPr name="TextBox 9" id="9"/>
          <p:cNvSpPr txBox="true"/>
          <p:nvPr/>
        </p:nvSpPr>
        <p:spPr>
          <a:xfrm rot="0">
            <a:off x="10396833" y="4510640"/>
            <a:ext cx="7317115" cy="3416256"/>
          </a:xfrm>
          <a:prstGeom prst="rect">
            <a:avLst/>
          </a:prstGeom>
        </p:spPr>
        <p:txBody>
          <a:bodyPr anchor="t" rtlCol="false" tIns="0" lIns="0" bIns="0" rIns="0">
            <a:spAutoFit/>
          </a:bodyPr>
          <a:lstStyle/>
          <a:p>
            <a:pPr algn="l">
              <a:lnSpc>
                <a:spcPts val="3375"/>
              </a:lnSpc>
            </a:pPr>
            <a:r>
              <a:rPr lang="en-US" sz="2458">
                <a:solidFill>
                  <a:srgbClr val="F7F9FC"/>
                </a:solidFill>
                <a:latin typeface="Open Sans"/>
                <a:ea typeface="Open Sans"/>
                <a:cs typeface="Open Sans"/>
                <a:sym typeface="Open Sans"/>
              </a:rPr>
              <a:t>competitor density, foot traffic patterns, commercial activity, and customer suitability — across three distance bands around your chosen outlet. Each signal is weighted and combined into a clear location score, giving small business owners the evidence they need to make a confident go/no-go decision before committing a single rupee to rent or setup costs.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72B4D"/>
        </a:solidFill>
      </p:bgPr>
    </p:bg>
    <p:spTree>
      <p:nvGrpSpPr>
        <p:cNvPr id="1" name=""/>
        <p:cNvGrpSpPr/>
        <p:nvPr/>
      </p:nvGrpSpPr>
      <p:grpSpPr>
        <a:xfrm>
          <a:off x="0" y="0"/>
          <a:ext cx="0" cy="0"/>
          <a:chOff x="0" y="0"/>
          <a:chExt cx="0" cy="0"/>
        </a:xfrm>
      </p:grpSpPr>
      <p:grpSp>
        <p:nvGrpSpPr>
          <p:cNvPr name="Group 2" id="2"/>
          <p:cNvGrpSpPr/>
          <p:nvPr/>
        </p:nvGrpSpPr>
        <p:grpSpPr>
          <a:xfrm rot="0">
            <a:off x="0" y="5412781"/>
            <a:ext cx="9363732" cy="4874219"/>
            <a:chOff x="0" y="0"/>
            <a:chExt cx="12484976" cy="6498958"/>
          </a:xfrm>
        </p:grpSpPr>
        <p:sp>
          <p:nvSpPr>
            <p:cNvPr name="Freeform 3" id="3"/>
            <p:cNvSpPr/>
            <p:nvPr/>
          </p:nvSpPr>
          <p:spPr>
            <a:xfrm flipH="false" flipV="false" rot="0">
              <a:off x="0" y="0"/>
              <a:ext cx="12484989" cy="6498971"/>
            </a:xfrm>
            <a:custGeom>
              <a:avLst/>
              <a:gdLst/>
              <a:ahLst/>
              <a:cxnLst/>
              <a:rect r="r" b="b" t="t" l="l"/>
              <a:pathLst>
                <a:path h="6498971" w="12484989">
                  <a:moveTo>
                    <a:pt x="5788914" y="0"/>
                  </a:moveTo>
                  <a:cubicBezTo>
                    <a:pt x="3345434" y="0"/>
                    <a:pt x="1170305" y="1367790"/>
                    <a:pt x="0" y="3367278"/>
                  </a:cubicBezTo>
                  <a:lnTo>
                    <a:pt x="0" y="6498971"/>
                  </a:lnTo>
                  <a:lnTo>
                    <a:pt x="2816479" y="6498971"/>
                  </a:lnTo>
                  <a:cubicBezTo>
                    <a:pt x="2922397" y="4966335"/>
                    <a:pt x="4233291" y="3719830"/>
                    <a:pt x="5788914" y="3719830"/>
                  </a:cubicBezTo>
                  <a:cubicBezTo>
                    <a:pt x="7344537" y="3719830"/>
                    <a:pt x="8655431" y="4966335"/>
                    <a:pt x="8761349" y="6498971"/>
                  </a:cubicBezTo>
                  <a:lnTo>
                    <a:pt x="12484989" y="6498971"/>
                  </a:lnTo>
                  <a:cubicBezTo>
                    <a:pt x="12375896" y="2939288"/>
                    <a:pt x="9370949" y="0"/>
                    <a:pt x="5788914" y="0"/>
                  </a:cubicBezTo>
                  <a:close/>
                </a:path>
              </a:pathLst>
            </a:custGeom>
            <a:blipFill>
              <a:blip r:embed="rId2"/>
              <a:stretch>
                <a:fillRect l="-7290" t="0" r="-24" b="-3079"/>
              </a:stretch>
            </a:blipFill>
          </p:spPr>
        </p:sp>
      </p:grpSp>
      <p:sp>
        <p:nvSpPr>
          <p:cNvPr name="Freeform 4" id="4"/>
          <p:cNvSpPr/>
          <p:nvPr/>
        </p:nvSpPr>
        <p:spPr>
          <a:xfrm flipH="false" flipV="false" rot="0">
            <a:off x="0" y="0"/>
            <a:ext cx="5192686" cy="10287000"/>
          </a:xfrm>
          <a:custGeom>
            <a:avLst/>
            <a:gdLst/>
            <a:ahLst/>
            <a:cxnLst/>
            <a:rect r="r" b="b" t="t" l="l"/>
            <a:pathLst>
              <a:path h="10287000" w="5192686">
                <a:moveTo>
                  <a:pt x="0" y="0"/>
                </a:moveTo>
                <a:lnTo>
                  <a:pt x="5192686" y="0"/>
                </a:lnTo>
                <a:lnTo>
                  <a:pt x="5192686" y="10287000"/>
                </a:lnTo>
                <a:lnTo>
                  <a:pt x="0" y="10287000"/>
                </a:lnTo>
                <a:lnTo>
                  <a:pt x="0" y="0"/>
                </a:lnTo>
                <a:close/>
              </a:path>
            </a:pathLst>
          </a:custGeom>
          <a:blipFill>
            <a:blip r:embed="rId3"/>
            <a:stretch>
              <a:fillRect l="-640" t="0" r="-640" b="0"/>
            </a:stretch>
          </a:blipFill>
        </p:spPr>
      </p:sp>
      <p:sp>
        <p:nvSpPr>
          <p:cNvPr name="Freeform 5" id="5"/>
          <p:cNvSpPr/>
          <p:nvPr/>
        </p:nvSpPr>
        <p:spPr>
          <a:xfrm flipH="false" flipV="false" rot="0">
            <a:off x="13022289" y="0"/>
            <a:ext cx="5265711" cy="10287000"/>
          </a:xfrm>
          <a:custGeom>
            <a:avLst/>
            <a:gdLst/>
            <a:ahLst/>
            <a:cxnLst/>
            <a:rect r="r" b="b" t="t" l="l"/>
            <a:pathLst>
              <a:path h="10287000" w="5265711">
                <a:moveTo>
                  <a:pt x="0" y="0"/>
                </a:moveTo>
                <a:lnTo>
                  <a:pt x="5265711" y="0"/>
                </a:lnTo>
                <a:lnTo>
                  <a:pt x="5265711" y="10287000"/>
                </a:lnTo>
                <a:lnTo>
                  <a:pt x="0" y="10287000"/>
                </a:lnTo>
                <a:lnTo>
                  <a:pt x="0" y="0"/>
                </a:lnTo>
                <a:close/>
              </a:path>
            </a:pathLst>
          </a:custGeom>
          <a:blipFill>
            <a:blip r:embed="rId4"/>
            <a:stretch>
              <a:fillRect l="-6243" t="0" r="-5870" b="0"/>
            </a:stretch>
          </a:blipFill>
        </p:spPr>
      </p:sp>
      <p:sp>
        <p:nvSpPr>
          <p:cNvPr name="TextBox 6" id="6"/>
          <p:cNvSpPr txBox="true"/>
          <p:nvPr/>
        </p:nvSpPr>
        <p:spPr>
          <a:xfrm rot="0">
            <a:off x="5448930" y="3331638"/>
            <a:ext cx="7317115" cy="1341565"/>
          </a:xfrm>
          <a:prstGeom prst="rect">
            <a:avLst/>
          </a:prstGeom>
        </p:spPr>
        <p:txBody>
          <a:bodyPr anchor="t" rtlCol="false" tIns="0" lIns="0" bIns="0" rIns="0">
            <a:spAutoFit/>
          </a:bodyPr>
          <a:lstStyle/>
          <a:p>
            <a:pPr algn="l">
              <a:lnSpc>
                <a:spcPts val="3461"/>
              </a:lnSpc>
            </a:pPr>
            <a:r>
              <a:rPr lang="en-US" b="true" sz="3500">
                <a:solidFill>
                  <a:srgbClr val="F7F9FC"/>
                </a:solidFill>
                <a:latin typeface="Montserrat Bold"/>
                <a:ea typeface="Montserrat Bold"/>
                <a:cs typeface="Montserrat Bold"/>
                <a:sym typeface="Montserrat Bold"/>
              </a:rPr>
              <a:t>Street S</a:t>
            </a:r>
            <a:r>
              <a:rPr lang="en-US" b="true" sz="3500">
                <a:solidFill>
                  <a:srgbClr val="F7F9FC"/>
                </a:solidFill>
                <a:latin typeface="Montserrat Bold"/>
                <a:ea typeface="Montserrat Bold"/>
                <a:cs typeface="Montserrat Bold"/>
                <a:sym typeface="Montserrat Bold"/>
              </a:rPr>
              <a:t>can – Ground-Level Validation</a:t>
            </a:r>
          </a:p>
          <a:p>
            <a:pPr algn="l">
              <a:lnSpc>
                <a:spcPts val="3461"/>
              </a:lnSpc>
            </a:pPr>
          </a:p>
        </p:txBody>
      </p:sp>
      <p:sp>
        <p:nvSpPr>
          <p:cNvPr name="TextBox 7" id="7"/>
          <p:cNvSpPr txBox="true"/>
          <p:nvPr/>
        </p:nvSpPr>
        <p:spPr>
          <a:xfrm rot="0">
            <a:off x="10202704" y="4072490"/>
            <a:ext cx="82725" cy="425406"/>
          </a:xfrm>
          <a:prstGeom prst="rect">
            <a:avLst/>
          </a:prstGeom>
        </p:spPr>
        <p:txBody>
          <a:bodyPr anchor="t" rtlCol="false" tIns="0" lIns="0" bIns="0" rIns="0">
            <a:spAutoFit/>
          </a:bodyPr>
          <a:lstStyle/>
          <a:p>
            <a:pPr algn="l">
              <a:lnSpc>
                <a:spcPts val="3441"/>
              </a:lnSpc>
            </a:pPr>
            <a:r>
              <a:rPr lang="en-US" sz="2458">
                <a:solidFill>
                  <a:srgbClr val="F7F9FC"/>
                </a:solidFill>
                <a:latin typeface="Open Sans"/>
                <a:ea typeface="Open Sans"/>
                <a:cs typeface="Open Sans"/>
                <a:sym typeface="Open Sans"/>
              </a:rPr>
              <a:t> </a:t>
            </a:r>
          </a:p>
        </p:txBody>
      </p:sp>
      <p:sp>
        <p:nvSpPr>
          <p:cNvPr name="TextBox 8" id="8"/>
          <p:cNvSpPr txBox="true"/>
          <p:nvPr/>
        </p:nvSpPr>
        <p:spPr>
          <a:xfrm rot="0">
            <a:off x="5382384" y="4459796"/>
            <a:ext cx="7383661" cy="2325370"/>
          </a:xfrm>
          <a:prstGeom prst="rect">
            <a:avLst/>
          </a:prstGeom>
        </p:spPr>
        <p:txBody>
          <a:bodyPr anchor="t" rtlCol="false" tIns="0" lIns="0" bIns="0" rIns="0">
            <a:spAutoFit/>
          </a:bodyPr>
          <a:lstStyle/>
          <a:p>
            <a:pPr algn="l" marL="474979" indent="-237490" lvl="1">
              <a:lnSpc>
                <a:spcPts val="3079"/>
              </a:lnSpc>
              <a:buFont typeface="Arial"/>
              <a:buChar char="•"/>
            </a:pPr>
            <a:r>
              <a:rPr lang="en-US" sz="2199">
                <a:solidFill>
                  <a:srgbClr val="F7F9FC"/>
                </a:solidFill>
                <a:latin typeface="Open Sans"/>
                <a:ea typeface="Open Sans"/>
                <a:cs typeface="Open Sans"/>
                <a:sym typeface="Open Sans"/>
              </a:rPr>
              <a:t>Upload 30–60 second street videos.</a:t>
            </a:r>
          </a:p>
          <a:p>
            <a:pPr algn="l" marL="474979" indent="-237490" lvl="1">
              <a:lnSpc>
                <a:spcPts val="3079"/>
              </a:lnSpc>
              <a:buFont typeface="Arial"/>
              <a:buChar char="•"/>
            </a:pPr>
            <a:r>
              <a:rPr lang="en-US" sz="2199">
                <a:solidFill>
                  <a:srgbClr val="F7F9FC"/>
                </a:solidFill>
                <a:latin typeface="Open Sans"/>
                <a:ea typeface="Open Sans"/>
                <a:cs typeface="Open Sans"/>
                <a:sym typeface="Open Sans"/>
              </a:rPr>
              <a:t>Detect people, vehicles, seating, and storefronts.</a:t>
            </a:r>
          </a:p>
          <a:p>
            <a:pPr algn="l" marL="474979" indent="-237490" lvl="1">
              <a:lnSpc>
                <a:spcPts val="3079"/>
              </a:lnSpc>
              <a:buFont typeface="Arial"/>
              <a:buChar char="•"/>
            </a:pPr>
            <a:r>
              <a:rPr lang="en-US" sz="2199">
                <a:solidFill>
                  <a:srgbClr val="F7F9FC"/>
                </a:solidFill>
                <a:latin typeface="Open Sans"/>
                <a:ea typeface="Open Sans"/>
                <a:cs typeface="Open Sans"/>
                <a:sym typeface="Open Sans"/>
              </a:rPr>
              <a:t>Extract business information from visible signboards.</a:t>
            </a:r>
          </a:p>
          <a:p>
            <a:pPr algn="l" marL="474979" indent="-237490" lvl="1">
              <a:lnSpc>
                <a:spcPts val="3079"/>
              </a:lnSpc>
              <a:buFont typeface="Arial"/>
              <a:buChar char="•"/>
            </a:pPr>
            <a:r>
              <a:rPr lang="en-US" sz="2199">
                <a:solidFill>
                  <a:srgbClr val="F7F9FC"/>
                </a:solidFill>
                <a:latin typeface="Open Sans"/>
                <a:ea typeface="Open Sans"/>
                <a:cs typeface="Open Sans"/>
                <a:sym typeface="Open Sans"/>
              </a:rPr>
              <a:t>Remove duplicate observations across video frames.</a:t>
            </a:r>
          </a:p>
          <a:p>
            <a:pPr algn="l" marL="474979" indent="-237490" lvl="1">
              <a:lnSpc>
                <a:spcPts val="3079"/>
              </a:lnSpc>
              <a:buFont typeface="Arial"/>
              <a:buChar char="•"/>
            </a:pPr>
            <a:r>
              <a:rPr lang="en-US" sz="2199">
                <a:solidFill>
                  <a:srgbClr val="F7F9FC"/>
                </a:solidFill>
                <a:latin typeface="Open Sans"/>
                <a:ea typeface="Open Sans"/>
                <a:cs typeface="Open Sans"/>
                <a:sym typeface="Open Sans"/>
              </a:rPr>
              <a:t>Fuse observed evidence with existing location data.</a:t>
            </a:r>
          </a:p>
          <a:p>
            <a:pPr algn="l">
              <a:lnSpc>
                <a:spcPts val="307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72B4D"/>
        </a:solidFill>
      </p:bgPr>
    </p:bg>
    <p:spTree>
      <p:nvGrpSpPr>
        <p:cNvPr id="1" name=""/>
        <p:cNvGrpSpPr/>
        <p:nvPr/>
      </p:nvGrpSpPr>
      <p:grpSpPr>
        <a:xfrm>
          <a:off x="0" y="0"/>
          <a:ext cx="0" cy="0"/>
          <a:chOff x="0" y="0"/>
          <a:chExt cx="0" cy="0"/>
        </a:xfrm>
      </p:grpSpPr>
      <p:grpSp>
        <p:nvGrpSpPr>
          <p:cNvPr name="Group 2" id="2"/>
          <p:cNvGrpSpPr/>
          <p:nvPr/>
        </p:nvGrpSpPr>
        <p:grpSpPr>
          <a:xfrm rot="0">
            <a:off x="0" y="5412781"/>
            <a:ext cx="9363732" cy="4874219"/>
            <a:chOff x="0" y="0"/>
            <a:chExt cx="12484976" cy="6498958"/>
          </a:xfrm>
        </p:grpSpPr>
        <p:sp>
          <p:nvSpPr>
            <p:cNvPr name="Freeform 3" id="3"/>
            <p:cNvSpPr/>
            <p:nvPr/>
          </p:nvSpPr>
          <p:spPr>
            <a:xfrm flipH="false" flipV="false" rot="0">
              <a:off x="0" y="0"/>
              <a:ext cx="12484989" cy="6498971"/>
            </a:xfrm>
            <a:custGeom>
              <a:avLst/>
              <a:gdLst/>
              <a:ahLst/>
              <a:cxnLst/>
              <a:rect r="r" b="b" t="t" l="l"/>
              <a:pathLst>
                <a:path h="6498971" w="12484989">
                  <a:moveTo>
                    <a:pt x="5788914" y="0"/>
                  </a:moveTo>
                  <a:cubicBezTo>
                    <a:pt x="3345434" y="0"/>
                    <a:pt x="1170305" y="1367790"/>
                    <a:pt x="0" y="3367278"/>
                  </a:cubicBezTo>
                  <a:lnTo>
                    <a:pt x="0" y="6498971"/>
                  </a:lnTo>
                  <a:lnTo>
                    <a:pt x="2816479" y="6498971"/>
                  </a:lnTo>
                  <a:cubicBezTo>
                    <a:pt x="2922397" y="4966335"/>
                    <a:pt x="4233291" y="3719830"/>
                    <a:pt x="5788914" y="3719830"/>
                  </a:cubicBezTo>
                  <a:cubicBezTo>
                    <a:pt x="7344537" y="3719830"/>
                    <a:pt x="8655431" y="4966335"/>
                    <a:pt x="8761349" y="6498971"/>
                  </a:cubicBezTo>
                  <a:lnTo>
                    <a:pt x="12484989" y="6498971"/>
                  </a:lnTo>
                  <a:cubicBezTo>
                    <a:pt x="12375896" y="2939288"/>
                    <a:pt x="9370949" y="0"/>
                    <a:pt x="5788914" y="0"/>
                  </a:cubicBezTo>
                  <a:close/>
                </a:path>
              </a:pathLst>
            </a:custGeom>
            <a:blipFill>
              <a:blip r:embed="rId2"/>
              <a:stretch>
                <a:fillRect l="-7290" t="0" r="-24" b="-3079"/>
              </a:stretch>
            </a:blipFill>
          </p:spPr>
        </p:sp>
      </p:grpSp>
      <p:grpSp>
        <p:nvGrpSpPr>
          <p:cNvPr name="Group 4" id="4"/>
          <p:cNvGrpSpPr/>
          <p:nvPr/>
        </p:nvGrpSpPr>
        <p:grpSpPr>
          <a:xfrm rot="0">
            <a:off x="485651" y="903684"/>
            <a:ext cx="9715500" cy="8696325"/>
            <a:chOff x="0" y="0"/>
            <a:chExt cx="12954000" cy="11595100"/>
          </a:xfrm>
        </p:grpSpPr>
        <p:sp>
          <p:nvSpPr>
            <p:cNvPr name="Freeform 5" id="5"/>
            <p:cNvSpPr/>
            <p:nvPr/>
          </p:nvSpPr>
          <p:spPr>
            <a:xfrm flipH="false" flipV="false" rot="0">
              <a:off x="0" y="0"/>
              <a:ext cx="12953873" cy="11595100"/>
            </a:xfrm>
            <a:custGeom>
              <a:avLst/>
              <a:gdLst/>
              <a:ahLst/>
              <a:cxnLst/>
              <a:rect r="r" b="b" t="t" l="l"/>
              <a:pathLst>
                <a:path h="11595100" w="12953873">
                  <a:moveTo>
                    <a:pt x="254000" y="0"/>
                  </a:moveTo>
                  <a:cubicBezTo>
                    <a:pt x="113665" y="0"/>
                    <a:pt x="0" y="113665"/>
                    <a:pt x="0" y="254000"/>
                  </a:cubicBezTo>
                  <a:lnTo>
                    <a:pt x="0" y="11343132"/>
                  </a:lnTo>
                  <a:cubicBezTo>
                    <a:pt x="0" y="11472545"/>
                    <a:pt x="96774" y="11579225"/>
                    <a:pt x="221742" y="11595100"/>
                  </a:cubicBezTo>
                  <a:lnTo>
                    <a:pt x="12736068" y="11595100"/>
                  </a:lnTo>
                  <a:cubicBezTo>
                    <a:pt x="12846431" y="11581130"/>
                    <a:pt x="12934569" y="11496421"/>
                    <a:pt x="12953873" y="11387836"/>
                  </a:cubicBezTo>
                  <a:lnTo>
                    <a:pt x="12953873" y="209296"/>
                  </a:lnTo>
                  <a:cubicBezTo>
                    <a:pt x="12932918" y="90297"/>
                    <a:pt x="12828905" y="0"/>
                    <a:pt x="12703937" y="0"/>
                  </a:cubicBezTo>
                  <a:close/>
                </a:path>
              </a:pathLst>
            </a:custGeom>
            <a:blipFill>
              <a:blip r:embed="rId3"/>
              <a:stretch>
                <a:fillRect l="-30547" t="0" r="-30532" b="0"/>
              </a:stretch>
            </a:blipFill>
          </p:spPr>
        </p:sp>
      </p:grpSp>
      <p:sp>
        <p:nvSpPr>
          <p:cNvPr name="TextBox 6" id="6"/>
          <p:cNvSpPr txBox="true"/>
          <p:nvPr/>
        </p:nvSpPr>
        <p:spPr>
          <a:xfrm rot="0">
            <a:off x="10396833" y="1700251"/>
            <a:ext cx="4980965" cy="2194922"/>
          </a:xfrm>
          <a:prstGeom prst="rect">
            <a:avLst/>
          </a:prstGeom>
        </p:spPr>
        <p:txBody>
          <a:bodyPr anchor="t" rtlCol="false" tIns="0" lIns="0" bIns="0" rIns="0">
            <a:spAutoFit/>
          </a:bodyPr>
          <a:lstStyle/>
          <a:p>
            <a:pPr algn="l">
              <a:lnSpc>
                <a:spcPts val="8400"/>
              </a:lnSpc>
            </a:pPr>
            <a:r>
              <a:rPr lang="en-US" b="true" sz="8493">
                <a:solidFill>
                  <a:srgbClr val="F7F9FC"/>
                </a:solidFill>
                <a:latin typeface="Montserrat Bold"/>
                <a:ea typeface="Montserrat Bold"/>
                <a:cs typeface="Montserrat Bold"/>
                <a:sym typeface="Montserrat Bold"/>
              </a:rPr>
              <a:t>Decision</a:t>
            </a:r>
          </a:p>
          <a:p>
            <a:pPr algn="l">
              <a:lnSpc>
                <a:spcPts val="8400"/>
              </a:lnSpc>
            </a:pPr>
            <a:r>
              <a:rPr lang="en-US" b="true" sz="8493">
                <a:solidFill>
                  <a:srgbClr val="F7F9FC"/>
                </a:solidFill>
                <a:latin typeface="Montserrat Bold"/>
                <a:ea typeface="Montserrat Bold"/>
                <a:cs typeface="Montserrat Bold"/>
                <a:sym typeface="Montserrat Bold"/>
              </a:rPr>
              <a:t>Report</a:t>
            </a:r>
          </a:p>
        </p:txBody>
      </p:sp>
      <p:sp>
        <p:nvSpPr>
          <p:cNvPr name="TextBox 7" id="7"/>
          <p:cNvSpPr txBox="true"/>
          <p:nvPr/>
        </p:nvSpPr>
        <p:spPr>
          <a:xfrm rot="0">
            <a:off x="11397729" y="3911756"/>
            <a:ext cx="82725" cy="425406"/>
          </a:xfrm>
          <a:prstGeom prst="rect">
            <a:avLst/>
          </a:prstGeom>
        </p:spPr>
        <p:txBody>
          <a:bodyPr anchor="t" rtlCol="false" tIns="0" lIns="0" bIns="0" rIns="0">
            <a:spAutoFit/>
          </a:bodyPr>
          <a:lstStyle/>
          <a:p>
            <a:pPr algn="l">
              <a:lnSpc>
                <a:spcPts val="3441"/>
              </a:lnSpc>
            </a:pPr>
            <a:r>
              <a:rPr lang="en-US" sz="2458">
                <a:solidFill>
                  <a:srgbClr val="F7F9FC"/>
                </a:solidFill>
                <a:latin typeface="Open Sans"/>
                <a:ea typeface="Open Sans"/>
                <a:cs typeface="Open Sans"/>
                <a:sym typeface="Open Sans"/>
              </a:rPr>
              <a:t> </a:t>
            </a:r>
          </a:p>
        </p:txBody>
      </p:sp>
      <p:sp>
        <p:nvSpPr>
          <p:cNvPr name="TextBox 8" id="8"/>
          <p:cNvSpPr txBox="true"/>
          <p:nvPr/>
        </p:nvSpPr>
        <p:spPr>
          <a:xfrm rot="0">
            <a:off x="10396833" y="3911756"/>
            <a:ext cx="7197881" cy="425406"/>
          </a:xfrm>
          <a:prstGeom prst="rect">
            <a:avLst/>
          </a:prstGeom>
        </p:spPr>
        <p:txBody>
          <a:bodyPr anchor="t" rtlCol="false" tIns="0" lIns="0" bIns="0" rIns="0">
            <a:spAutoFit/>
          </a:bodyPr>
          <a:lstStyle/>
          <a:p>
            <a:pPr algn="l">
              <a:lnSpc>
                <a:spcPts val="3441"/>
              </a:lnSpc>
            </a:pPr>
            <a:r>
              <a:rPr lang="en-US" sz="2458">
                <a:solidFill>
                  <a:srgbClr val="F7F9FC"/>
                </a:solidFill>
                <a:latin typeface="Open Sans"/>
                <a:ea typeface="Open Sans"/>
                <a:cs typeface="Open Sans"/>
                <a:sym typeface="Open Sans"/>
              </a:rPr>
              <a:t>LOCUSAI generates anexplainable market entry</a:t>
            </a:r>
          </a:p>
        </p:txBody>
      </p:sp>
      <p:sp>
        <p:nvSpPr>
          <p:cNvPr name="TextBox 9" id="9"/>
          <p:cNvSpPr txBox="true"/>
          <p:nvPr/>
        </p:nvSpPr>
        <p:spPr>
          <a:xfrm rot="0">
            <a:off x="10396833" y="4349906"/>
            <a:ext cx="7080647" cy="3844881"/>
          </a:xfrm>
          <a:prstGeom prst="rect">
            <a:avLst/>
          </a:prstGeom>
        </p:spPr>
        <p:txBody>
          <a:bodyPr anchor="t" rtlCol="false" tIns="0" lIns="0" bIns="0" rIns="0">
            <a:spAutoFit/>
          </a:bodyPr>
          <a:lstStyle/>
          <a:p>
            <a:pPr algn="l">
              <a:lnSpc>
                <a:spcPts val="3375"/>
              </a:lnSpc>
            </a:pPr>
            <a:r>
              <a:rPr lang="en-US" sz="2458">
                <a:solidFill>
                  <a:srgbClr val="F7F9FC"/>
                </a:solidFill>
                <a:latin typeface="Open Sans"/>
                <a:ea typeface="Open Sans"/>
                <a:cs typeface="Open Sans"/>
                <a:sym typeface="Open Sans"/>
              </a:rPr>
              <a:t>reportto helpsmall-business owners make informed location decisions before investing money.The report evaluates nearby businesses, competitor density, target customer suitability, commercial activity, and available location evidence. It highlights potential advantages, identifies risks, and provides practical recommendations before committing to a location.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72B4D"/>
        </a:solidFill>
      </p:bgPr>
    </p:bg>
    <p:spTree>
      <p:nvGrpSpPr>
        <p:cNvPr id="1" name=""/>
        <p:cNvGrpSpPr/>
        <p:nvPr/>
      </p:nvGrpSpPr>
      <p:grpSpPr>
        <a:xfrm>
          <a:off x="0" y="0"/>
          <a:ext cx="0" cy="0"/>
          <a:chOff x="0" y="0"/>
          <a:chExt cx="0" cy="0"/>
        </a:xfrm>
      </p:grpSpPr>
      <p:grpSp>
        <p:nvGrpSpPr>
          <p:cNvPr name="Group 2" id="2"/>
          <p:cNvGrpSpPr/>
          <p:nvPr/>
        </p:nvGrpSpPr>
        <p:grpSpPr>
          <a:xfrm rot="0">
            <a:off x="0" y="3684146"/>
            <a:ext cx="13205698" cy="6602854"/>
            <a:chOff x="0" y="0"/>
            <a:chExt cx="17607598" cy="8803805"/>
          </a:xfrm>
        </p:grpSpPr>
        <p:sp>
          <p:nvSpPr>
            <p:cNvPr name="Freeform 3" id="3"/>
            <p:cNvSpPr/>
            <p:nvPr/>
          </p:nvSpPr>
          <p:spPr>
            <a:xfrm flipH="false" flipV="false" rot="0">
              <a:off x="0" y="0"/>
              <a:ext cx="17607535" cy="8803767"/>
            </a:xfrm>
            <a:custGeom>
              <a:avLst/>
              <a:gdLst/>
              <a:ahLst/>
              <a:cxnLst/>
              <a:rect r="r" b="b" t="t" l="l"/>
              <a:pathLst>
                <a:path h="8803767" w="17607535">
                  <a:moveTo>
                    <a:pt x="8795639" y="0"/>
                  </a:moveTo>
                  <a:cubicBezTo>
                    <a:pt x="4003929" y="4572"/>
                    <a:pt x="0" y="4011168"/>
                    <a:pt x="0" y="8803767"/>
                  </a:cubicBezTo>
                  <a:lnTo>
                    <a:pt x="4888357" y="8803767"/>
                  </a:lnTo>
                  <a:cubicBezTo>
                    <a:pt x="4888357" y="6671056"/>
                    <a:pt x="6671056" y="4888357"/>
                    <a:pt x="8803767" y="4888357"/>
                  </a:cubicBezTo>
                  <a:cubicBezTo>
                    <a:pt x="10936478" y="4888357"/>
                    <a:pt x="12719177" y="6671056"/>
                    <a:pt x="12719177" y="8803767"/>
                  </a:cubicBezTo>
                  <a:lnTo>
                    <a:pt x="17607535" y="8803767"/>
                  </a:lnTo>
                  <a:cubicBezTo>
                    <a:pt x="17607535" y="4011168"/>
                    <a:pt x="13603605" y="4572"/>
                    <a:pt x="8812022" y="0"/>
                  </a:cubicBezTo>
                  <a:close/>
                </a:path>
              </a:pathLst>
            </a:custGeom>
            <a:blipFill>
              <a:blip r:embed="rId2"/>
              <a:stretch>
                <a:fillRect l="0" t="0" r="0" b="0"/>
              </a:stretch>
            </a:blipFill>
          </p:spPr>
        </p:sp>
      </p:grpSp>
      <p:grpSp>
        <p:nvGrpSpPr>
          <p:cNvPr name="Group 4" id="4"/>
          <p:cNvGrpSpPr/>
          <p:nvPr/>
        </p:nvGrpSpPr>
        <p:grpSpPr>
          <a:xfrm rot="0">
            <a:off x="11045047" y="3684146"/>
            <a:ext cx="7242953" cy="6602063"/>
            <a:chOff x="0" y="0"/>
            <a:chExt cx="9657270" cy="8802751"/>
          </a:xfrm>
        </p:grpSpPr>
        <p:sp>
          <p:nvSpPr>
            <p:cNvPr name="Freeform 5" id="5"/>
            <p:cNvSpPr/>
            <p:nvPr/>
          </p:nvSpPr>
          <p:spPr>
            <a:xfrm flipH="false" flipV="false" rot="0">
              <a:off x="0" y="0"/>
              <a:ext cx="9657334" cy="8802751"/>
            </a:xfrm>
            <a:custGeom>
              <a:avLst/>
              <a:gdLst/>
              <a:ahLst/>
              <a:cxnLst/>
              <a:rect r="r" b="b" t="t" l="l"/>
              <a:pathLst>
                <a:path h="8802751" w="9657334">
                  <a:moveTo>
                    <a:pt x="4831207" y="0"/>
                  </a:moveTo>
                  <a:cubicBezTo>
                    <a:pt x="4278757" y="0"/>
                    <a:pt x="3714369" y="110490"/>
                    <a:pt x="3220847" y="278892"/>
                  </a:cubicBezTo>
                  <a:cubicBezTo>
                    <a:pt x="1360297" y="936498"/>
                    <a:pt x="26035" y="2715006"/>
                    <a:pt x="0" y="4738370"/>
                  </a:cubicBezTo>
                  <a:lnTo>
                    <a:pt x="0" y="8802751"/>
                  </a:lnTo>
                  <a:lnTo>
                    <a:pt x="9657334" y="8802751"/>
                  </a:lnTo>
                  <a:lnTo>
                    <a:pt x="9657334" y="4735195"/>
                  </a:lnTo>
                  <a:cubicBezTo>
                    <a:pt x="9631172" y="2725420"/>
                    <a:pt x="8276082" y="947039"/>
                    <a:pt x="6436487" y="273558"/>
                  </a:cubicBezTo>
                  <a:cubicBezTo>
                    <a:pt x="6426073" y="268351"/>
                    <a:pt x="6415659" y="268351"/>
                    <a:pt x="6405245" y="263017"/>
                  </a:cubicBezTo>
                  <a:cubicBezTo>
                    <a:pt x="5915279" y="94742"/>
                    <a:pt x="5383657" y="0"/>
                    <a:pt x="4831207" y="0"/>
                  </a:cubicBezTo>
                  <a:close/>
                </a:path>
              </a:pathLst>
            </a:custGeom>
            <a:blipFill>
              <a:blip r:embed="rId3"/>
              <a:stretch>
                <a:fillRect l="0" t="-11" r="-64" b="0"/>
              </a:stretch>
            </a:blipFill>
          </p:spPr>
        </p:sp>
      </p:grpSp>
      <p:grpSp>
        <p:nvGrpSpPr>
          <p:cNvPr name="Group 6" id="6"/>
          <p:cNvGrpSpPr/>
          <p:nvPr/>
        </p:nvGrpSpPr>
        <p:grpSpPr>
          <a:xfrm rot="0">
            <a:off x="1028700" y="1028700"/>
            <a:ext cx="684590" cy="684590"/>
            <a:chOff x="0" y="0"/>
            <a:chExt cx="912787" cy="912787"/>
          </a:xfrm>
        </p:grpSpPr>
        <p:sp>
          <p:nvSpPr>
            <p:cNvPr name="Freeform 7" id="7"/>
            <p:cNvSpPr/>
            <p:nvPr/>
          </p:nvSpPr>
          <p:spPr>
            <a:xfrm flipH="false" flipV="false" rot="0">
              <a:off x="0" y="0"/>
              <a:ext cx="912749" cy="912749"/>
            </a:xfrm>
            <a:custGeom>
              <a:avLst/>
              <a:gdLst/>
              <a:ahLst/>
              <a:cxnLst/>
              <a:rect r="r" b="b" t="t" l="l"/>
              <a:pathLst>
                <a:path h="912749" w="912749">
                  <a:moveTo>
                    <a:pt x="455803" y="0"/>
                  </a:moveTo>
                  <a:cubicBezTo>
                    <a:pt x="203962" y="381"/>
                    <a:pt x="0" y="204597"/>
                    <a:pt x="0" y="456438"/>
                  </a:cubicBezTo>
                  <a:cubicBezTo>
                    <a:pt x="0" y="708406"/>
                    <a:pt x="204343" y="912749"/>
                    <a:pt x="456438" y="912749"/>
                  </a:cubicBezTo>
                  <a:cubicBezTo>
                    <a:pt x="708533" y="912749"/>
                    <a:pt x="912622" y="708660"/>
                    <a:pt x="912749" y="456819"/>
                  </a:cubicBezTo>
                  <a:lnTo>
                    <a:pt x="912749" y="456311"/>
                  </a:lnTo>
                  <a:cubicBezTo>
                    <a:pt x="912749" y="204470"/>
                    <a:pt x="708660" y="381"/>
                    <a:pt x="456946" y="0"/>
                  </a:cubicBezTo>
                  <a:close/>
                </a:path>
              </a:pathLst>
            </a:custGeom>
            <a:blipFill>
              <a:blip r:embed="rId4"/>
              <a:stretch>
                <a:fillRect l="0" t="0" r="-4" b="-4"/>
              </a:stretch>
            </a:blipFill>
          </p:spPr>
        </p:sp>
      </p:grpSp>
      <p:sp>
        <p:nvSpPr>
          <p:cNvPr name="Freeform 8" id="8"/>
          <p:cNvSpPr/>
          <p:nvPr/>
        </p:nvSpPr>
        <p:spPr>
          <a:xfrm flipH="false" flipV="false" rot="0">
            <a:off x="4707226" y="1278922"/>
            <a:ext cx="12615577" cy="155572"/>
          </a:xfrm>
          <a:custGeom>
            <a:avLst/>
            <a:gdLst/>
            <a:ahLst/>
            <a:cxnLst/>
            <a:rect r="r" b="b" t="t" l="l"/>
            <a:pathLst>
              <a:path h="155572" w="12615577">
                <a:moveTo>
                  <a:pt x="0" y="0"/>
                </a:moveTo>
                <a:lnTo>
                  <a:pt x="12615577" y="0"/>
                </a:lnTo>
                <a:lnTo>
                  <a:pt x="12615577" y="155572"/>
                </a:lnTo>
                <a:lnTo>
                  <a:pt x="0" y="1555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028700" y="2931624"/>
            <a:ext cx="8068770" cy="3726228"/>
          </a:xfrm>
          <a:prstGeom prst="rect">
            <a:avLst/>
          </a:prstGeom>
        </p:spPr>
        <p:txBody>
          <a:bodyPr anchor="t" rtlCol="false" tIns="0" lIns="0" bIns="0" rIns="0">
            <a:spAutoFit/>
          </a:bodyPr>
          <a:lstStyle/>
          <a:p>
            <a:pPr algn="l">
              <a:lnSpc>
                <a:spcPts val="10273"/>
              </a:lnSpc>
            </a:pPr>
            <a:r>
              <a:rPr lang="en-US" b="true" sz="7364">
                <a:solidFill>
                  <a:srgbClr val="F7F9FC"/>
                </a:solidFill>
                <a:latin typeface="Montserrat Bold"/>
                <a:ea typeface="Montserrat Bold"/>
                <a:cs typeface="Montserrat Bold"/>
                <a:sym typeface="Montserrat Bold"/>
              </a:rPr>
              <a:t>Know</a:t>
            </a:r>
          </a:p>
          <a:p>
            <a:pPr algn="l">
              <a:lnSpc>
                <a:spcPts val="9428"/>
              </a:lnSpc>
            </a:pPr>
            <a:r>
              <a:rPr lang="en-US" b="true" sz="6758">
                <a:solidFill>
                  <a:srgbClr val="F7F9FC"/>
                </a:solidFill>
                <a:latin typeface="Montserrat Bold"/>
                <a:ea typeface="Montserrat Bold"/>
                <a:cs typeface="Montserrat Bold"/>
                <a:sym typeface="Montserrat Bold"/>
              </a:rPr>
              <a:t>Where to Grow Before you spend</a:t>
            </a:r>
          </a:p>
        </p:txBody>
      </p:sp>
      <p:sp>
        <p:nvSpPr>
          <p:cNvPr name="TextBox 10" id="10"/>
          <p:cNvSpPr txBox="true"/>
          <p:nvPr/>
        </p:nvSpPr>
        <p:spPr>
          <a:xfrm rot="0">
            <a:off x="2112769" y="1128084"/>
            <a:ext cx="1483385" cy="441074"/>
          </a:xfrm>
          <a:prstGeom prst="rect">
            <a:avLst/>
          </a:prstGeom>
        </p:spPr>
        <p:txBody>
          <a:bodyPr anchor="t" rtlCol="false" tIns="0" lIns="0" bIns="0" rIns="0">
            <a:spAutoFit/>
          </a:bodyPr>
          <a:lstStyle/>
          <a:p>
            <a:pPr algn="l">
              <a:lnSpc>
                <a:spcPts val="3496"/>
              </a:lnSpc>
            </a:pPr>
            <a:r>
              <a:rPr lang="en-US" b="true" sz="2497">
                <a:solidFill>
                  <a:srgbClr val="F7F9FC"/>
                </a:solidFill>
                <a:latin typeface="Open Sans Bold"/>
                <a:ea typeface="Open Sans Bold"/>
                <a:cs typeface="Open Sans Bold"/>
                <a:sym typeface="Open Sans Bold"/>
              </a:rPr>
              <a:t>LOCUS AI</a:t>
            </a:r>
          </a:p>
        </p:txBody>
      </p:sp>
      <p:sp>
        <p:nvSpPr>
          <p:cNvPr name="TextBox 11" id="11"/>
          <p:cNvSpPr txBox="true"/>
          <p:nvPr/>
        </p:nvSpPr>
        <p:spPr>
          <a:xfrm rot="0">
            <a:off x="14292929" y="8557355"/>
            <a:ext cx="3025626" cy="448351"/>
          </a:xfrm>
          <a:prstGeom prst="rect">
            <a:avLst/>
          </a:prstGeom>
        </p:spPr>
        <p:txBody>
          <a:bodyPr anchor="t" rtlCol="false" tIns="0" lIns="0" bIns="0" rIns="0">
            <a:spAutoFit/>
          </a:bodyPr>
          <a:lstStyle/>
          <a:p>
            <a:pPr algn="l">
              <a:lnSpc>
                <a:spcPts val="3496"/>
              </a:lnSpc>
            </a:pPr>
            <a:r>
              <a:rPr lang="en-US" b="true" sz="2497">
                <a:solidFill>
                  <a:srgbClr val="F7F9FC"/>
                </a:solidFill>
                <a:latin typeface="Open Sans Bold"/>
                <a:ea typeface="Open Sans Bold"/>
                <a:cs typeface="Open Sans Bold"/>
                <a:sym typeface="Open Sans Bold"/>
              </a:rPr>
              <a:t>Team Id :</a:t>
            </a:r>
            <a:r>
              <a:rPr lang="en-US" sz="2497">
                <a:solidFill>
                  <a:srgbClr val="F7F9FC"/>
                </a:solidFill>
                <a:latin typeface="Open Sans"/>
                <a:ea typeface="Open Sans"/>
                <a:cs typeface="Open Sans"/>
                <a:sym typeface="Open Sans"/>
              </a:rPr>
              <a:t>TRI26102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DAHXoLZZ8ME</dc:identifier>
  <dcterms:modified xsi:type="dcterms:W3CDTF">2011-08-01T06:04:30Z</dcterms:modified>
  <cp:revision>1</cp:revision>
  <dc:title>LOCUSAIaggregates localmarket signals—</dc:title>
</cp:coreProperties>
</file>