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Lst>
  <p:sldSz cx="18288000" cy="10287000"/>
  <p:notesSz cx="6858000" cy="9144000"/>
  <p:embeddedFontLst>
    <p:embeddedFont>
      <p:font typeface="Montserrat Bold" panose="020B0604020202020204" charset="0"/>
      <p:regular r:id="rId11"/>
    </p:embeddedFont>
    <p:embeddedFont>
      <p:font typeface="Open Sans" panose="020B0606030504020204" pitchFamily="34" charset="0"/>
      <p:regular r:id="rId12"/>
    </p:embeddedFont>
    <p:embeddedFont>
      <p:font typeface="Open Sans Bold" panose="020B0604020202020204" charset="0"/>
      <p:regular r:id="rId13"/>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varScale="1">
        <p:scale>
          <a:sx n="74" d="100"/>
          <a:sy n="74" d="100"/>
        </p:scale>
        <p:origin x="534" y="84"/>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3.fntdata"/><Relationship Id="rId18" Type="http://schemas.microsoft.com/office/2016/11/relationships/changesInfo" Target="changesInfos/changesInfo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font" Target="fonts/font2.fntdata"/><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font" Target="fonts/font1.fntdata"/><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akesh R" userId="ee7ba3e0fb41c43a" providerId="LiveId" clId="{1EF856EC-E8DC-4364-A0C6-D56E505EC913}"/>
    <pc:docChg chg="modSld">
      <pc:chgData name="Rakesh R" userId="ee7ba3e0fb41c43a" providerId="LiveId" clId="{1EF856EC-E8DC-4364-A0C6-D56E505EC913}" dt="2026-10-10T23:19:58.968" v="52" actId="20577"/>
      <pc:docMkLst>
        <pc:docMk/>
      </pc:docMkLst>
      <pc:sldChg chg="modSp mod">
        <pc:chgData name="Rakesh R" userId="ee7ba3e0fb41c43a" providerId="LiveId" clId="{1EF856EC-E8DC-4364-A0C6-D56E505EC913}" dt="2026-10-10T23:19:58.968" v="52" actId="20577"/>
        <pc:sldMkLst>
          <pc:docMk/>
          <pc:sldMk cId="0" sldId="262"/>
        </pc:sldMkLst>
        <pc:spChg chg="mod">
          <ac:chgData name="Rakesh R" userId="ee7ba3e0fb41c43a" providerId="LiveId" clId="{1EF856EC-E8DC-4364-A0C6-D56E505EC913}" dt="2026-10-10T23:19:36.369" v="0" actId="1076"/>
          <ac:spMkLst>
            <pc:docMk/>
            <pc:sldMk cId="0" sldId="262"/>
            <ac:spMk id="6" creationId="{00000000-0000-0000-0000-000000000000}"/>
          </ac:spMkLst>
        </pc:spChg>
        <pc:spChg chg="mod">
          <ac:chgData name="Rakesh R" userId="ee7ba3e0fb41c43a" providerId="LiveId" clId="{1EF856EC-E8DC-4364-A0C6-D56E505EC913}" dt="2026-10-10T23:19:58.968" v="52" actId="20577"/>
          <ac:spMkLst>
            <pc:docMk/>
            <pc:sldMk cId="0" sldId="262"/>
            <ac:spMk id="8" creationId="{00000000-0000-0000-0000-000000000000}"/>
          </ac:spMkLst>
        </pc:sp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10/11/2026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10/11/2026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10/11/2026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10/11/2026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10/11/2026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10/11/2026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10/11/2026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10/11/2026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10/11/2026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jpeg"/><Relationship Id="rId1" Type="http://schemas.openxmlformats.org/officeDocument/2006/relationships/slideLayout" Target="../slideLayouts/slideLayout7.xml"/><Relationship Id="rId5" Type="http://schemas.openxmlformats.org/officeDocument/2006/relationships/image" Target="../media/image4.svg"/><Relationship Id="rId4" Type="http://schemas.openxmlformats.org/officeDocument/2006/relationships/image" Target="../media/image3.jpeg"/></Relationships>
</file>

<file path=ppt/slides/_rels/slide2.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5.jpe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8.svg"/><Relationship Id="rId7" Type="http://schemas.openxmlformats.org/officeDocument/2006/relationships/image" Target="../media/image12.jpeg"/><Relationship Id="rId2" Type="http://schemas.openxmlformats.org/officeDocument/2006/relationships/image" Target="../media/image7.svg"/><Relationship Id="rId1" Type="http://schemas.openxmlformats.org/officeDocument/2006/relationships/slideLayout" Target="../slideLayouts/slideLayout7.xml"/><Relationship Id="rId6" Type="http://schemas.openxmlformats.org/officeDocument/2006/relationships/image" Target="../media/image11.jpeg"/><Relationship Id="rId5" Type="http://schemas.openxmlformats.org/officeDocument/2006/relationships/image" Target="../media/image10.svg"/><Relationship Id="rId4" Type="http://schemas.openxmlformats.org/officeDocument/2006/relationships/image" Target="../media/image9.svg"/></Relationships>
</file>

<file path=ppt/slides/_rels/slide4.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3.svg"/><Relationship Id="rId1" Type="http://schemas.openxmlformats.org/officeDocument/2006/relationships/slideLayout" Target="../slideLayouts/slideLayout7.xml"/><Relationship Id="rId6" Type="http://schemas.openxmlformats.org/officeDocument/2006/relationships/image" Target="../media/image16.jpeg"/><Relationship Id="rId5" Type="http://schemas.openxmlformats.org/officeDocument/2006/relationships/image" Target="../media/image5.jpeg"/><Relationship Id="rId4" Type="http://schemas.openxmlformats.org/officeDocument/2006/relationships/image" Target="../media/image15.jpeg"/></Relationships>
</file>

<file path=ppt/slides/_rels/slide5.xml.rels><?xml version="1.0" encoding="UTF-8" standalone="yes"?>
<Relationships xmlns="http://schemas.openxmlformats.org/package/2006/relationships"><Relationship Id="rId3" Type="http://schemas.openxmlformats.org/officeDocument/2006/relationships/image" Target="../media/image18.svg"/><Relationship Id="rId7" Type="http://schemas.openxmlformats.org/officeDocument/2006/relationships/image" Target="../media/image21.jpeg"/><Relationship Id="rId2" Type="http://schemas.openxmlformats.org/officeDocument/2006/relationships/image" Target="../media/image17.svg"/><Relationship Id="rId1" Type="http://schemas.openxmlformats.org/officeDocument/2006/relationships/slideLayout" Target="../slideLayouts/slideLayout7.xml"/><Relationship Id="rId6" Type="http://schemas.openxmlformats.org/officeDocument/2006/relationships/image" Target="../media/image2.jpeg"/><Relationship Id="rId5" Type="http://schemas.openxmlformats.org/officeDocument/2006/relationships/image" Target="../media/image20.svg"/><Relationship Id="rId4" Type="http://schemas.openxmlformats.org/officeDocument/2006/relationships/image" Target="../media/image19.svg"/></Relationships>
</file>

<file path=ppt/slides/_rels/slide6.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image" Target="../media/image5.jpe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5.jpeg"/><Relationship Id="rId1" Type="http://schemas.openxmlformats.org/officeDocument/2006/relationships/slideLayout" Target="../slideLayouts/slideLayout7.xml"/><Relationship Id="rId4" Type="http://schemas.openxmlformats.org/officeDocument/2006/relationships/image" Target="../media/image24.png"/></Relationships>
</file>

<file path=ppt/slides/_rels/slide8.xml.rels><?xml version="1.0" encoding="UTF-8" standalone="yes"?>
<Relationships xmlns="http://schemas.openxmlformats.org/package/2006/relationships"><Relationship Id="rId3" Type="http://schemas.openxmlformats.org/officeDocument/2006/relationships/image" Target="../media/image25.jpeg"/><Relationship Id="rId2" Type="http://schemas.openxmlformats.org/officeDocument/2006/relationships/image" Target="../media/image5.jpe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jpeg"/><Relationship Id="rId1" Type="http://schemas.openxmlformats.org/officeDocument/2006/relationships/slideLayout" Target="../slideLayouts/slideLayout7.xml"/><Relationship Id="rId5" Type="http://schemas.openxmlformats.org/officeDocument/2006/relationships/image" Target="../media/image4.svg"/><Relationship Id="rId4" Type="http://schemas.openxmlformats.org/officeDocument/2006/relationships/image" Target="../media/image3.jpe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72B4D"/>
        </a:solidFill>
        <a:effectLst/>
      </p:bgPr>
    </p:bg>
    <p:spTree>
      <p:nvGrpSpPr>
        <p:cNvPr id="1" name=""/>
        <p:cNvGrpSpPr/>
        <p:nvPr/>
      </p:nvGrpSpPr>
      <p:grpSpPr>
        <a:xfrm>
          <a:off x="0" y="0"/>
          <a:ext cx="0" cy="0"/>
          <a:chOff x="0" y="0"/>
          <a:chExt cx="0" cy="0"/>
        </a:xfrm>
      </p:grpSpPr>
      <p:grpSp>
        <p:nvGrpSpPr>
          <p:cNvPr id="2" name="Group 2"/>
          <p:cNvGrpSpPr/>
          <p:nvPr/>
        </p:nvGrpSpPr>
        <p:grpSpPr>
          <a:xfrm>
            <a:off x="0" y="3684146"/>
            <a:ext cx="13205698" cy="6602854"/>
            <a:chOff x="0" y="0"/>
            <a:chExt cx="17607598" cy="8803805"/>
          </a:xfrm>
        </p:grpSpPr>
        <p:sp>
          <p:nvSpPr>
            <p:cNvPr id="3" name="Freeform 3"/>
            <p:cNvSpPr/>
            <p:nvPr/>
          </p:nvSpPr>
          <p:spPr>
            <a:xfrm>
              <a:off x="0" y="0"/>
              <a:ext cx="17607535" cy="8803767"/>
            </a:xfrm>
            <a:custGeom>
              <a:avLst/>
              <a:gdLst/>
              <a:ahLst/>
              <a:cxnLst/>
              <a:rect l="l" t="t" r="r" b="b"/>
              <a:pathLst>
                <a:path w="17607535" h="8803767">
                  <a:moveTo>
                    <a:pt x="8795639" y="0"/>
                  </a:moveTo>
                  <a:cubicBezTo>
                    <a:pt x="4003929" y="4572"/>
                    <a:pt x="0" y="4011168"/>
                    <a:pt x="0" y="8803767"/>
                  </a:cubicBezTo>
                  <a:lnTo>
                    <a:pt x="4888357" y="8803767"/>
                  </a:lnTo>
                  <a:cubicBezTo>
                    <a:pt x="4888357" y="6671056"/>
                    <a:pt x="6671056" y="4888357"/>
                    <a:pt x="8803767" y="4888357"/>
                  </a:cubicBezTo>
                  <a:cubicBezTo>
                    <a:pt x="10936478" y="4888357"/>
                    <a:pt x="12719177" y="6671056"/>
                    <a:pt x="12719177" y="8803767"/>
                  </a:cubicBezTo>
                  <a:lnTo>
                    <a:pt x="17607535" y="8803767"/>
                  </a:lnTo>
                  <a:cubicBezTo>
                    <a:pt x="17607535" y="4011168"/>
                    <a:pt x="13603605" y="4572"/>
                    <a:pt x="8812022" y="0"/>
                  </a:cubicBezTo>
                  <a:close/>
                </a:path>
              </a:pathLst>
            </a:custGeom>
            <a:blipFill>
              <a:blip r:embed="rId2"/>
              <a:stretch>
                <a:fillRect/>
              </a:stretch>
            </a:blipFill>
          </p:spPr>
        </p:sp>
      </p:grpSp>
      <p:grpSp>
        <p:nvGrpSpPr>
          <p:cNvPr id="4" name="Group 4"/>
          <p:cNvGrpSpPr/>
          <p:nvPr/>
        </p:nvGrpSpPr>
        <p:grpSpPr>
          <a:xfrm>
            <a:off x="11045047" y="3684146"/>
            <a:ext cx="7242953" cy="6602063"/>
            <a:chOff x="0" y="0"/>
            <a:chExt cx="9657270" cy="8802751"/>
          </a:xfrm>
        </p:grpSpPr>
        <p:sp>
          <p:nvSpPr>
            <p:cNvPr id="5" name="Freeform 5"/>
            <p:cNvSpPr/>
            <p:nvPr/>
          </p:nvSpPr>
          <p:spPr>
            <a:xfrm>
              <a:off x="0" y="0"/>
              <a:ext cx="9657334" cy="8802751"/>
            </a:xfrm>
            <a:custGeom>
              <a:avLst/>
              <a:gdLst/>
              <a:ahLst/>
              <a:cxnLst/>
              <a:rect l="l" t="t" r="r" b="b"/>
              <a:pathLst>
                <a:path w="9657334" h="8802751">
                  <a:moveTo>
                    <a:pt x="4831207" y="0"/>
                  </a:moveTo>
                  <a:cubicBezTo>
                    <a:pt x="4278757" y="0"/>
                    <a:pt x="3714369" y="110490"/>
                    <a:pt x="3220847" y="278892"/>
                  </a:cubicBezTo>
                  <a:cubicBezTo>
                    <a:pt x="1360297" y="936498"/>
                    <a:pt x="26035" y="2715006"/>
                    <a:pt x="0" y="4738370"/>
                  </a:cubicBezTo>
                  <a:lnTo>
                    <a:pt x="0" y="8802751"/>
                  </a:lnTo>
                  <a:lnTo>
                    <a:pt x="9657334" y="8802751"/>
                  </a:lnTo>
                  <a:lnTo>
                    <a:pt x="9657334" y="4735195"/>
                  </a:lnTo>
                  <a:cubicBezTo>
                    <a:pt x="9631172" y="2725420"/>
                    <a:pt x="8276082" y="947039"/>
                    <a:pt x="6436487" y="273558"/>
                  </a:cubicBezTo>
                  <a:cubicBezTo>
                    <a:pt x="6426073" y="268351"/>
                    <a:pt x="6415659" y="268351"/>
                    <a:pt x="6405245" y="263017"/>
                  </a:cubicBezTo>
                  <a:cubicBezTo>
                    <a:pt x="5915279" y="94742"/>
                    <a:pt x="5383657" y="0"/>
                    <a:pt x="4831207" y="0"/>
                  </a:cubicBezTo>
                  <a:close/>
                </a:path>
              </a:pathLst>
            </a:custGeom>
            <a:blipFill>
              <a:blip r:embed="rId3"/>
              <a:stretch>
                <a:fillRect t="-11" r="-64"/>
              </a:stretch>
            </a:blipFill>
          </p:spPr>
        </p:sp>
      </p:grpSp>
      <p:grpSp>
        <p:nvGrpSpPr>
          <p:cNvPr id="6" name="Group 6"/>
          <p:cNvGrpSpPr/>
          <p:nvPr/>
        </p:nvGrpSpPr>
        <p:grpSpPr>
          <a:xfrm>
            <a:off x="1028700" y="1028700"/>
            <a:ext cx="684590" cy="684590"/>
            <a:chOff x="0" y="0"/>
            <a:chExt cx="912787" cy="912787"/>
          </a:xfrm>
        </p:grpSpPr>
        <p:sp>
          <p:nvSpPr>
            <p:cNvPr id="7" name="Freeform 7"/>
            <p:cNvSpPr/>
            <p:nvPr/>
          </p:nvSpPr>
          <p:spPr>
            <a:xfrm>
              <a:off x="0" y="0"/>
              <a:ext cx="912749" cy="912749"/>
            </a:xfrm>
            <a:custGeom>
              <a:avLst/>
              <a:gdLst/>
              <a:ahLst/>
              <a:cxnLst/>
              <a:rect l="l" t="t" r="r" b="b"/>
              <a:pathLst>
                <a:path w="912749" h="912749">
                  <a:moveTo>
                    <a:pt x="455803" y="0"/>
                  </a:moveTo>
                  <a:cubicBezTo>
                    <a:pt x="203962" y="381"/>
                    <a:pt x="0" y="204597"/>
                    <a:pt x="0" y="456438"/>
                  </a:cubicBezTo>
                  <a:cubicBezTo>
                    <a:pt x="0" y="708406"/>
                    <a:pt x="204343" y="912749"/>
                    <a:pt x="456438" y="912749"/>
                  </a:cubicBezTo>
                  <a:cubicBezTo>
                    <a:pt x="708533" y="912749"/>
                    <a:pt x="912622" y="708660"/>
                    <a:pt x="912749" y="456819"/>
                  </a:cubicBezTo>
                  <a:lnTo>
                    <a:pt x="912749" y="456311"/>
                  </a:lnTo>
                  <a:cubicBezTo>
                    <a:pt x="912749" y="204470"/>
                    <a:pt x="708660" y="381"/>
                    <a:pt x="456946" y="0"/>
                  </a:cubicBezTo>
                  <a:close/>
                </a:path>
              </a:pathLst>
            </a:custGeom>
            <a:blipFill>
              <a:blip r:embed="rId4"/>
              <a:stretch>
                <a:fillRect r="-4" b="-4"/>
              </a:stretch>
            </a:blipFill>
          </p:spPr>
        </p:sp>
      </p:grpSp>
      <p:sp>
        <p:nvSpPr>
          <p:cNvPr id="8" name="Freeform 8"/>
          <p:cNvSpPr/>
          <p:nvPr/>
        </p:nvSpPr>
        <p:spPr>
          <a:xfrm>
            <a:off x="4707226" y="1278922"/>
            <a:ext cx="12615577" cy="155572"/>
          </a:xfrm>
          <a:custGeom>
            <a:avLst/>
            <a:gdLst/>
            <a:ahLst/>
            <a:cxnLst/>
            <a:rect l="l" t="t" r="r" b="b"/>
            <a:pathLst>
              <a:path w="12615577" h="155572">
                <a:moveTo>
                  <a:pt x="0" y="0"/>
                </a:moveTo>
                <a:lnTo>
                  <a:pt x="12615577" y="0"/>
                </a:lnTo>
                <a:lnTo>
                  <a:pt x="12615577" y="155572"/>
                </a:lnTo>
                <a:lnTo>
                  <a:pt x="0" y="155572"/>
                </a:lnTo>
                <a:lnTo>
                  <a:pt x="0" y="0"/>
                </a:lnTo>
                <a:close/>
              </a:path>
            </a:pathLst>
          </a:custGeom>
          <a:blipFill>
            <a:blip>
              <a:extLst>
                <a:ext uri="{96DAC541-7B7A-43D3-8B79-37D633B846F1}">
                  <asvg:svgBlip xmlns:asvg="http://schemas.microsoft.com/office/drawing/2016/SVG/main" r:embed="rId5"/>
                </a:ext>
              </a:extLst>
            </a:blip>
            <a:stretch>
              <a:fillRect/>
            </a:stretch>
          </a:blipFill>
        </p:spPr>
      </p:sp>
      <p:sp>
        <p:nvSpPr>
          <p:cNvPr id="9" name="TextBox 9"/>
          <p:cNvSpPr txBox="1"/>
          <p:nvPr/>
        </p:nvSpPr>
        <p:spPr>
          <a:xfrm>
            <a:off x="1028700" y="1716348"/>
            <a:ext cx="5955621" cy="6519596"/>
          </a:xfrm>
          <a:prstGeom prst="rect">
            <a:avLst/>
          </a:prstGeom>
        </p:spPr>
        <p:txBody>
          <a:bodyPr lIns="0" tIns="0" rIns="0" bIns="0" rtlCol="0" anchor="t">
            <a:spAutoFit/>
          </a:bodyPr>
          <a:lstStyle/>
          <a:p>
            <a:pPr algn="l">
              <a:lnSpc>
                <a:spcPts val="27480"/>
              </a:lnSpc>
            </a:pPr>
            <a:r>
              <a:rPr lang="en-US" sz="10992" b="1">
                <a:solidFill>
                  <a:srgbClr val="F7F9FC"/>
                </a:solidFill>
                <a:latin typeface="Montserrat Bold"/>
                <a:ea typeface="Montserrat Bold"/>
                <a:cs typeface="Montserrat Bold"/>
                <a:sym typeface="Montserrat Bold"/>
              </a:rPr>
              <a:t>LOCUS</a:t>
            </a:r>
          </a:p>
          <a:p>
            <a:pPr algn="l">
              <a:lnSpc>
                <a:spcPts val="27480"/>
              </a:lnSpc>
            </a:pPr>
            <a:endParaRPr lang="en-US" sz="10992" b="1">
              <a:solidFill>
                <a:srgbClr val="F7F9FC"/>
              </a:solidFill>
              <a:latin typeface="Montserrat Bold"/>
              <a:ea typeface="Montserrat Bold"/>
              <a:cs typeface="Montserrat Bold"/>
              <a:sym typeface="Montserrat Bold"/>
            </a:endParaRPr>
          </a:p>
        </p:txBody>
      </p:sp>
      <p:sp>
        <p:nvSpPr>
          <p:cNvPr id="10" name="TextBox 10"/>
          <p:cNvSpPr txBox="1"/>
          <p:nvPr/>
        </p:nvSpPr>
        <p:spPr>
          <a:xfrm>
            <a:off x="2112769" y="1128084"/>
            <a:ext cx="1483385" cy="441074"/>
          </a:xfrm>
          <a:prstGeom prst="rect">
            <a:avLst/>
          </a:prstGeom>
        </p:spPr>
        <p:txBody>
          <a:bodyPr lIns="0" tIns="0" rIns="0" bIns="0" rtlCol="0" anchor="t">
            <a:spAutoFit/>
          </a:bodyPr>
          <a:lstStyle/>
          <a:p>
            <a:pPr algn="l">
              <a:lnSpc>
                <a:spcPts val="3496"/>
              </a:lnSpc>
            </a:pPr>
            <a:r>
              <a:rPr lang="en-US" sz="2497" b="1">
                <a:solidFill>
                  <a:srgbClr val="F7F9FC"/>
                </a:solidFill>
                <a:latin typeface="Open Sans Bold"/>
                <a:ea typeface="Open Sans Bold"/>
                <a:cs typeface="Open Sans Bold"/>
                <a:sym typeface="Open Sans Bold"/>
              </a:rPr>
              <a:t>LOCUS AI</a:t>
            </a:r>
          </a:p>
        </p:txBody>
      </p:sp>
      <p:sp>
        <p:nvSpPr>
          <p:cNvPr id="11" name="TextBox 11"/>
          <p:cNvSpPr txBox="1"/>
          <p:nvPr/>
        </p:nvSpPr>
        <p:spPr>
          <a:xfrm>
            <a:off x="12674975" y="6929971"/>
            <a:ext cx="2881055" cy="926363"/>
          </a:xfrm>
          <a:prstGeom prst="rect">
            <a:avLst/>
          </a:prstGeom>
        </p:spPr>
        <p:txBody>
          <a:bodyPr lIns="0" tIns="0" rIns="0" bIns="0" rtlCol="0" anchor="t">
            <a:spAutoFit/>
          </a:bodyPr>
          <a:lstStyle/>
          <a:p>
            <a:pPr algn="l">
              <a:lnSpc>
                <a:spcPts val="3496"/>
              </a:lnSpc>
            </a:pPr>
            <a:r>
              <a:rPr lang="en-US" sz="2497" b="1">
                <a:solidFill>
                  <a:srgbClr val="F7F9FC"/>
                </a:solidFill>
                <a:latin typeface="Open Sans Bold"/>
                <a:ea typeface="Open Sans Bold"/>
                <a:cs typeface="Open Sans Bold"/>
                <a:sym typeface="Open Sans Bold"/>
              </a:rPr>
              <a:t>Track:</a:t>
            </a:r>
          </a:p>
          <a:p>
            <a:pPr algn="l">
              <a:lnSpc>
                <a:spcPts val="3424"/>
              </a:lnSpc>
            </a:pPr>
            <a:r>
              <a:rPr lang="en-US" sz="2445">
                <a:solidFill>
                  <a:srgbClr val="F7F9FC"/>
                </a:solidFill>
                <a:latin typeface="Open Sans"/>
                <a:ea typeface="Open Sans"/>
                <a:cs typeface="Open Sans"/>
                <a:sym typeface="Open Sans"/>
              </a:rPr>
              <a:t>MACECO (Analytics)</a:t>
            </a:r>
          </a:p>
        </p:txBody>
      </p:sp>
      <p:sp>
        <p:nvSpPr>
          <p:cNvPr id="12" name="TextBox 12"/>
          <p:cNvSpPr txBox="1"/>
          <p:nvPr/>
        </p:nvSpPr>
        <p:spPr>
          <a:xfrm>
            <a:off x="12674975" y="8324860"/>
            <a:ext cx="1981190" cy="926363"/>
          </a:xfrm>
          <a:prstGeom prst="rect">
            <a:avLst/>
          </a:prstGeom>
        </p:spPr>
        <p:txBody>
          <a:bodyPr lIns="0" tIns="0" rIns="0" bIns="0" rtlCol="0" anchor="t">
            <a:spAutoFit/>
          </a:bodyPr>
          <a:lstStyle/>
          <a:p>
            <a:pPr algn="l">
              <a:lnSpc>
                <a:spcPts val="3496"/>
              </a:lnSpc>
            </a:pPr>
            <a:r>
              <a:rPr lang="en-US" sz="2497" b="1">
                <a:solidFill>
                  <a:srgbClr val="F7F9FC"/>
                </a:solidFill>
                <a:latin typeface="Open Sans Bold"/>
                <a:ea typeface="Open Sans Bold"/>
                <a:cs typeface="Open Sans Bold"/>
                <a:sym typeface="Open Sans Bold"/>
              </a:rPr>
              <a:t>TEAM:</a:t>
            </a:r>
          </a:p>
          <a:p>
            <a:pPr algn="l">
              <a:lnSpc>
                <a:spcPts val="3424"/>
              </a:lnSpc>
            </a:pPr>
            <a:r>
              <a:rPr lang="en-US" sz="2445">
                <a:solidFill>
                  <a:srgbClr val="F7F9FC"/>
                </a:solidFill>
                <a:latin typeface="Open Sans"/>
                <a:ea typeface="Open Sans"/>
                <a:cs typeface="Open Sans"/>
                <a:sym typeface="Open Sans"/>
              </a:rPr>
              <a:t>Not our team</a:t>
            </a:r>
          </a:p>
        </p:txBody>
      </p:sp>
      <p:sp>
        <p:nvSpPr>
          <p:cNvPr id="13" name="TextBox 13"/>
          <p:cNvSpPr txBox="1"/>
          <p:nvPr/>
        </p:nvSpPr>
        <p:spPr>
          <a:xfrm>
            <a:off x="6395676" y="1716348"/>
            <a:ext cx="5955621" cy="3033446"/>
          </a:xfrm>
          <a:prstGeom prst="rect">
            <a:avLst/>
          </a:prstGeom>
        </p:spPr>
        <p:txBody>
          <a:bodyPr lIns="0" tIns="0" rIns="0" bIns="0" rtlCol="0" anchor="t">
            <a:spAutoFit/>
          </a:bodyPr>
          <a:lstStyle/>
          <a:p>
            <a:pPr algn="l">
              <a:lnSpc>
                <a:spcPts val="27480"/>
              </a:lnSpc>
            </a:pPr>
            <a:r>
              <a:rPr lang="en-US" sz="10992" b="1">
                <a:solidFill>
                  <a:srgbClr val="F7F9FC"/>
                </a:solidFill>
                <a:latin typeface="Montserrat Bold"/>
                <a:ea typeface="Montserrat Bold"/>
                <a:cs typeface="Montserrat Bold"/>
                <a:sym typeface="Montserrat Bold"/>
              </a:rPr>
              <a:t>AI</a:t>
            </a:r>
          </a:p>
        </p:txBody>
      </p:sp>
      <p:sp>
        <p:nvSpPr>
          <p:cNvPr id="14" name="TextBox 14"/>
          <p:cNvSpPr txBox="1"/>
          <p:nvPr/>
        </p:nvSpPr>
        <p:spPr>
          <a:xfrm>
            <a:off x="1109956" y="4721219"/>
            <a:ext cx="6707615" cy="406445"/>
          </a:xfrm>
          <a:prstGeom prst="rect">
            <a:avLst/>
          </a:prstGeom>
        </p:spPr>
        <p:txBody>
          <a:bodyPr lIns="0" tIns="0" rIns="0" bIns="0" rtlCol="0" anchor="t">
            <a:spAutoFit/>
          </a:bodyPr>
          <a:lstStyle/>
          <a:p>
            <a:pPr algn="l">
              <a:lnSpc>
                <a:spcPts val="3322"/>
              </a:lnSpc>
              <a:spcBef>
                <a:spcPct val="0"/>
              </a:spcBef>
            </a:pPr>
            <a:r>
              <a:rPr lang="en-US" sz="2373">
                <a:solidFill>
                  <a:srgbClr val="F7F9FC"/>
                </a:solidFill>
                <a:latin typeface="Open Sans"/>
                <a:ea typeface="Open Sans"/>
                <a:cs typeface="Open Sans"/>
                <a:sym typeface="Open Sans"/>
              </a:rPr>
              <a:t>Know Where to Grow Before you spend</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172B4D"/>
        </a:solidFill>
        <a:effectLst/>
      </p:bgPr>
    </p:bg>
    <p:spTree>
      <p:nvGrpSpPr>
        <p:cNvPr id="1" name=""/>
        <p:cNvGrpSpPr/>
        <p:nvPr/>
      </p:nvGrpSpPr>
      <p:grpSpPr>
        <a:xfrm>
          <a:off x="0" y="0"/>
          <a:ext cx="0" cy="0"/>
          <a:chOff x="0" y="0"/>
          <a:chExt cx="0" cy="0"/>
        </a:xfrm>
      </p:grpSpPr>
      <p:grpSp>
        <p:nvGrpSpPr>
          <p:cNvPr id="2" name="Group 2"/>
          <p:cNvGrpSpPr/>
          <p:nvPr/>
        </p:nvGrpSpPr>
        <p:grpSpPr>
          <a:xfrm>
            <a:off x="9144000" y="5262667"/>
            <a:ext cx="9144000" cy="5024333"/>
            <a:chOff x="0" y="0"/>
            <a:chExt cx="12192000" cy="6699110"/>
          </a:xfrm>
        </p:grpSpPr>
        <p:sp>
          <p:nvSpPr>
            <p:cNvPr id="3" name="Freeform 3"/>
            <p:cNvSpPr/>
            <p:nvPr/>
          </p:nvSpPr>
          <p:spPr>
            <a:xfrm>
              <a:off x="0" y="0"/>
              <a:ext cx="12192000" cy="6699123"/>
            </a:xfrm>
            <a:custGeom>
              <a:avLst/>
              <a:gdLst/>
              <a:ahLst/>
              <a:cxnLst/>
              <a:rect l="l" t="t" r="r" b="b"/>
              <a:pathLst>
                <a:path w="12192000" h="6699123">
                  <a:moveTo>
                    <a:pt x="6699123" y="0"/>
                  </a:moveTo>
                  <a:cubicBezTo>
                    <a:pt x="3050159" y="0"/>
                    <a:pt x="0" y="3050159"/>
                    <a:pt x="0" y="6699123"/>
                  </a:cubicBezTo>
                  <a:lnTo>
                    <a:pt x="3719703" y="6699123"/>
                  </a:lnTo>
                  <a:cubicBezTo>
                    <a:pt x="3719703" y="5076317"/>
                    <a:pt x="5076190" y="3719830"/>
                    <a:pt x="6698997" y="3719830"/>
                  </a:cubicBezTo>
                  <a:cubicBezTo>
                    <a:pt x="8321802" y="3719830"/>
                    <a:pt x="9678416" y="5076317"/>
                    <a:pt x="9678416" y="6699123"/>
                  </a:cubicBezTo>
                  <a:lnTo>
                    <a:pt x="12192000" y="6699123"/>
                  </a:lnTo>
                  <a:lnTo>
                    <a:pt x="12192000" y="2905379"/>
                  </a:lnTo>
                  <a:cubicBezTo>
                    <a:pt x="10972165" y="1160145"/>
                    <a:pt x="8949436" y="0"/>
                    <a:pt x="6699123" y="0"/>
                  </a:cubicBezTo>
                  <a:close/>
                </a:path>
              </a:pathLst>
            </a:custGeom>
            <a:blipFill>
              <a:blip r:embed="rId2"/>
              <a:stretch>
                <a:fillRect r="-9893"/>
              </a:stretch>
            </a:blipFill>
          </p:spPr>
        </p:sp>
      </p:grpSp>
      <p:grpSp>
        <p:nvGrpSpPr>
          <p:cNvPr id="4" name="Group 4"/>
          <p:cNvGrpSpPr/>
          <p:nvPr/>
        </p:nvGrpSpPr>
        <p:grpSpPr>
          <a:xfrm>
            <a:off x="8921972" y="1028700"/>
            <a:ext cx="8337328" cy="8147437"/>
            <a:chOff x="0" y="0"/>
            <a:chExt cx="11116437" cy="10863250"/>
          </a:xfrm>
        </p:grpSpPr>
        <p:sp>
          <p:nvSpPr>
            <p:cNvPr id="5" name="Freeform 5"/>
            <p:cNvSpPr/>
            <p:nvPr/>
          </p:nvSpPr>
          <p:spPr>
            <a:xfrm>
              <a:off x="0" y="0"/>
              <a:ext cx="11116437" cy="10863199"/>
            </a:xfrm>
            <a:custGeom>
              <a:avLst/>
              <a:gdLst/>
              <a:ahLst/>
              <a:cxnLst/>
              <a:rect l="l" t="t" r="r" b="b"/>
              <a:pathLst>
                <a:path w="11116437" h="10863199">
                  <a:moveTo>
                    <a:pt x="381000" y="0"/>
                  </a:moveTo>
                  <a:cubicBezTo>
                    <a:pt x="170561" y="0"/>
                    <a:pt x="0" y="170561"/>
                    <a:pt x="0" y="381000"/>
                  </a:cubicBezTo>
                  <a:lnTo>
                    <a:pt x="0" y="10482199"/>
                  </a:lnTo>
                  <a:cubicBezTo>
                    <a:pt x="0" y="10692638"/>
                    <a:pt x="170561" y="10863199"/>
                    <a:pt x="381000" y="10863199"/>
                  </a:cubicBezTo>
                  <a:lnTo>
                    <a:pt x="10735437" y="10863199"/>
                  </a:lnTo>
                  <a:cubicBezTo>
                    <a:pt x="10945876" y="10863199"/>
                    <a:pt x="11116437" y="10692638"/>
                    <a:pt x="11116437" y="10482199"/>
                  </a:cubicBezTo>
                  <a:lnTo>
                    <a:pt x="11116437" y="381000"/>
                  </a:lnTo>
                  <a:cubicBezTo>
                    <a:pt x="11116437" y="170561"/>
                    <a:pt x="10945876" y="0"/>
                    <a:pt x="10735437" y="0"/>
                  </a:cubicBezTo>
                  <a:close/>
                </a:path>
              </a:pathLst>
            </a:custGeom>
            <a:blipFill>
              <a:blip r:embed="rId3"/>
              <a:stretch>
                <a:fillRect t="-333" r="-12" b="-447"/>
              </a:stretch>
            </a:blipFill>
          </p:spPr>
        </p:sp>
      </p:grpSp>
      <p:sp>
        <p:nvSpPr>
          <p:cNvPr id="6" name="TextBox 6"/>
          <p:cNvSpPr txBox="1"/>
          <p:nvPr/>
        </p:nvSpPr>
        <p:spPr>
          <a:xfrm>
            <a:off x="1028700" y="1383799"/>
            <a:ext cx="6940108" cy="7551844"/>
          </a:xfrm>
          <a:prstGeom prst="rect">
            <a:avLst/>
          </a:prstGeom>
        </p:spPr>
        <p:txBody>
          <a:bodyPr lIns="0" tIns="0" rIns="0" bIns="0" rtlCol="0" anchor="t">
            <a:spAutoFit/>
          </a:bodyPr>
          <a:lstStyle/>
          <a:p>
            <a:pPr algn="just">
              <a:lnSpc>
                <a:spcPts val="11060"/>
              </a:lnSpc>
            </a:pPr>
            <a:r>
              <a:rPr lang="en-US" sz="7962" b="1">
                <a:solidFill>
                  <a:srgbClr val="F7F9FC"/>
                </a:solidFill>
                <a:latin typeface="Montserrat Bold"/>
                <a:ea typeface="Montserrat Bold"/>
                <a:cs typeface="Montserrat Bold"/>
                <a:sym typeface="Montserrat Bold"/>
              </a:rPr>
              <a:t>Real</a:t>
            </a:r>
          </a:p>
          <a:p>
            <a:pPr algn="just">
              <a:lnSpc>
                <a:spcPts val="11060"/>
              </a:lnSpc>
            </a:pPr>
            <a:r>
              <a:rPr lang="en-US" sz="7962" b="1">
                <a:solidFill>
                  <a:srgbClr val="F7F9FC"/>
                </a:solidFill>
                <a:latin typeface="Montserrat Bold"/>
                <a:ea typeface="Montserrat Bold"/>
                <a:cs typeface="Montserrat Bold"/>
                <a:sym typeface="Montserrat Bold"/>
              </a:rPr>
              <a:t>Case</a:t>
            </a:r>
          </a:p>
          <a:p>
            <a:pPr algn="just">
              <a:lnSpc>
                <a:spcPts val="3727"/>
              </a:lnSpc>
            </a:pPr>
            <a:r>
              <a:rPr lang="en-US" sz="2683">
                <a:solidFill>
                  <a:srgbClr val="F7F9FC"/>
                </a:solidFill>
                <a:latin typeface="Open Sans"/>
                <a:ea typeface="Open Sans"/>
                <a:cs typeface="Open Sans"/>
                <a:sym typeface="Open Sans"/>
              </a:rPr>
              <a:t>A street entrepreneur in Hyderabad wants to open a tea and snacks stall near a college campus with a budget of ₹30,000. By dropping a pin on the map, LOCUS AI instantly scans nearby competitors, foot traffic patterns, and student density across 0–300 m, 300 m–2 km, and 2–5 km bands — revealing whether the location is worth the investment before a single rupee is spent.</a:t>
            </a:r>
          </a:p>
        </p:txBody>
      </p:sp>
      <p:sp>
        <p:nvSpPr>
          <p:cNvPr id="7" name="TextBox 7"/>
          <p:cNvSpPr txBox="1"/>
          <p:nvPr/>
        </p:nvSpPr>
        <p:spPr>
          <a:xfrm>
            <a:off x="3167460" y="1383799"/>
            <a:ext cx="2588086" cy="1339919"/>
          </a:xfrm>
          <a:prstGeom prst="rect">
            <a:avLst/>
          </a:prstGeom>
        </p:spPr>
        <p:txBody>
          <a:bodyPr lIns="0" tIns="0" rIns="0" bIns="0" rtlCol="0" anchor="t">
            <a:spAutoFit/>
          </a:bodyPr>
          <a:lstStyle/>
          <a:p>
            <a:pPr algn="ctr">
              <a:lnSpc>
                <a:spcPts val="11062"/>
              </a:lnSpc>
              <a:spcBef>
                <a:spcPct val="0"/>
              </a:spcBef>
            </a:pPr>
            <a:r>
              <a:rPr lang="en-US" sz="7901" b="1">
                <a:solidFill>
                  <a:srgbClr val="F7F9FC"/>
                </a:solidFill>
                <a:latin typeface="Open Sans Bold"/>
                <a:ea typeface="Open Sans Bold"/>
                <a:cs typeface="Open Sans Bold"/>
                <a:sym typeface="Open Sans Bold"/>
              </a:rPr>
              <a:t>Use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172B4D"/>
        </a:solidFill>
        <a:effectLst/>
      </p:bgPr>
    </p:bg>
    <p:spTree>
      <p:nvGrpSpPr>
        <p:cNvPr id="1" name=""/>
        <p:cNvGrpSpPr/>
        <p:nvPr/>
      </p:nvGrpSpPr>
      <p:grpSpPr>
        <a:xfrm>
          <a:off x="0" y="0"/>
          <a:ext cx="0" cy="0"/>
          <a:chOff x="0" y="0"/>
          <a:chExt cx="0" cy="0"/>
        </a:xfrm>
      </p:grpSpPr>
      <p:sp>
        <p:nvSpPr>
          <p:cNvPr id="2" name="Freeform 2"/>
          <p:cNvSpPr/>
          <p:nvPr/>
        </p:nvSpPr>
        <p:spPr>
          <a:xfrm>
            <a:off x="1028700" y="6687217"/>
            <a:ext cx="5212956" cy="2304860"/>
          </a:xfrm>
          <a:custGeom>
            <a:avLst/>
            <a:gdLst/>
            <a:ahLst/>
            <a:cxnLst/>
            <a:rect l="l" t="t" r="r" b="b"/>
            <a:pathLst>
              <a:path w="5212956" h="2304860">
                <a:moveTo>
                  <a:pt x="0" y="0"/>
                </a:moveTo>
                <a:lnTo>
                  <a:pt x="5212956" y="0"/>
                </a:lnTo>
                <a:lnTo>
                  <a:pt x="5212956" y="2304859"/>
                </a:lnTo>
                <a:lnTo>
                  <a:pt x="0" y="2304859"/>
                </a:lnTo>
                <a:lnTo>
                  <a:pt x="0" y="0"/>
                </a:lnTo>
                <a:close/>
              </a:path>
            </a:pathLst>
          </a:custGeom>
          <a:blipFill>
            <a:blip>
              <a:extLst>
                <a:ext uri="{96DAC541-7B7A-43D3-8B79-37D633B846F1}">
                  <asvg:svgBlip xmlns:asvg="http://schemas.microsoft.com/office/drawing/2016/SVG/main" r:embed="rId2"/>
                </a:ext>
              </a:extLst>
            </a:blip>
            <a:stretch>
              <a:fillRect/>
            </a:stretch>
          </a:blipFill>
        </p:spPr>
      </p:sp>
      <p:sp>
        <p:nvSpPr>
          <p:cNvPr id="3" name="Freeform 3"/>
          <p:cNvSpPr/>
          <p:nvPr/>
        </p:nvSpPr>
        <p:spPr>
          <a:xfrm>
            <a:off x="1028700" y="3918937"/>
            <a:ext cx="5209365" cy="2339645"/>
          </a:xfrm>
          <a:custGeom>
            <a:avLst/>
            <a:gdLst/>
            <a:ahLst/>
            <a:cxnLst/>
            <a:rect l="l" t="t" r="r" b="b"/>
            <a:pathLst>
              <a:path w="5209365" h="2339645">
                <a:moveTo>
                  <a:pt x="0" y="0"/>
                </a:moveTo>
                <a:lnTo>
                  <a:pt x="5209365" y="0"/>
                </a:lnTo>
                <a:lnTo>
                  <a:pt x="5209365" y="2339645"/>
                </a:lnTo>
                <a:lnTo>
                  <a:pt x="0" y="2339645"/>
                </a:lnTo>
                <a:lnTo>
                  <a:pt x="0" y="0"/>
                </a:lnTo>
                <a:close/>
              </a:path>
            </a:pathLst>
          </a:custGeom>
          <a:blipFill>
            <a:blip>
              <a:extLst>
                <a:ext uri="{96DAC541-7B7A-43D3-8B79-37D633B846F1}">
                  <asvg:svgBlip xmlns:asvg="http://schemas.microsoft.com/office/drawing/2016/SVG/main" r:embed="rId3"/>
                </a:ext>
              </a:extLst>
            </a:blip>
            <a:stretch>
              <a:fillRect/>
            </a:stretch>
          </a:blipFill>
        </p:spPr>
      </p:sp>
      <p:sp>
        <p:nvSpPr>
          <p:cNvPr id="4" name="Freeform 4"/>
          <p:cNvSpPr/>
          <p:nvPr/>
        </p:nvSpPr>
        <p:spPr>
          <a:xfrm>
            <a:off x="6461065" y="6687217"/>
            <a:ext cx="5212956" cy="2304860"/>
          </a:xfrm>
          <a:custGeom>
            <a:avLst/>
            <a:gdLst/>
            <a:ahLst/>
            <a:cxnLst/>
            <a:rect l="l" t="t" r="r" b="b"/>
            <a:pathLst>
              <a:path w="5212956" h="2304860">
                <a:moveTo>
                  <a:pt x="0" y="0"/>
                </a:moveTo>
                <a:lnTo>
                  <a:pt x="5212956" y="0"/>
                </a:lnTo>
                <a:lnTo>
                  <a:pt x="5212956" y="2304859"/>
                </a:lnTo>
                <a:lnTo>
                  <a:pt x="0" y="2304859"/>
                </a:lnTo>
                <a:lnTo>
                  <a:pt x="0" y="0"/>
                </a:lnTo>
                <a:close/>
              </a:path>
            </a:pathLst>
          </a:custGeom>
          <a:blipFill>
            <a:blip>
              <a:extLst>
                <a:ext uri="{96DAC541-7B7A-43D3-8B79-37D633B846F1}">
                  <asvg:svgBlip xmlns:asvg="http://schemas.microsoft.com/office/drawing/2016/SVG/main" r:embed="rId4"/>
                </a:ext>
              </a:extLst>
            </a:blip>
            <a:stretch>
              <a:fillRect/>
            </a:stretch>
          </a:blipFill>
        </p:spPr>
      </p:sp>
      <p:sp>
        <p:nvSpPr>
          <p:cNvPr id="5" name="Freeform 5"/>
          <p:cNvSpPr/>
          <p:nvPr/>
        </p:nvSpPr>
        <p:spPr>
          <a:xfrm>
            <a:off x="6461065" y="3918937"/>
            <a:ext cx="5209365" cy="2339645"/>
          </a:xfrm>
          <a:custGeom>
            <a:avLst/>
            <a:gdLst/>
            <a:ahLst/>
            <a:cxnLst/>
            <a:rect l="l" t="t" r="r" b="b"/>
            <a:pathLst>
              <a:path w="5209365" h="2339645">
                <a:moveTo>
                  <a:pt x="0" y="0"/>
                </a:moveTo>
                <a:lnTo>
                  <a:pt x="5209365" y="0"/>
                </a:lnTo>
                <a:lnTo>
                  <a:pt x="5209365" y="2339645"/>
                </a:lnTo>
                <a:lnTo>
                  <a:pt x="0" y="2339645"/>
                </a:lnTo>
                <a:lnTo>
                  <a:pt x="0" y="0"/>
                </a:lnTo>
                <a:close/>
              </a:path>
            </a:pathLst>
          </a:custGeom>
          <a:blipFill>
            <a:blip>
              <a:extLst>
                <a:ext uri="{96DAC541-7B7A-43D3-8B79-37D633B846F1}">
                  <asvg:svgBlip xmlns:asvg="http://schemas.microsoft.com/office/drawing/2016/SVG/main" r:embed="rId5"/>
                </a:ext>
              </a:extLst>
            </a:blip>
            <a:stretch>
              <a:fillRect/>
            </a:stretch>
          </a:blipFill>
        </p:spPr>
      </p:sp>
      <p:grpSp>
        <p:nvGrpSpPr>
          <p:cNvPr id="6" name="Group 6"/>
          <p:cNvGrpSpPr/>
          <p:nvPr/>
        </p:nvGrpSpPr>
        <p:grpSpPr>
          <a:xfrm>
            <a:off x="11893610" y="0"/>
            <a:ext cx="3867150" cy="10287000"/>
            <a:chOff x="0" y="0"/>
            <a:chExt cx="5156200" cy="13716000"/>
          </a:xfrm>
        </p:grpSpPr>
        <p:sp>
          <p:nvSpPr>
            <p:cNvPr id="7" name="Freeform 7"/>
            <p:cNvSpPr/>
            <p:nvPr/>
          </p:nvSpPr>
          <p:spPr>
            <a:xfrm>
              <a:off x="0" y="0"/>
              <a:ext cx="5156200" cy="13716000"/>
            </a:xfrm>
            <a:custGeom>
              <a:avLst/>
              <a:gdLst/>
              <a:ahLst/>
              <a:cxnLst/>
              <a:rect l="l" t="t" r="r" b="b"/>
              <a:pathLst>
                <a:path w="5156200" h="13716000">
                  <a:moveTo>
                    <a:pt x="254000" y="0"/>
                  </a:moveTo>
                  <a:cubicBezTo>
                    <a:pt x="113665" y="0"/>
                    <a:pt x="0" y="113665"/>
                    <a:pt x="0" y="254000"/>
                  </a:cubicBezTo>
                  <a:lnTo>
                    <a:pt x="0" y="13462000"/>
                  </a:lnTo>
                  <a:cubicBezTo>
                    <a:pt x="0" y="13602208"/>
                    <a:pt x="113538" y="13715873"/>
                    <a:pt x="253746" y="13716000"/>
                  </a:cubicBezTo>
                  <a:lnTo>
                    <a:pt x="4902835" y="13716000"/>
                  </a:lnTo>
                  <a:cubicBezTo>
                    <a:pt x="5038471" y="13715873"/>
                    <a:pt x="5149215" y="13609447"/>
                    <a:pt x="5156200" y="13475588"/>
                  </a:cubicBezTo>
                  <a:lnTo>
                    <a:pt x="5156200" y="240411"/>
                  </a:lnTo>
                  <a:cubicBezTo>
                    <a:pt x="5149088" y="106426"/>
                    <a:pt x="5038217" y="0"/>
                    <a:pt x="4902581" y="0"/>
                  </a:cubicBezTo>
                  <a:close/>
                </a:path>
              </a:pathLst>
            </a:custGeom>
            <a:blipFill>
              <a:blip r:embed="rId6"/>
              <a:stretch>
                <a:fillRect l="-3032" r="-3125"/>
              </a:stretch>
            </a:blipFill>
          </p:spPr>
        </p:sp>
      </p:grpSp>
      <p:grpSp>
        <p:nvGrpSpPr>
          <p:cNvPr id="8" name="Group 8"/>
          <p:cNvGrpSpPr/>
          <p:nvPr/>
        </p:nvGrpSpPr>
        <p:grpSpPr>
          <a:xfrm>
            <a:off x="14514176" y="3570141"/>
            <a:ext cx="3773824" cy="6715125"/>
            <a:chOff x="0" y="0"/>
            <a:chExt cx="5031765" cy="8953500"/>
          </a:xfrm>
        </p:grpSpPr>
        <p:sp>
          <p:nvSpPr>
            <p:cNvPr id="9" name="Freeform 9"/>
            <p:cNvSpPr/>
            <p:nvPr/>
          </p:nvSpPr>
          <p:spPr>
            <a:xfrm>
              <a:off x="0" y="0"/>
              <a:ext cx="5031740" cy="8953500"/>
            </a:xfrm>
            <a:custGeom>
              <a:avLst/>
              <a:gdLst/>
              <a:ahLst/>
              <a:cxnLst/>
              <a:rect l="l" t="t" r="r" b="b"/>
              <a:pathLst>
                <a:path w="5031740" h="8953500">
                  <a:moveTo>
                    <a:pt x="254000" y="0"/>
                  </a:moveTo>
                  <a:cubicBezTo>
                    <a:pt x="113665" y="0"/>
                    <a:pt x="0" y="113665"/>
                    <a:pt x="0" y="254000"/>
                  </a:cubicBezTo>
                  <a:lnTo>
                    <a:pt x="0" y="8701786"/>
                  </a:lnTo>
                  <a:cubicBezTo>
                    <a:pt x="0" y="8830437"/>
                    <a:pt x="95631" y="8936736"/>
                    <a:pt x="219583" y="8953500"/>
                  </a:cubicBezTo>
                  <a:lnTo>
                    <a:pt x="5031740" y="8953500"/>
                  </a:lnTo>
                  <a:lnTo>
                    <a:pt x="5031740" y="0"/>
                  </a:lnTo>
                  <a:close/>
                </a:path>
              </a:pathLst>
            </a:custGeom>
            <a:blipFill>
              <a:blip r:embed="rId7"/>
              <a:stretch>
                <a:fillRect l="-3533" r="-8278"/>
              </a:stretch>
            </a:blipFill>
          </p:spPr>
        </p:sp>
      </p:grpSp>
      <p:grpSp>
        <p:nvGrpSpPr>
          <p:cNvPr id="10" name="Group 10"/>
          <p:cNvGrpSpPr/>
          <p:nvPr/>
        </p:nvGrpSpPr>
        <p:grpSpPr>
          <a:xfrm>
            <a:off x="1028700" y="3918937"/>
            <a:ext cx="5213480" cy="2339645"/>
            <a:chOff x="0" y="0"/>
            <a:chExt cx="5213477" cy="2339645"/>
          </a:xfrm>
        </p:grpSpPr>
        <p:sp>
          <p:nvSpPr>
            <p:cNvPr id="11" name="Freeform 11"/>
            <p:cNvSpPr/>
            <p:nvPr/>
          </p:nvSpPr>
          <p:spPr>
            <a:xfrm>
              <a:off x="0" y="0"/>
              <a:ext cx="5213478" cy="2339593"/>
            </a:xfrm>
            <a:custGeom>
              <a:avLst/>
              <a:gdLst/>
              <a:ahLst/>
              <a:cxnLst/>
              <a:rect l="l" t="t" r="r" b="b"/>
              <a:pathLst>
                <a:path w="5213478" h="2339593">
                  <a:moveTo>
                    <a:pt x="0" y="2339593"/>
                  </a:moveTo>
                  <a:lnTo>
                    <a:pt x="5213478" y="2339593"/>
                  </a:lnTo>
                  <a:lnTo>
                    <a:pt x="5213478" y="0"/>
                  </a:lnTo>
                  <a:lnTo>
                    <a:pt x="0" y="0"/>
                  </a:lnTo>
                  <a:close/>
                </a:path>
              </a:pathLst>
            </a:custGeom>
            <a:solidFill>
              <a:srgbClr val="000000">
                <a:alpha val="0"/>
              </a:srgbClr>
            </a:solidFill>
          </p:spPr>
        </p:sp>
      </p:grpSp>
      <p:grpSp>
        <p:nvGrpSpPr>
          <p:cNvPr id="12" name="Group 12"/>
          <p:cNvGrpSpPr/>
          <p:nvPr/>
        </p:nvGrpSpPr>
        <p:grpSpPr>
          <a:xfrm>
            <a:off x="1028700" y="6687217"/>
            <a:ext cx="5213480" cy="2304860"/>
            <a:chOff x="0" y="0"/>
            <a:chExt cx="5213477" cy="2304860"/>
          </a:xfrm>
        </p:grpSpPr>
        <p:sp>
          <p:nvSpPr>
            <p:cNvPr id="13" name="Freeform 13"/>
            <p:cNvSpPr/>
            <p:nvPr/>
          </p:nvSpPr>
          <p:spPr>
            <a:xfrm>
              <a:off x="0" y="0"/>
              <a:ext cx="5213478" cy="2304919"/>
            </a:xfrm>
            <a:custGeom>
              <a:avLst/>
              <a:gdLst/>
              <a:ahLst/>
              <a:cxnLst/>
              <a:rect l="l" t="t" r="r" b="b"/>
              <a:pathLst>
                <a:path w="5213478" h="2304919">
                  <a:moveTo>
                    <a:pt x="0" y="2304919"/>
                  </a:moveTo>
                  <a:lnTo>
                    <a:pt x="5213478" y="2304919"/>
                  </a:lnTo>
                  <a:lnTo>
                    <a:pt x="5213478" y="0"/>
                  </a:lnTo>
                  <a:lnTo>
                    <a:pt x="0" y="0"/>
                  </a:lnTo>
                  <a:close/>
                </a:path>
              </a:pathLst>
            </a:custGeom>
            <a:solidFill>
              <a:srgbClr val="000000">
                <a:alpha val="0"/>
              </a:srgbClr>
            </a:solidFill>
          </p:spPr>
        </p:sp>
      </p:grpSp>
      <p:grpSp>
        <p:nvGrpSpPr>
          <p:cNvPr id="14" name="Group 14"/>
          <p:cNvGrpSpPr/>
          <p:nvPr/>
        </p:nvGrpSpPr>
        <p:grpSpPr>
          <a:xfrm>
            <a:off x="6461065" y="3918937"/>
            <a:ext cx="5213480" cy="2339645"/>
            <a:chOff x="0" y="0"/>
            <a:chExt cx="5213477" cy="2339645"/>
          </a:xfrm>
        </p:grpSpPr>
        <p:sp>
          <p:nvSpPr>
            <p:cNvPr id="15" name="Freeform 15"/>
            <p:cNvSpPr/>
            <p:nvPr/>
          </p:nvSpPr>
          <p:spPr>
            <a:xfrm>
              <a:off x="0" y="0"/>
              <a:ext cx="5213478" cy="2339593"/>
            </a:xfrm>
            <a:custGeom>
              <a:avLst/>
              <a:gdLst/>
              <a:ahLst/>
              <a:cxnLst/>
              <a:rect l="l" t="t" r="r" b="b"/>
              <a:pathLst>
                <a:path w="5213478" h="2339593">
                  <a:moveTo>
                    <a:pt x="0" y="2339593"/>
                  </a:moveTo>
                  <a:lnTo>
                    <a:pt x="5213478" y="2339593"/>
                  </a:lnTo>
                  <a:lnTo>
                    <a:pt x="5213478" y="0"/>
                  </a:lnTo>
                  <a:lnTo>
                    <a:pt x="0" y="0"/>
                  </a:lnTo>
                  <a:close/>
                </a:path>
              </a:pathLst>
            </a:custGeom>
            <a:solidFill>
              <a:srgbClr val="000000">
                <a:alpha val="0"/>
              </a:srgbClr>
            </a:solidFill>
          </p:spPr>
        </p:sp>
      </p:grpSp>
      <p:grpSp>
        <p:nvGrpSpPr>
          <p:cNvPr id="16" name="Group 16"/>
          <p:cNvGrpSpPr/>
          <p:nvPr/>
        </p:nvGrpSpPr>
        <p:grpSpPr>
          <a:xfrm>
            <a:off x="6461065" y="6687217"/>
            <a:ext cx="5213480" cy="2304860"/>
            <a:chOff x="0" y="0"/>
            <a:chExt cx="5213477" cy="2304860"/>
          </a:xfrm>
        </p:grpSpPr>
        <p:sp>
          <p:nvSpPr>
            <p:cNvPr id="17" name="Freeform 17"/>
            <p:cNvSpPr/>
            <p:nvPr/>
          </p:nvSpPr>
          <p:spPr>
            <a:xfrm>
              <a:off x="0" y="0"/>
              <a:ext cx="5213478" cy="2304919"/>
            </a:xfrm>
            <a:custGeom>
              <a:avLst/>
              <a:gdLst/>
              <a:ahLst/>
              <a:cxnLst/>
              <a:rect l="l" t="t" r="r" b="b"/>
              <a:pathLst>
                <a:path w="5213478" h="2304919">
                  <a:moveTo>
                    <a:pt x="0" y="2304919"/>
                  </a:moveTo>
                  <a:lnTo>
                    <a:pt x="5213478" y="2304919"/>
                  </a:lnTo>
                  <a:lnTo>
                    <a:pt x="5213478" y="0"/>
                  </a:lnTo>
                  <a:lnTo>
                    <a:pt x="0" y="0"/>
                  </a:lnTo>
                  <a:close/>
                </a:path>
              </a:pathLst>
            </a:custGeom>
            <a:solidFill>
              <a:srgbClr val="000000">
                <a:alpha val="0"/>
              </a:srgbClr>
            </a:solidFill>
          </p:spPr>
        </p:sp>
      </p:grpSp>
      <p:sp>
        <p:nvSpPr>
          <p:cNvPr id="18" name="TextBox 18"/>
          <p:cNvSpPr txBox="1"/>
          <p:nvPr/>
        </p:nvSpPr>
        <p:spPr>
          <a:xfrm>
            <a:off x="1028700" y="1207494"/>
            <a:ext cx="6884451" cy="2194922"/>
          </a:xfrm>
          <a:prstGeom prst="rect">
            <a:avLst/>
          </a:prstGeom>
        </p:spPr>
        <p:txBody>
          <a:bodyPr lIns="0" tIns="0" rIns="0" bIns="0" rtlCol="0" anchor="t">
            <a:spAutoFit/>
          </a:bodyPr>
          <a:lstStyle/>
          <a:p>
            <a:pPr algn="l">
              <a:lnSpc>
                <a:spcPts val="8400"/>
              </a:lnSpc>
            </a:pPr>
            <a:r>
              <a:rPr lang="en-US" sz="8493" b="1">
                <a:solidFill>
                  <a:srgbClr val="F7F9FC"/>
                </a:solidFill>
                <a:latin typeface="Montserrat Bold"/>
                <a:ea typeface="Montserrat Bold"/>
                <a:cs typeface="Montserrat Bold"/>
                <a:sym typeface="Montserrat Bold"/>
              </a:rPr>
              <a:t>How LOCUS AI Works</a:t>
            </a:r>
          </a:p>
        </p:txBody>
      </p:sp>
      <p:sp>
        <p:nvSpPr>
          <p:cNvPr id="19" name="TextBox 19"/>
          <p:cNvSpPr txBox="1"/>
          <p:nvPr/>
        </p:nvSpPr>
        <p:spPr>
          <a:xfrm>
            <a:off x="2996308" y="4408894"/>
            <a:ext cx="66399" cy="348958"/>
          </a:xfrm>
          <a:prstGeom prst="rect">
            <a:avLst/>
          </a:prstGeom>
        </p:spPr>
        <p:txBody>
          <a:bodyPr lIns="0" tIns="0" rIns="0" bIns="0" rtlCol="0" anchor="t">
            <a:spAutoFit/>
          </a:bodyPr>
          <a:lstStyle/>
          <a:p>
            <a:pPr algn="l">
              <a:lnSpc>
                <a:spcPts val="2762"/>
              </a:lnSpc>
            </a:pPr>
            <a:r>
              <a:rPr lang="en-US" sz="1973" b="1">
                <a:solidFill>
                  <a:srgbClr val="F7F9FC"/>
                </a:solidFill>
                <a:latin typeface="Open Sans Bold"/>
                <a:ea typeface="Open Sans Bold"/>
                <a:cs typeface="Open Sans Bold"/>
                <a:sym typeface="Open Sans Bold"/>
              </a:rPr>
              <a:t> </a:t>
            </a:r>
          </a:p>
        </p:txBody>
      </p:sp>
      <p:sp>
        <p:nvSpPr>
          <p:cNvPr id="20" name="TextBox 20"/>
          <p:cNvSpPr txBox="1"/>
          <p:nvPr/>
        </p:nvSpPr>
        <p:spPr>
          <a:xfrm>
            <a:off x="1421149" y="4418419"/>
            <a:ext cx="4139641" cy="1460459"/>
          </a:xfrm>
          <a:prstGeom prst="rect">
            <a:avLst/>
          </a:prstGeom>
        </p:spPr>
        <p:txBody>
          <a:bodyPr lIns="0" tIns="0" rIns="0" bIns="0" rtlCol="0" anchor="t">
            <a:spAutoFit/>
          </a:bodyPr>
          <a:lstStyle/>
          <a:p>
            <a:pPr algn="l">
              <a:lnSpc>
                <a:spcPts val="2697"/>
              </a:lnSpc>
            </a:pPr>
            <a:r>
              <a:rPr lang="en-US" sz="1973" b="1">
                <a:solidFill>
                  <a:srgbClr val="F7F9FC"/>
                </a:solidFill>
                <a:latin typeface="Open Sans Bold"/>
                <a:ea typeface="Open Sans Bold"/>
                <a:cs typeface="Open Sans Bold"/>
                <a:sym typeface="Open Sans Bold"/>
              </a:rPr>
              <a:t>01/</a:t>
            </a:r>
          </a:p>
          <a:p>
            <a:pPr algn="l">
              <a:lnSpc>
                <a:spcPts val="2625"/>
              </a:lnSpc>
            </a:pPr>
            <a:r>
              <a:rPr lang="en-US" sz="1920">
                <a:solidFill>
                  <a:srgbClr val="F7F9FC"/>
                </a:solidFill>
                <a:latin typeface="Open Sans"/>
                <a:ea typeface="Open Sans"/>
                <a:cs typeface="Open Sans"/>
                <a:sym typeface="Open Sans"/>
              </a:rPr>
              <a:t>Enter your business idea, budget, format, and target customers to get started.</a:t>
            </a:r>
          </a:p>
        </p:txBody>
      </p:sp>
      <p:sp>
        <p:nvSpPr>
          <p:cNvPr id="21" name="TextBox 21"/>
          <p:cNvSpPr txBox="1"/>
          <p:nvPr/>
        </p:nvSpPr>
        <p:spPr>
          <a:xfrm>
            <a:off x="1493530" y="7186689"/>
            <a:ext cx="3814972" cy="1463497"/>
          </a:xfrm>
          <a:prstGeom prst="rect">
            <a:avLst/>
          </a:prstGeom>
        </p:spPr>
        <p:txBody>
          <a:bodyPr lIns="0" tIns="0" rIns="0" bIns="0" rtlCol="0" anchor="t">
            <a:spAutoFit/>
          </a:bodyPr>
          <a:lstStyle/>
          <a:p>
            <a:pPr algn="just">
              <a:lnSpc>
                <a:spcPts val="2697"/>
              </a:lnSpc>
            </a:pPr>
            <a:r>
              <a:rPr lang="en-US" sz="1973" b="1">
                <a:solidFill>
                  <a:srgbClr val="F7F9FC"/>
                </a:solidFill>
                <a:latin typeface="Open Sans Bold"/>
                <a:ea typeface="Open Sans Bold"/>
                <a:cs typeface="Open Sans Bold"/>
                <a:sym typeface="Open Sans Bold"/>
              </a:rPr>
              <a:t>02/</a:t>
            </a:r>
          </a:p>
          <a:p>
            <a:pPr algn="just">
              <a:lnSpc>
                <a:spcPts val="2625"/>
              </a:lnSpc>
            </a:pPr>
            <a:r>
              <a:rPr lang="en-US" sz="1920">
                <a:solidFill>
                  <a:srgbClr val="F7F9FC"/>
                </a:solidFill>
                <a:latin typeface="Open Sans"/>
                <a:ea typeface="Open Sans"/>
                <a:cs typeface="Open Sans"/>
                <a:sym typeface="Open Sans"/>
              </a:rPr>
              <a:t>Explore nearby competitors, foot traffic signals, and commercial activity across distance bands.</a:t>
            </a:r>
          </a:p>
        </p:txBody>
      </p:sp>
      <p:sp>
        <p:nvSpPr>
          <p:cNvPr id="22" name="TextBox 22"/>
          <p:cNvSpPr txBox="1"/>
          <p:nvPr/>
        </p:nvSpPr>
        <p:spPr>
          <a:xfrm>
            <a:off x="2249262" y="7177164"/>
            <a:ext cx="2491435" cy="348958"/>
          </a:xfrm>
          <a:prstGeom prst="rect">
            <a:avLst/>
          </a:prstGeom>
        </p:spPr>
        <p:txBody>
          <a:bodyPr lIns="0" tIns="0" rIns="0" bIns="0" rtlCol="0" anchor="t">
            <a:spAutoFit/>
          </a:bodyPr>
          <a:lstStyle/>
          <a:p>
            <a:pPr algn="l">
              <a:lnSpc>
                <a:spcPts val="2762"/>
              </a:lnSpc>
            </a:pPr>
            <a:r>
              <a:rPr lang="en-US" sz="1973" b="1">
                <a:solidFill>
                  <a:srgbClr val="F7F9FC"/>
                </a:solidFill>
                <a:latin typeface="Open Sans Bold"/>
                <a:ea typeface="Open Sans Bold"/>
                <a:cs typeface="Open Sans Bold"/>
                <a:sym typeface="Open Sans Bold"/>
              </a:rPr>
              <a:t>Analyze the Market</a:t>
            </a:r>
          </a:p>
        </p:txBody>
      </p:sp>
      <p:sp>
        <p:nvSpPr>
          <p:cNvPr id="23" name="TextBox 23"/>
          <p:cNvSpPr txBox="1"/>
          <p:nvPr/>
        </p:nvSpPr>
        <p:spPr>
          <a:xfrm>
            <a:off x="2176882" y="4408894"/>
            <a:ext cx="2687545" cy="348958"/>
          </a:xfrm>
          <a:prstGeom prst="rect">
            <a:avLst/>
          </a:prstGeom>
        </p:spPr>
        <p:txBody>
          <a:bodyPr lIns="0" tIns="0" rIns="0" bIns="0" rtlCol="0" anchor="t">
            <a:spAutoFit/>
          </a:bodyPr>
          <a:lstStyle/>
          <a:p>
            <a:pPr algn="l">
              <a:lnSpc>
                <a:spcPts val="2762"/>
              </a:lnSpc>
            </a:pPr>
            <a:r>
              <a:rPr lang="en-US" sz="1973" b="1">
                <a:solidFill>
                  <a:srgbClr val="F7F9FC"/>
                </a:solidFill>
                <a:latin typeface="Open Sans Bold"/>
                <a:ea typeface="Open Sans Bold"/>
                <a:cs typeface="Open Sans Bold"/>
                <a:sym typeface="Open Sans Bold"/>
              </a:rPr>
              <a:t>Define</a:t>
            </a:r>
            <a:r>
              <a:rPr lang="en-US" sz="1973" b="1">
                <a:solidFill>
                  <a:srgbClr val="000000"/>
                </a:solidFill>
                <a:latin typeface="Open Sans Bold"/>
                <a:ea typeface="Open Sans Bold"/>
                <a:cs typeface="Open Sans Bold"/>
                <a:sym typeface="Open Sans Bold"/>
              </a:rPr>
              <a:t> </a:t>
            </a:r>
            <a:r>
              <a:rPr lang="en-US" sz="1973" b="1">
                <a:solidFill>
                  <a:srgbClr val="F7F9FC"/>
                </a:solidFill>
                <a:latin typeface="Open Sans Bold"/>
                <a:ea typeface="Open Sans Bold"/>
                <a:cs typeface="Open Sans Bold"/>
                <a:sym typeface="Open Sans Bold"/>
              </a:rPr>
              <a:t>Your</a:t>
            </a:r>
            <a:r>
              <a:rPr lang="en-US" sz="1973" b="1">
                <a:solidFill>
                  <a:srgbClr val="000000"/>
                </a:solidFill>
                <a:latin typeface="Open Sans Bold"/>
                <a:ea typeface="Open Sans Bold"/>
                <a:cs typeface="Open Sans Bold"/>
                <a:sym typeface="Open Sans Bold"/>
              </a:rPr>
              <a:t> </a:t>
            </a:r>
            <a:r>
              <a:rPr lang="en-US" sz="1973" b="1">
                <a:solidFill>
                  <a:srgbClr val="F7F9FC"/>
                </a:solidFill>
                <a:latin typeface="Open Sans Bold"/>
                <a:ea typeface="Open Sans Bold"/>
                <a:cs typeface="Open Sans Bold"/>
                <a:sym typeface="Open Sans Bold"/>
              </a:rPr>
              <a:t>Business</a:t>
            </a:r>
          </a:p>
        </p:txBody>
      </p:sp>
      <p:sp>
        <p:nvSpPr>
          <p:cNvPr id="24" name="TextBox 24"/>
          <p:cNvSpPr txBox="1"/>
          <p:nvPr/>
        </p:nvSpPr>
        <p:spPr>
          <a:xfrm>
            <a:off x="6889699" y="4408894"/>
            <a:ext cx="397754" cy="348958"/>
          </a:xfrm>
          <a:prstGeom prst="rect">
            <a:avLst/>
          </a:prstGeom>
        </p:spPr>
        <p:txBody>
          <a:bodyPr lIns="0" tIns="0" rIns="0" bIns="0" rtlCol="0" anchor="t">
            <a:spAutoFit/>
          </a:bodyPr>
          <a:lstStyle/>
          <a:p>
            <a:pPr algn="l">
              <a:lnSpc>
                <a:spcPts val="2762"/>
              </a:lnSpc>
            </a:pPr>
            <a:r>
              <a:rPr lang="en-US" sz="1973" b="1">
                <a:solidFill>
                  <a:srgbClr val="F7F9FC"/>
                </a:solidFill>
                <a:latin typeface="Open Sans Bold"/>
                <a:ea typeface="Open Sans Bold"/>
                <a:cs typeface="Open Sans Bold"/>
                <a:sym typeface="Open Sans Bold"/>
              </a:rPr>
              <a:t>03/</a:t>
            </a:r>
          </a:p>
        </p:txBody>
      </p:sp>
      <p:sp>
        <p:nvSpPr>
          <p:cNvPr id="25" name="TextBox 25"/>
          <p:cNvSpPr txBox="1"/>
          <p:nvPr/>
        </p:nvSpPr>
        <p:spPr>
          <a:xfrm>
            <a:off x="6962080" y="7177164"/>
            <a:ext cx="397754" cy="348958"/>
          </a:xfrm>
          <a:prstGeom prst="rect">
            <a:avLst/>
          </a:prstGeom>
        </p:spPr>
        <p:txBody>
          <a:bodyPr lIns="0" tIns="0" rIns="0" bIns="0" rtlCol="0" anchor="t">
            <a:spAutoFit/>
          </a:bodyPr>
          <a:lstStyle/>
          <a:p>
            <a:pPr algn="l">
              <a:lnSpc>
                <a:spcPts val="2762"/>
              </a:lnSpc>
            </a:pPr>
            <a:r>
              <a:rPr lang="en-US" sz="1973" b="1">
                <a:solidFill>
                  <a:srgbClr val="F7F9FC"/>
                </a:solidFill>
                <a:latin typeface="Open Sans Bold"/>
                <a:ea typeface="Open Sans Bold"/>
                <a:cs typeface="Open Sans Bold"/>
                <a:sym typeface="Open Sans Bold"/>
              </a:rPr>
              <a:t>04/</a:t>
            </a:r>
          </a:p>
        </p:txBody>
      </p:sp>
      <p:sp>
        <p:nvSpPr>
          <p:cNvPr id="26" name="TextBox 26"/>
          <p:cNvSpPr txBox="1"/>
          <p:nvPr/>
        </p:nvSpPr>
        <p:spPr>
          <a:xfrm>
            <a:off x="7717812" y="7177164"/>
            <a:ext cx="2021643" cy="348958"/>
          </a:xfrm>
          <a:prstGeom prst="rect">
            <a:avLst/>
          </a:prstGeom>
        </p:spPr>
        <p:txBody>
          <a:bodyPr lIns="0" tIns="0" rIns="0" bIns="0" rtlCol="0" anchor="t">
            <a:spAutoFit/>
          </a:bodyPr>
          <a:lstStyle/>
          <a:p>
            <a:pPr algn="l">
              <a:lnSpc>
                <a:spcPts val="2762"/>
              </a:lnSpc>
            </a:pPr>
            <a:r>
              <a:rPr lang="en-US" sz="1973" b="1">
                <a:solidFill>
                  <a:srgbClr val="F7F9FC"/>
                </a:solidFill>
                <a:latin typeface="Open Sans Bold"/>
                <a:ea typeface="Open Sans Bold"/>
                <a:cs typeface="Open Sans Bold"/>
                <a:sym typeface="Open Sans Bold"/>
              </a:rPr>
              <a:t>Assess &amp; Decide</a:t>
            </a:r>
          </a:p>
        </p:txBody>
      </p:sp>
      <p:sp>
        <p:nvSpPr>
          <p:cNvPr id="27" name="TextBox 27"/>
          <p:cNvSpPr txBox="1"/>
          <p:nvPr/>
        </p:nvSpPr>
        <p:spPr>
          <a:xfrm>
            <a:off x="7645432" y="4408894"/>
            <a:ext cx="2243833" cy="348958"/>
          </a:xfrm>
          <a:prstGeom prst="rect">
            <a:avLst/>
          </a:prstGeom>
        </p:spPr>
        <p:txBody>
          <a:bodyPr lIns="0" tIns="0" rIns="0" bIns="0" rtlCol="0" anchor="t">
            <a:spAutoFit/>
          </a:bodyPr>
          <a:lstStyle/>
          <a:p>
            <a:pPr algn="l">
              <a:lnSpc>
                <a:spcPts val="2762"/>
              </a:lnSpc>
            </a:pPr>
            <a:r>
              <a:rPr lang="en-US" sz="1973" b="1">
                <a:solidFill>
                  <a:srgbClr val="F7F9FC"/>
                </a:solidFill>
                <a:latin typeface="Open Sans Bold"/>
                <a:ea typeface="Open Sans Bold"/>
                <a:cs typeface="Open Sans Bold"/>
                <a:sym typeface="Open Sans Bold"/>
              </a:rPr>
              <a:t>Pin</a:t>
            </a:r>
            <a:r>
              <a:rPr lang="en-US" sz="1973" b="1">
                <a:solidFill>
                  <a:srgbClr val="000000"/>
                </a:solidFill>
                <a:latin typeface="Open Sans Bold"/>
                <a:ea typeface="Open Sans Bold"/>
                <a:cs typeface="Open Sans Bold"/>
                <a:sym typeface="Open Sans Bold"/>
              </a:rPr>
              <a:t> </a:t>
            </a:r>
            <a:r>
              <a:rPr lang="en-US" sz="1973" b="1">
                <a:solidFill>
                  <a:srgbClr val="F7F9FC"/>
                </a:solidFill>
                <a:latin typeface="Open Sans Bold"/>
                <a:ea typeface="Open Sans Bold"/>
                <a:cs typeface="Open Sans Bold"/>
                <a:sym typeface="Open Sans Bold"/>
              </a:rPr>
              <a:t>Your</a:t>
            </a:r>
            <a:r>
              <a:rPr lang="en-US" sz="1973" b="1">
                <a:solidFill>
                  <a:srgbClr val="000000"/>
                </a:solidFill>
                <a:latin typeface="Open Sans Bold"/>
                <a:ea typeface="Open Sans Bold"/>
                <a:cs typeface="Open Sans Bold"/>
                <a:sym typeface="Open Sans Bold"/>
              </a:rPr>
              <a:t> </a:t>
            </a:r>
            <a:r>
              <a:rPr lang="en-US" sz="1973" b="1">
                <a:solidFill>
                  <a:srgbClr val="F7F9FC"/>
                </a:solidFill>
                <a:latin typeface="Open Sans Bold"/>
                <a:ea typeface="Open Sans Bold"/>
                <a:cs typeface="Open Sans Bold"/>
                <a:sym typeface="Open Sans Bold"/>
              </a:rPr>
              <a:t>Location</a:t>
            </a:r>
          </a:p>
        </p:txBody>
      </p:sp>
      <p:sp>
        <p:nvSpPr>
          <p:cNvPr id="28" name="TextBox 28"/>
          <p:cNvSpPr txBox="1"/>
          <p:nvPr/>
        </p:nvSpPr>
        <p:spPr>
          <a:xfrm>
            <a:off x="6889699" y="4871847"/>
            <a:ext cx="4032437" cy="1007440"/>
          </a:xfrm>
          <a:prstGeom prst="rect">
            <a:avLst/>
          </a:prstGeom>
        </p:spPr>
        <p:txBody>
          <a:bodyPr lIns="0" tIns="0" rIns="0" bIns="0" rtlCol="0" anchor="t">
            <a:spAutoFit/>
          </a:bodyPr>
          <a:lstStyle/>
          <a:p>
            <a:pPr algn="l">
              <a:lnSpc>
                <a:spcPts val="2625"/>
              </a:lnSpc>
            </a:pPr>
            <a:r>
              <a:rPr lang="en-US" sz="1920">
                <a:solidFill>
                  <a:srgbClr val="F7F9FC"/>
                </a:solidFill>
                <a:latin typeface="Open Sans"/>
                <a:ea typeface="Open Sans"/>
                <a:cs typeface="Open Sans"/>
                <a:sym typeface="Open Sans"/>
              </a:rPr>
              <a:t>Select a target location on the map and drop a candidate pin to begin analysis.</a:t>
            </a:r>
          </a:p>
        </p:txBody>
      </p:sp>
      <p:sp>
        <p:nvSpPr>
          <p:cNvPr id="29" name="TextBox 29"/>
          <p:cNvSpPr txBox="1"/>
          <p:nvPr/>
        </p:nvSpPr>
        <p:spPr>
          <a:xfrm>
            <a:off x="6962080" y="7643155"/>
            <a:ext cx="4298499" cy="1007440"/>
          </a:xfrm>
          <a:prstGeom prst="rect">
            <a:avLst/>
          </a:prstGeom>
        </p:spPr>
        <p:txBody>
          <a:bodyPr lIns="0" tIns="0" rIns="0" bIns="0" rtlCol="0" anchor="t">
            <a:spAutoFit/>
          </a:bodyPr>
          <a:lstStyle/>
          <a:p>
            <a:pPr algn="l">
              <a:lnSpc>
                <a:spcPts val="2625"/>
              </a:lnSpc>
            </a:pPr>
            <a:r>
              <a:rPr lang="en-US" sz="1920">
                <a:solidFill>
                  <a:srgbClr val="F7F9FC"/>
                </a:solidFill>
                <a:latin typeface="Open Sans"/>
                <a:ea typeface="Open Sans"/>
                <a:cs typeface="Open Sans"/>
                <a:sym typeface="Open Sans"/>
              </a:rPr>
              <a:t>Review the location intelligence report and decide if the spot is worth your investment.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172B4D"/>
        </a:solidFill>
        <a:effectLst/>
      </p:bgPr>
    </p:bg>
    <p:spTree>
      <p:nvGrpSpPr>
        <p:cNvPr id="1" name=""/>
        <p:cNvGrpSpPr/>
        <p:nvPr/>
      </p:nvGrpSpPr>
      <p:grpSpPr>
        <a:xfrm>
          <a:off x="0" y="0"/>
          <a:ext cx="0" cy="0"/>
          <a:chOff x="0" y="0"/>
          <a:chExt cx="0" cy="0"/>
        </a:xfrm>
      </p:grpSpPr>
      <p:sp>
        <p:nvSpPr>
          <p:cNvPr id="2" name="Freeform 2"/>
          <p:cNvSpPr/>
          <p:nvPr/>
        </p:nvSpPr>
        <p:spPr>
          <a:xfrm>
            <a:off x="1332309" y="5905500"/>
            <a:ext cx="5972175" cy="3352800"/>
          </a:xfrm>
          <a:custGeom>
            <a:avLst/>
            <a:gdLst/>
            <a:ahLst/>
            <a:cxnLst/>
            <a:rect l="l" t="t" r="r" b="b"/>
            <a:pathLst>
              <a:path w="5972175" h="3352800">
                <a:moveTo>
                  <a:pt x="0" y="0"/>
                </a:moveTo>
                <a:lnTo>
                  <a:pt x="5972175" y="0"/>
                </a:lnTo>
                <a:lnTo>
                  <a:pt x="5972175" y="3352800"/>
                </a:lnTo>
                <a:lnTo>
                  <a:pt x="0" y="3352800"/>
                </a:lnTo>
                <a:lnTo>
                  <a:pt x="0" y="0"/>
                </a:lnTo>
                <a:close/>
              </a:path>
            </a:pathLst>
          </a:custGeom>
          <a:blipFill>
            <a:blip>
              <a:extLst>
                <a:ext uri="{96DAC541-7B7A-43D3-8B79-37D633B846F1}">
                  <asvg:svgBlip xmlns:asvg="http://schemas.microsoft.com/office/drawing/2016/SVG/main" r:embed="rId2"/>
                </a:ext>
              </a:extLst>
            </a:blip>
            <a:stretch>
              <a:fillRect/>
            </a:stretch>
          </a:blipFill>
        </p:spPr>
      </p:sp>
      <p:sp>
        <p:nvSpPr>
          <p:cNvPr id="3" name="Freeform 3"/>
          <p:cNvSpPr/>
          <p:nvPr/>
        </p:nvSpPr>
        <p:spPr>
          <a:xfrm>
            <a:off x="1332309" y="2110816"/>
            <a:ext cx="5970594" cy="3032684"/>
          </a:xfrm>
          <a:custGeom>
            <a:avLst/>
            <a:gdLst/>
            <a:ahLst/>
            <a:cxnLst/>
            <a:rect l="l" t="t" r="r" b="b"/>
            <a:pathLst>
              <a:path w="5970594" h="3032684">
                <a:moveTo>
                  <a:pt x="0" y="0"/>
                </a:moveTo>
                <a:lnTo>
                  <a:pt x="5970594" y="0"/>
                </a:lnTo>
                <a:lnTo>
                  <a:pt x="5970594" y="3032684"/>
                </a:lnTo>
                <a:lnTo>
                  <a:pt x="0" y="3032684"/>
                </a:lnTo>
                <a:lnTo>
                  <a:pt x="0" y="0"/>
                </a:lnTo>
                <a:close/>
              </a:path>
            </a:pathLst>
          </a:custGeom>
          <a:blipFill>
            <a:blip>
              <a:extLst>
                <a:ext uri="{96DAC541-7B7A-43D3-8B79-37D633B846F1}">
                  <asvg:svgBlip xmlns:asvg="http://schemas.microsoft.com/office/drawing/2016/SVG/main" r:embed="rId3"/>
                </a:ext>
              </a:extLst>
            </a:blip>
            <a:stretch>
              <a:fillRect/>
            </a:stretch>
          </a:blipFill>
        </p:spPr>
      </p:sp>
      <p:grpSp>
        <p:nvGrpSpPr>
          <p:cNvPr id="4" name="Group 4"/>
          <p:cNvGrpSpPr/>
          <p:nvPr/>
        </p:nvGrpSpPr>
        <p:grpSpPr>
          <a:xfrm>
            <a:off x="1743856" y="3252940"/>
            <a:ext cx="288798" cy="288798"/>
            <a:chOff x="0" y="0"/>
            <a:chExt cx="385064" cy="385064"/>
          </a:xfrm>
        </p:grpSpPr>
        <p:sp>
          <p:nvSpPr>
            <p:cNvPr id="5" name="Freeform 5"/>
            <p:cNvSpPr/>
            <p:nvPr/>
          </p:nvSpPr>
          <p:spPr>
            <a:xfrm>
              <a:off x="0" y="0"/>
              <a:ext cx="385064" cy="384937"/>
            </a:xfrm>
            <a:custGeom>
              <a:avLst/>
              <a:gdLst/>
              <a:ahLst/>
              <a:cxnLst/>
              <a:rect l="l" t="t" r="r" b="b"/>
              <a:pathLst>
                <a:path w="385064" h="384937">
                  <a:moveTo>
                    <a:pt x="191897" y="0"/>
                  </a:moveTo>
                  <a:cubicBezTo>
                    <a:pt x="85979" y="381"/>
                    <a:pt x="127" y="86233"/>
                    <a:pt x="0" y="192151"/>
                  </a:cubicBezTo>
                  <a:lnTo>
                    <a:pt x="0" y="192786"/>
                  </a:lnTo>
                  <a:cubicBezTo>
                    <a:pt x="127" y="298958"/>
                    <a:pt x="86360" y="384937"/>
                    <a:pt x="192532" y="384937"/>
                  </a:cubicBezTo>
                  <a:cubicBezTo>
                    <a:pt x="298704" y="384937"/>
                    <a:pt x="385064" y="298704"/>
                    <a:pt x="385064" y="192405"/>
                  </a:cubicBezTo>
                  <a:cubicBezTo>
                    <a:pt x="385064" y="86360"/>
                    <a:pt x="299212" y="381"/>
                    <a:pt x="193167" y="0"/>
                  </a:cubicBezTo>
                  <a:close/>
                </a:path>
              </a:pathLst>
            </a:custGeom>
            <a:blipFill>
              <a:blip r:embed="rId4"/>
              <a:stretch>
                <a:fillRect b="-32"/>
              </a:stretch>
            </a:blipFill>
          </p:spPr>
        </p:sp>
      </p:grpSp>
      <p:grpSp>
        <p:nvGrpSpPr>
          <p:cNvPr id="6" name="Group 6"/>
          <p:cNvGrpSpPr/>
          <p:nvPr/>
        </p:nvGrpSpPr>
        <p:grpSpPr>
          <a:xfrm>
            <a:off x="1658903" y="7235295"/>
            <a:ext cx="288798" cy="288798"/>
            <a:chOff x="0" y="0"/>
            <a:chExt cx="385064" cy="385064"/>
          </a:xfrm>
        </p:grpSpPr>
        <p:sp>
          <p:nvSpPr>
            <p:cNvPr id="7" name="Freeform 7"/>
            <p:cNvSpPr/>
            <p:nvPr/>
          </p:nvSpPr>
          <p:spPr>
            <a:xfrm>
              <a:off x="0" y="0"/>
              <a:ext cx="384937" cy="385064"/>
            </a:xfrm>
            <a:custGeom>
              <a:avLst/>
              <a:gdLst/>
              <a:ahLst/>
              <a:cxnLst/>
              <a:rect l="l" t="t" r="r" b="b"/>
              <a:pathLst>
                <a:path w="384937" h="385064">
                  <a:moveTo>
                    <a:pt x="192532" y="0"/>
                  </a:moveTo>
                  <a:cubicBezTo>
                    <a:pt x="86233" y="0"/>
                    <a:pt x="0" y="86233"/>
                    <a:pt x="0" y="192532"/>
                  </a:cubicBezTo>
                  <a:cubicBezTo>
                    <a:pt x="0" y="298704"/>
                    <a:pt x="85979" y="384810"/>
                    <a:pt x="192024" y="385064"/>
                  </a:cubicBezTo>
                  <a:lnTo>
                    <a:pt x="192913" y="385064"/>
                  </a:lnTo>
                  <a:cubicBezTo>
                    <a:pt x="299085" y="384810"/>
                    <a:pt x="384937" y="298704"/>
                    <a:pt x="384937" y="192532"/>
                  </a:cubicBezTo>
                  <a:cubicBezTo>
                    <a:pt x="385064" y="86233"/>
                    <a:pt x="298831" y="0"/>
                    <a:pt x="192532" y="0"/>
                  </a:cubicBezTo>
                  <a:close/>
                </a:path>
              </a:pathLst>
            </a:custGeom>
            <a:blipFill>
              <a:blip r:embed="rId4"/>
              <a:stretch>
                <a:fillRect r="-32"/>
              </a:stretch>
            </a:blipFill>
          </p:spPr>
        </p:sp>
      </p:grpSp>
      <p:grpSp>
        <p:nvGrpSpPr>
          <p:cNvPr id="8" name="Group 8"/>
          <p:cNvGrpSpPr/>
          <p:nvPr/>
        </p:nvGrpSpPr>
        <p:grpSpPr>
          <a:xfrm>
            <a:off x="1743856" y="3792960"/>
            <a:ext cx="288798" cy="288798"/>
            <a:chOff x="0" y="0"/>
            <a:chExt cx="385064" cy="385064"/>
          </a:xfrm>
        </p:grpSpPr>
        <p:sp>
          <p:nvSpPr>
            <p:cNvPr id="9" name="Freeform 9"/>
            <p:cNvSpPr/>
            <p:nvPr/>
          </p:nvSpPr>
          <p:spPr>
            <a:xfrm>
              <a:off x="0" y="0"/>
              <a:ext cx="385064" cy="384937"/>
            </a:xfrm>
            <a:custGeom>
              <a:avLst/>
              <a:gdLst/>
              <a:ahLst/>
              <a:cxnLst/>
              <a:rect l="l" t="t" r="r" b="b"/>
              <a:pathLst>
                <a:path w="385064" h="384937">
                  <a:moveTo>
                    <a:pt x="192532" y="0"/>
                  </a:moveTo>
                  <a:cubicBezTo>
                    <a:pt x="86360" y="0"/>
                    <a:pt x="127" y="85979"/>
                    <a:pt x="0" y="192151"/>
                  </a:cubicBezTo>
                  <a:lnTo>
                    <a:pt x="0" y="192786"/>
                  </a:lnTo>
                  <a:cubicBezTo>
                    <a:pt x="127" y="298958"/>
                    <a:pt x="86360" y="384937"/>
                    <a:pt x="192532" y="384937"/>
                  </a:cubicBezTo>
                  <a:cubicBezTo>
                    <a:pt x="298704" y="384937"/>
                    <a:pt x="385064" y="298704"/>
                    <a:pt x="385064" y="192405"/>
                  </a:cubicBezTo>
                  <a:cubicBezTo>
                    <a:pt x="385064" y="86106"/>
                    <a:pt x="298831" y="0"/>
                    <a:pt x="192532" y="0"/>
                  </a:cubicBezTo>
                  <a:close/>
                </a:path>
              </a:pathLst>
            </a:custGeom>
            <a:blipFill>
              <a:blip r:embed="rId4"/>
              <a:stretch>
                <a:fillRect b="-32"/>
              </a:stretch>
            </a:blipFill>
          </p:spPr>
        </p:sp>
      </p:grpSp>
      <p:grpSp>
        <p:nvGrpSpPr>
          <p:cNvPr id="10" name="Group 10"/>
          <p:cNvGrpSpPr/>
          <p:nvPr/>
        </p:nvGrpSpPr>
        <p:grpSpPr>
          <a:xfrm>
            <a:off x="1658903" y="7823787"/>
            <a:ext cx="288798" cy="288798"/>
            <a:chOff x="0" y="0"/>
            <a:chExt cx="385064" cy="385064"/>
          </a:xfrm>
        </p:grpSpPr>
        <p:sp>
          <p:nvSpPr>
            <p:cNvPr id="11" name="Freeform 11"/>
            <p:cNvSpPr/>
            <p:nvPr/>
          </p:nvSpPr>
          <p:spPr>
            <a:xfrm>
              <a:off x="0" y="0"/>
              <a:ext cx="384937" cy="385064"/>
            </a:xfrm>
            <a:custGeom>
              <a:avLst/>
              <a:gdLst/>
              <a:ahLst/>
              <a:cxnLst/>
              <a:rect l="l" t="t" r="r" b="b"/>
              <a:pathLst>
                <a:path w="384937" h="385064">
                  <a:moveTo>
                    <a:pt x="192532" y="0"/>
                  </a:moveTo>
                  <a:cubicBezTo>
                    <a:pt x="86233" y="0"/>
                    <a:pt x="0" y="86233"/>
                    <a:pt x="0" y="192532"/>
                  </a:cubicBezTo>
                  <a:cubicBezTo>
                    <a:pt x="0" y="298831"/>
                    <a:pt x="85979" y="384937"/>
                    <a:pt x="192151" y="385064"/>
                  </a:cubicBezTo>
                  <a:lnTo>
                    <a:pt x="192786" y="385064"/>
                  </a:lnTo>
                  <a:cubicBezTo>
                    <a:pt x="298958" y="384937"/>
                    <a:pt x="384937" y="298704"/>
                    <a:pt x="384937" y="192532"/>
                  </a:cubicBezTo>
                  <a:cubicBezTo>
                    <a:pt x="384937" y="86360"/>
                    <a:pt x="298831" y="0"/>
                    <a:pt x="192532" y="0"/>
                  </a:cubicBezTo>
                  <a:close/>
                </a:path>
              </a:pathLst>
            </a:custGeom>
            <a:blipFill>
              <a:blip r:embed="rId4"/>
              <a:stretch>
                <a:fillRect r="-32"/>
              </a:stretch>
            </a:blipFill>
          </p:spPr>
        </p:sp>
      </p:grpSp>
      <p:grpSp>
        <p:nvGrpSpPr>
          <p:cNvPr id="12" name="Group 12"/>
          <p:cNvGrpSpPr/>
          <p:nvPr/>
        </p:nvGrpSpPr>
        <p:grpSpPr>
          <a:xfrm>
            <a:off x="1743856" y="4299995"/>
            <a:ext cx="288798" cy="288798"/>
            <a:chOff x="0" y="0"/>
            <a:chExt cx="385064" cy="385064"/>
          </a:xfrm>
        </p:grpSpPr>
        <p:sp>
          <p:nvSpPr>
            <p:cNvPr id="13" name="Freeform 13"/>
            <p:cNvSpPr/>
            <p:nvPr/>
          </p:nvSpPr>
          <p:spPr>
            <a:xfrm>
              <a:off x="0" y="0"/>
              <a:ext cx="385064" cy="384937"/>
            </a:xfrm>
            <a:custGeom>
              <a:avLst/>
              <a:gdLst/>
              <a:ahLst/>
              <a:cxnLst/>
              <a:rect l="l" t="t" r="r" b="b"/>
              <a:pathLst>
                <a:path w="385064" h="384937">
                  <a:moveTo>
                    <a:pt x="192151" y="0"/>
                  </a:moveTo>
                  <a:cubicBezTo>
                    <a:pt x="86106" y="127"/>
                    <a:pt x="127" y="86106"/>
                    <a:pt x="0" y="192151"/>
                  </a:cubicBezTo>
                  <a:lnTo>
                    <a:pt x="0" y="192786"/>
                  </a:lnTo>
                  <a:cubicBezTo>
                    <a:pt x="127" y="298958"/>
                    <a:pt x="86360" y="384937"/>
                    <a:pt x="192532" y="384937"/>
                  </a:cubicBezTo>
                  <a:cubicBezTo>
                    <a:pt x="298704" y="384937"/>
                    <a:pt x="385064" y="298704"/>
                    <a:pt x="385064" y="192405"/>
                  </a:cubicBezTo>
                  <a:cubicBezTo>
                    <a:pt x="385064" y="86106"/>
                    <a:pt x="299085" y="127"/>
                    <a:pt x="192913" y="0"/>
                  </a:cubicBezTo>
                  <a:close/>
                </a:path>
              </a:pathLst>
            </a:custGeom>
            <a:blipFill>
              <a:blip r:embed="rId4"/>
              <a:stretch>
                <a:fillRect b="-32"/>
              </a:stretch>
            </a:blipFill>
          </p:spPr>
        </p:sp>
      </p:grpSp>
      <p:grpSp>
        <p:nvGrpSpPr>
          <p:cNvPr id="14" name="Group 14"/>
          <p:cNvGrpSpPr/>
          <p:nvPr/>
        </p:nvGrpSpPr>
        <p:grpSpPr>
          <a:xfrm>
            <a:off x="1658903" y="8407946"/>
            <a:ext cx="288798" cy="288798"/>
            <a:chOff x="0" y="0"/>
            <a:chExt cx="385064" cy="385064"/>
          </a:xfrm>
        </p:grpSpPr>
        <p:sp>
          <p:nvSpPr>
            <p:cNvPr id="15" name="Freeform 15"/>
            <p:cNvSpPr/>
            <p:nvPr/>
          </p:nvSpPr>
          <p:spPr>
            <a:xfrm>
              <a:off x="0" y="0"/>
              <a:ext cx="385064" cy="385064"/>
            </a:xfrm>
            <a:custGeom>
              <a:avLst/>
              <a:gdLst/>
              <a:ahLst/>
              <a:cxnLst/>
              <a:rect l="l" t="t" r="r" b="b"/>
              <a:pathLst>
                <a:path w="385064" h="385064">
                  <a:moveTo>
                    <a:pt x="192532" y="0"/>
                  </a:moveTo>
                  <a:cubicBezTo>
                    <a:pt x="86233" y="0"/>
                    <a:pt x="0" y="86233"/>
                    <a:pt x="0" y="192532"/>
                  </a:cubicBezTo>
                  <a:cubicBezTo>
                    <a:pt x="0" y="298831"/>
                    <a:pt x="86233" y="385064"/>
                    <a:pt x="192532" y="385064"/>
                  </a:cubicBezTo>
                  <a:cubicBezTo>
                    <a:pt x="298831" y="385064"/>
                    <a:pt x="385064" y="298831"/>
                    <a:pt x="385064" y="192532"/>
                  </a:cubicBezTo>
                  <a:cubicBezTo>
                    <a:pt x="385064" y="86233"/>
                    <a:pt x="298831" y="0"/>
                    <a:pt x="192532" y="0"/>
                  </a:cubicBezTo>
                  <a:close/>
                </a:path>
              </a:pathLst>
            </a:custGeom>
            <a:blipFill>
              <a:blip r:embed="rId4"/>
              <a:stretch>
                <a:fillRect/>
              </a:stretch>
            </a:blipFill>
          </p:spPr>
        </p:sp>
      </p:grpSp>
      <p:grpSp>
        <p:nvGrpSpPr>
          <p:cNvPr id="16" name="Group 16"/>
          <p:cNvGrpSpPr/>
          <p:nvPr/>
        </p:nvGrpSpPr>
        <p:grpSpPr>
          <a:xfrm>
            <a:off x="9144000" y="5262667"/>
            <a:ext cx="9144000" cy="5024333"/>
            <a:chOff x="0" y="0"/>
            <a:chExt cx="12192000" cy="6699110"/>
          </a:xfrm>
        </p:grpSpPr>
        <p:sp>
          <p:nvSpPr>
            <p:cNvPr id="17" name="Freeform 17"/>
            <p:cNvSpPr/>
            <p:nvPr/>
          </p:nvSpPr>
          <p:spPr>
            <a:xfrm>
              <a:off x="0" y="0"/>
              <a:ext cx="12192000" cy="6699123"/>
            </a:xfrm>
            <a:custGeom>
              <a:avLst/>
              <a:gdLst/>
              <a:ahLst/>
              <a:cxnLst/>
              <a:rect l="l" t="t" r="r" b="b"/>
              <a:pathLst>
                <a:path w="12192000" h="6699123">
                  <a:moveTo>
                    <a:pt x="6699123" y="0"/>
                  </a:moveTo>
                  <a:cubicBezTo>
                    <a:pt x="3050159" y="0"/>
                    <a:pt x="0" y="3050159"/>
                    <a:pt x="0" y="6699123"/>
                  </a:cubicBezTo>
                  <a:lnTo>
                    <a:pt x="3719703" y="6699123"/>
                  </a:lnTo>
                  <a:cubicBezTo>
                    <a:pt x="3719703" y="5076317"/>
                    <a:pt x="5076190" y="3719830"/>
                    <a:pt x="6698997" y="3719830"/>
                  </a:cubicBezTo>
                  <a:cubicBezTo>
                    <a:pt x="8321802" y="3719830"/>
                    <a:pt x="9678416" y="5076317"/>
                    <a:pt x="9678416" y="6699123"/>
                  </a:cubicBezTo>
                  <a:lnTo>
                    <a:pt x="12192000" y="6699123"/>
                  </a:lnTo>
                  <a:lnTo>
                    <a:pt x="12192000" y="2905379"/>
                  </a:lnTo>
                  <a:cubicBezTo>
                    <a:pt x="10972165" y="1160145"/>
                    <a:pt x="8949436" y="0"/>
                    <a:pt x="6699123" y="0"/>
                  </a:cubicBezTo>
                  <a:close/>
                </a:path>
              </a:pathLst>
            </a:custGeom>
            <a:blipFill>
              <a:blip r:embed="rId5"/>
              <a:stretch>
                <a:fillRect r="-9893"/>
              </a:stretch>
            </a:blipFill>
          </p:spPr>
        </p:sp>
      </p:grpSp>
      <p:grpSp>
        <p:nvGrpSpPr>
          <p:cNvPr id="18" name="Group 18"/>
          <p:cNvGrpSpPr/>
          <p:nvPr/>
        </p:nvGrpSpPr>
        <p:grpSpPr>
          <a:xfrm>
            <a:off x="8518760" y="4334218"/>
            <a:ext cx="8732558" cy="4924082"/>
            <a:chOff x="0" y="0"/>
            <a:chExt cx="11643411" cy="6565443"/>
          </a:xfrm>
        </p:grpSpPr>
        <p:sp>
          <p:nvSpPr>
            <p:cNvPr id="19" name="Freeform 19"/>
            <p:cNvSpPr/>
            <p:nvPr/>
          </p:nvSpPr>
          <p:spPr>
            <a:xfrm>
              <a:off x="0" y="0"/>
              <a:ext cx="11643487" cy="6565392"/>
            </a:xfrm>
            <a:custGeom>
              <a:avLst/>
              <a:gdLst/>
              <a:ahLst/>
              <a:cxnLst/>
              <a:rect l="l" t="t" r="r" b="b"/>
              <a:pathLst>
                <a:path w="11643487" h="6565392">
                  <a:moveTo>
                    <a:pt x="381000" y="0"/>
                  </a:moveTo>
                  <a:cubicBezTo>
                    <a:pt x="170561" y="0"/>
                    <a:pt x="0" y="170561"/>
                    <a:pt x="0" y="381000"/>
                  </a:cubicBezTo>
                  <a:lnTo>
                    <a:pt x="0" y="6184392"/>
                  </a:lnTo>
                  <a:cubicBezTo>
                    <a:pt x="0" y="6394704"/>
                    <a:pt x="170307" y="6565138"/>
                    <a:pt x="380492" y="6565392"/>
                  </a:cubicBezTo>
                  <a:lnTo>
                    <a:pt x="11273536" y="6565392"/>
                  </a:lnTo>
                  <a:cubicBezTo>
                    <a:pt x="11452860" y="6565138"/>
                    <a:pt x="11603101" y="6441186"/>
                    <a:pt x="11643487" y="6274181"/>
                  </a:cubicBezTo>
                  <a:lnTo>
                    <a:pt x="11643487" y="291211"/>
                  </a:lnTo>
                  <a:cubicBezTo>
                    <a:pt x="11602974" y="124079"/>
                    <a:pt x="11452479" y="0"/>
                    <a:pt x="11273028" y="0"/>
                  </a:cubicBezTo>
                  <a:close/>
                </a:path>
              </a:pathLst>
            </a:custGeom>
            <a:blipFill>
              <a:blip r:embed="rId6"/>
              <a:stretch>
                <a:fillRect t="-478" b="-303"/>
              </a:stretch>
            </a:blipFill>
          </p:spPr>
        </p:sp>
      </p:grpSp>
      <p:grpSp>
        <p:nvGrpSpPr>
          <p:cNvPr id="20" name="Group 20"/>
          <p:cNvGrpSpPr/>
          <p:nvPr/>
        </p:nvGrpSpPr>
        <p:grpSpPr>
          <a:xfrm>
            <a:off x="1332309" y="2110816"/>
            <a:ext cx="5973166" cy="3032684"/>
            <a:chOff x="0" y="0"/>
            <a:chExt cx="5973166" cy="3032684"/>
          </a:xfrm>
        </p:grpSpPr>
        <p:sp>
          <p:nvSpPr>
            <p:cNvPr id="21" name="Freeform 21"/>
            <p:cNvSpPr/>
            <p:nvPr/>
          </p:nvSpPr>
          <p:spPr>
            <a:xfrm>
              <a:off x="0" y="0"/>
              <a:ext cx="5973192" cy="3032636"/>
            </a:xfrm>
            <a:custGeom>
              <a:avLst/>
              <a:gdLst/>
              <a:ahLst/>
              <a:cxnLst/>
              <a:rect l="l" t="t" r="r" b="b"/>
              <a:pathLst>
                <a:path w="5973192" h="3032636">
                  <a:moveTo>
                    <a:pt x="0" y="3032636"/>
                  </a:moveTo>
                  <a:lnTo>
                    <a:pt x="5973192" y="3032636"/>
                  </a:lnTo>
                  <a:lnTo>
                    <a:pt x="5973192" y="0"/>
                  </a:lnTo>
                  <a:lnTo>
                    <a:pt x="0" y="0"/>
                  </a:lnTo>
                  <a:close/>
                </a:path>
              </a:pathLst>
            </a:custGeom>
            <a:solidFill>
              <a:srgbClr val="000000">
                <a:alpha val="0"/>
              </a:srgbClr>
            </a:solidFill>
          </p:spPr>
        </p:sp>
      </p:grpSp>
      <p:grpSp>
        <p:nvGrpSpPr>
          <p:cNvPr id="22" name="Group 22"/>
          <p:cNvGrpSpPr/>
          <p:nvPr/>
        </p:nvGrpSpPr>
        <p:grpSpPr>
          <a:xfrm>
            <a:off x="1332309" y="5905500"/>
            <a:ext cx="5973166" cy="3352800"/>
            <a:chOff x="0" y="0"/>
            <a:chExt cx="5973166" cy="3352800"/>
          </a:xfrm>
        </p:grpSpPr>
        <p:sp>
          <p:nvSpPr>
            <p:cNvPr id="23" name="Freeform 23"/>
            <p:cNvSpPr/>
            <p:nvPr/>
          </p:nvSpPr>
          <p:spPr>
            <a:xfrm>
              <a:off x="0" y="0"/>
              <a:ext cx="5973192" cy="3352800"/>
            </a:xfrm>
            <a:custGeom>
              <a:avLst/>
              <a:gdLst/>
              <a:ahLst/>
              <a:cxnLst/>
              <a:rect l="l" t="t" r="r" b="b"/>
              <a:pathLst>
                <a:path w="5973192" h="3352800">
                  <a:moveTo>
                    <a:pt x="0" y="3352800"/>
                  </a:moveTo>
                  <a:lnTo>
                    <a:pt x="5973192" y="3352800"/>
                  </a:lnTo>
                  <a:lnTo>
                    <a:pt x="5973192" y="0"/>
                  </a:lnTo>
                  <a:lnTo>
                    <a:pt x="0" y="0"/>
                  </a:lnTo>
                  <a:close/>
                </a:path>
              </a:pathLst>
            </a:custGeom>
            <a:solidFill>
              <a:srgbClr val="000000">
                <a:alpha val="0"/>
              </a:srgbClr>
            </a:solidFill>
          </p:spPr>
        </p:sp>
      </p:grpSp>
      <p:sp>
        <p:nvSpPr>
          <p:cNvPr id="24" name="TextBox 24"/>
          <p:cNvSpPr txBox="1"/>
          <p:nvPr/>
        </p:nvSpPr>
        <p:spPr>
          <a:xfrm>
            <a:off x="8632260" y="1704994"/>
            <a:ext cx="5506498" cy="2132266"/>
          </a:xfrm>
          <a:prstGeom prst="rect">
            <a:avLst/>
          </a:prstGeom>
        </p:spPr>
        <p:txBody>
          <a:bodyPr lIns="0" tIns="0" rIns="0" bIns="0" rtlCol="0" anchor="t">
            <a:spAutoFit/>
          </a:bodyPr>
          <a:lstStyle/>
          <a:p>
            <a:pPr algn="l">
              <a:lnSpc>
                <a:spcPts val="8171"/>
              </a:lnSpc>
            </a:pPr>
            <a:r>
              <a:rPr lang="en-US" sz="8271" b="1">
                <a:solidFill>
                  <a:srgbClr val="F7F9FC"/>
                </a:solidFill>
                <a:latin typeface="Montserrat Bold"/>
                <a:ea typeface="Montserrat Bold"/>
                <a:cs typeface="Montserrat Bold"/>
                <a:sym typeface="Montserrat Bold"/>
              </a:rPr>
              <a:t>Market Discovery</a:t>
            </a:r>
          </a:p>
        </p:txBody>
      </p:sp>
      <p:sp>
        <p:nvSpPr>
          <p:cNvPr id="25" name="TextBox 25"/>
          <p:cNvSpPr txBox="1"/>
          <p:nvPr/>
        </p:nvSpPr>
        <p:spPr>
          <a:xfrm>
            <a:off x="1743856" y="2395137"/>
            <a:ext cx="2638377" cy="466430"/>
          </a:xfrm>
          <a:prstGeom prst="rect">
            <a:avLst/>
          </a:prstGeom>
        </p:spPr>
        <p:txBody>
          <a:bodyPr lIns="0" tIns="0" rIns="0" bIns="0" rtlCol="0" anchor="t">
            <a:spAutoFit/>
          </a:bodyPr>
          <a:lstStyle/>
          <a:p>
            <a:pPr algn="l">
              <a:lnSpc>
                <a:spcPts val="3637"/>
              </a:lnSpc>
            </a:pPr>
            <a:r>
              <a:rPr lang="en-US" sz="2598" b="1">
                <a:solidFill>
                  <a:srgbClr val="F7F9FC"/>
                </a:solidFill>
                <a:latin typeface="Open Sans Bold"/>
                <a:ea typeface="Open Sans Bold"/>
                <a:cs typeface="Open Sans Bold"/>
                <a:sym typeface="Open Sans Bold"/>
              </a:rPr>
              <a:t>Business Inputs</a:t>
            </a:r>
          </a:p>
        </p:txBody>
      </p:sp>
      <p:sp>
        <p:nvSpPr>
          <p:cNvPr id="26" name="TextBox 26"/>
          <p:cNvSpPr txBox="1"/>
          <p:nvPr/>
        </p:nvSpPr>
        <p:spPr>
          <a:xfrm>
            <a:off x="2204876" y="6953269"/>
            <a:ext cx="2529354" cy="1706728"/>
          </a:xfrm>
          <a:prstGeom prst="rect">
            <a:avLst/>
          </a:prstGeom>
        </p:spPr>
        <p:txBody>
          <a:bodyPr lIns="0" tIns="0" rIns="0" bIns="0" rtlCol="0" anchor="t">
            <a:spAutoFit/>
          </a:bodyPr>
          <a:lstStyle/>
          <a:p>
            <a:pPr algn="l">
              <a:lnSpc>
                <a:spcPts val="4610"/>
              </a:lnSpc>
            </a:pPr>
            <a:r>
              <a:rPr lang="en-US" sz="1999">
                <a:solidFill>
                  <a:srgbClr val="F7F9FC"/>
                </a:solidFill>
                <a:latin typeface="Open Sans"/>
                <a:ea typeface="Open Sans"/>
                <a:cs typeface="Open Sans"/>
                <a:sym typeface="Open Sans"/>
              </a:rPr>
              <a:t>Interactive map view Drop a candidate pin Confirm target area</a:t>
            </a:r>
          </a:p>
        </p:txBody>
      </p:sp>
      <p:sp>
        <p:nvSpPr>
          <p:cNvPr id="27" name="TextBox 27"/>
          <p:cNvSpPr txBox="1"/>
          <p:nvPr/>
        </p:nvSpPr>
        <p:spPr>
          <a:xfrm>
            <a:off x="2292048" y="3039094"/>
            <a:ext cx="3242691" cy="1555852"/>
          </a:xfrm>
          <a:prstGeom prst="rect">
            <a:avLst/>
          </a:prstGeom>
        </p:spPr>
        <p:txBody>
          <a:bodyPr lIns="0" tIns="0" rIns="0" bIns="0" rtlCol="0" anchor="t">
            <a:spAutoFit/>
          </a:bodyPr>
          <a:lstStyle/>
          <a:p>
            <a:pPr algn="l">
              <a:lnSpc>
                <a:spcPts val="4154"/>
              </a:lnSpc>
            </a:pPr>
            <a:r>
              <a:rPr lang="en-US" sz="1999">
                <a:solidFill>
                  <a:srgbClr val="F7F9FC"/>
                </a:solidFill>
                <a:latin typeface="Open Sans"/>
                <a:ea typeface="Open Sans"/>
                <a:cs typeface="Open Sans"/>
                <a:sym typeface="Open Sans"/>
              </a:rPr>
              <a:t>Business idea &amp; format Budget &amp; target customers Business format type</a:t>
            </a:r>
          </a:p>
        </p:txBody>
      </p:sp>
      <p:sp>
        <p:nvSpPr>
          <p:cNvPr id="28" name="TextBox 28"/>
          <p:cNvSpPr txBox="1"/>
          <p:nvPr/>
        </p:nvSpPr>
        <p:spPr>
          <a:xfrm>
            <a:off x="1658903" y="6365958"/>
            <a:ext cx="2958398" cy="441074"/>
          </a:xfrm>
          <a:prstGeom prst="rect">
            <a:avLst/>
          </a:prstGeom>
        </p:spPr>
        <p:txBody>
          <a:bodyPr lIns="0" tIns="0" rIns="0" bIns="0" rtlCol="0" anchor="t">
            <a:spAutoFit/>
          </a:bodyPr>
          <a:lstStyle/>
          <a:p>
            <a:pPr algn="l">
              <a:lnSpc>
                <a:spcPts val="3496"/>
              </a:lnSpc>
            </a:pPr>
            <a:r>
              <a:rPr lang="en-US" sz="2497" b="1">
                <a:solidFill>
                  <a:srgbClr val="F7F9FC"/>
                </a:solidFill>
                <a:latin typeface="Open Sans Bold"/>
                <a:ea typeface="Open Sans Bold"/>
                <a:cs typeface="Open Sans Bold"/>
                <a:sym typeface="Open Sans Bold"/>
              </a:rPr>
              <a:t>Location Selection</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172B4D"/>
        </a:solidFill>
        <a:effectLst/>
      </p:bgPr>
    </p:bg>
    <p:spTree>
      <p:nvGrpSpPr>
        <p:cNvPr id="1" name=""/>
        <p:cNvGrpSpPr/>
        <p:nvPr/>
      </p:nvGrpSpPr>
      <p:grpSpPr>
        <a:xfrm>
          <a:off x="0" y="0"/>
          <a:ext cx="0" cy="0"/>
          <a:chOff x="0" y="0"/>
          <a:chExt cx="0" cy="0"/>
        </a:xfrm>
      </p:grpSpPr>
      <p:sp>
        <p:nvSpPr>
          <p:cNvPr id="2" name="Freeform 2"/>
          <p:cNvSpPr/>
          <p:nvPr/>
        </p:nvSpPr>
        <p:spPr>
          <a:xfrm>
            <a:off x="6613465" y="3151537"/>
            <a:ext cx="5215004" cy="2940625"/>
          </a:xfrm>
          <a:custGeom>
            <a:avLst/>
            <a:gdLst/>
            <a:ahLst/>
            <a:cxnLst/>
            <a:rect l="l" t="t" r="r" b="b"/>
            <a:pathLst>
              <a:path w="5215004" h="2940625">
                <a:moveTo>
                  <a:pt x="0" y="0"/>
                </a:moveTo>
                <a:lnTo>
                  <a:pt x="5215004" y="0"/>
                </a:lnTo>
                <a:lnTo>
                  <a:pt x="5215004" y="2940624"/>
                </a:lnTo>
                <a:lnTo>
                  <a:pt x="0" y="2940624"/>
                </a:lnTo>
                <a:lnTo>
                  <a:pt x="0" y="0"/>
                </a:lnTo>
                <a:close/>
              </a:path>
            </a:pathLst>
          </a:custGeom>
          <a:blipFill>
            <a:blip>
              <a:extLst>
                <a:ext uri="{96DAC541-7B7A-43D3-8B79-37D633B846F1}">
                  <asvg:svgBlip xmlns:asvg="http://schemas.microsoft.com/office/drawing/2016/SVG/main" r:embed="rId2"/>
                </a:ext>
              </a:extLst>
            </a:blip>
            <a:stretch>
              <a:fillRect/>
            </a:stretch>
          </a:blipFill>
        </p:spPr>
      </p:sp>
      <p:sp>
        <p:nvSpPr>
          <p:cNvPr id="3" name="Freeform 3"/>
          <p:cNvSpPr/>
          <p:nvPr/>
        </p:nvSpPr>
        <p:spPr>
          <a:xfrm>
            <a:off x="6613465" y="6317675"/>
            <a:ext cx="5215004" cy="2940625"/>
          </a:xfrm>
          <a:custGeom>
            <a:avLst/>
            <a:gdLst/>
            <a:ahLst/>
            <a:cxnLst/>
            <a:rect l="l" t="t" r="r" b="b"/>
            <a:pathLst>
              <a:path w="5215004" h="2940625">
                <a:moveTo>
                  <a:pt x="0" y="0"/>
                </a:moveTo>
                <a:lnTo>
                  <a:pt x="5215004" y="0"/>
                </a:lnTo>
                <a:lnTo>
                  <a:pt x="5215004" y="2940625"/>
                </a:lnTo>
                <a:lnTo>
                  <a:pt x="0" y="2940625"/>
                </a:lnTo>
                <a:lnTo>
                  <a:pt x="0" y="0"/>
                </a:lnTo>
                <a:close/>
              </a:path>
            </a:pathLst>
          </a:custGeom>
          <a:blipFill>
            <a:blip>
              <a:extLst>
                <a:ext uri="{96DAC541-7B7A-43D3-8B79-37D633B846F1}">
                  <asvg:svgBlip xmlns:asvg="http://schemas.microsoft.com/office/drawing/2016/SVG/main" r:embed="rId3"/>
                </a:ext>
              </a:extLst>
            </a:blip>
            <a:stretch>
              <a:fillRect/>
            </a:stretch>
          </a:blipFill>
        </p:spPr>
      </p:sp>
      <p:sp>
        <p:nvSpPr>
          <p:cNvPr id="4" name="Freeform 4"/>
          <p:cNvSpPr/>
          <p:nvPr/>
        </p:nvSpPr>
        <p:spPr>
          <a:xfrm>
            <a:off x="12045820" y="3151537"/>
            <a:ext cx="5215004" cy="2940625"/>
          </a:xfrm>
          <a:custGeom>
            <a:avLst/>
            <a:gdLst/>
            <a:ahLst/>
            <a:cxnLst/>
            <a:rect l="l" t="t" r="r" b="b"/>
            <a:pathLst>
              <a:path w="5215004" h="2940625">
                <a:moveTo>
                  <a:pt x="0" y="0"/>
                </a:moveTo>
                <a:lnTo>
                  <a:pt x="5215004" y="0"/>
                </a:lnTo>
                <a:lnTo>
                  <a:pt x="5215004" y="2940624"/>
                </a:lnTo>
                <a:lnTo>
                  <a:pt x="0" y="2940624"/>
                </a:lnTo>
                <a:lnTo>
                  <a:pt x="0" y="0"/>
                </a:lnTo>
                <a:close/>
              </a:path>
            </a:pathLst>
          </a:custGeom>
          <a:blipFill>
            <a:blip>
              <a:extLst>
                <a:ext uri="{96DAC541-7B7A-43D3-8B79-37D633B846F1}">
                  <asvg:svgBlip xmlns:asvg="http://schemas.microsoft.com/office/drawing/2016/SVG/main" r:embed="rId4"/>
                </a:ext>
              </a:extLst>
            </a:blip>
            <a:stretch>
              <a:fillRect/>
            </a:stretch>
          </a:blipFill>
        </p:spPr>
      </p:sp>
      <p:sp>
        <p:nvSpPr>
          <p:cNvPr id="5" name="Freeform 5"/>
          <p:cNvSpPr/>
          <p:nvPr/>
        </p:nvSpPr>
        <p:spPr>
          <a:xfrm>
            <a:off x="12045820" y="6317675"/>
            <a:ext cx="5215004" cy="2940625"/>
          </a:xfrm>
          <a:custGeom>
            <a:avLst/>
            <a:gdLst/>
            <a:ahLst/>
            <a:cxnLst/>
            <a:rect l="l" t="t" r="r" b="b"/>
            <a:pathLst>
              <a:path w="5215004" h="2940625">
                <a:moveTo>
                  <a:pt x="0" y="0"/>
                </a:moveTo>
                <a:lnTo>
                  <a:pt x="5215004" y="0"/>
                </a:lnTo>
                <a:lnTo>
                  <a:pt x="5215004" y="2940625"/>
                </a:lnTo>
                <a:lnTo>
                  <a:pt x="0" y="2940625"/>
                </a:lnTo>
                <a:lnTo>
                  <a:pt x="0" y="0"/>
                </a:lnTo>
                <a:close/>
              </a:path>
            </a:pathLst>
          </a:custGeom>
          <a:blipFill>
            <a:blip>
              <a:extLst>
                <a:ext uri="{96DAC541-7B7A-43D3-8B79-37D633B846F1}">
                  <asvg:svgBlip xmlns:asvg="http://schemas.microsoft.com/office/drawing/2016/SVG/main" r:embed="rId5"/>
                </a:ext>
              </a:extLst>
            </a:blip>
            <a:stretch>
              <a:fillRect/>
            </a:stretch>
          </a:blipFill>
        </p:spPr>
      </p:sp>
      <p:grpSp>
        <p:nvGrpSpPr>
          <p:cNvPr id="6" name="Group 6"/>
          <p:cNvGrpSpPr/>
          <p:nvPr/>
        </p:nvGrpSpPr>
        <p:grpSpPr>
          <a:xfrm>
            <a:off x="0" y="3684146"/>
            <a:ext cx="5889565" cy="6602063"/>
            <a:chOff x="0" y="0"/>
            <a:chExt cx="7852753" cy="8802751"/>
          </a:xfrm>
        </p:grpSpPr>
        <p:sp>
          <p:nvSpPr>
            <p:cNvPr id="7" name="Freeform 7"/>
            <p:cNvSpPr/>
            <p:nvPr/>
          </p:nvSpPr>
          <p:spPr>
            <a:xfrm>
              <a:off x="0" y="0"/>
              <a:ext cx="7852791" cy="8802751"/>
            </a:xfrm>
            <a:custGeom>
              <a:avLst/>
              <a:gdLst/>
              <a:ahLst/>
              <a:cxnLst/>
              <a:rect l="l" t="t" r="r" b="b"/>
              <a:pathLst>
                <a:path w="7852791" h="8802751">
                  <a:moveTo>
                    <a:pt x="3026664" y="0"/>
                  </a:moveTo>
                  <a:cubicBezTo>
                    <a:pt x="2474214" y="0"/>
                    <a:pt x="1909826" y="110490"/>
                    <a:pt x="1416304" y="278892"/>
                  </a:cubicBezTo>
                  <a:cubicBezTo>
                    <a:pt x="897636" y="462153"/>
                    <a:pt x="419862" y="732663"/>
                    <a:pt x="0" y="1071118"/>
                  </a:cubicBezTo>
                  <a:lnTo>
                    <a:pt x="0" y="8802751"/>
                  </a:lnTo>
                  <a:lnTo>
                    <a:pt x="7852791" y="8802751"/>
                  </a:lnTo>
                  <a:lnTo>
                    <a:pt x="7852791" y="4735322"/>
                  </a:lnTo>
                  <a:cubicBezTo>
                    <a:pt x="7826629" y="2725547"/>
                    <a:pt x="6471666" y="947039"/>
                    <a:pt x="4631944" y="273558"/>
                  </a:cubicBezTo>
                  <a:cubicBezTo>
                    <a:pt x="4621530" y="268351"/>
                    <a:pt x="4611116" y="268351"/>
                    <a:pt x="4600702" y="263017"/>
                  </a:cubicBezTo>
                  <a:cubicBezTo>
                    <a:pt x="4110736" y="94742"/>
                    <a:pt x="3579114" y="0"/>
                    <a:pt x="3026664" y="0"/>
                  </a:cubicBezTo>
                  <a:close/>
                </a:path>
              </a:pathLst>
            </a:custGeom>
            <a:blipFill>
              <a:blip r:embed="rId6"/>
              <a:stretch>
                <a:fillRect l="-22979" t="-11" r="-79"/>
              </a:stretch>
            </a:blipFill>
          </p:spPr>
        </p:sp>
      </p:grpSp>
      <p:grpSp>
        <p:nvGrpSpPr>
          <p:cNvPr id="8" name="Group 8"/>
          <p:cNvGrpSpPr/>
          <p:nvPr/>
        </p:nvGrpSpPr>
        <p:grpSpPr>
          <a:xfrm>
            <a:off x="0" y="2561572"/>
            <a:ext cx="6272064" cy="8065632"/>
            <a:chOff x="0" y="0"/>
            <a:chExt cx="8168018" cy="10503755"/>
          </a:xfrm>
        </p:grpSpPr>
        <p:sp>
          <p:nvSpPr>
            <p:cNvPr id="9" name="Freeform 9"/>
            <p:cNvSpPr/>
            <p:nvPr/>
          </p:nvSpPr>
          <p:spPr>
            <a:xfrm>
              <a:off x="0" y="0"/>
              <a:ext cx="8168005" cy="10503691"/>
            </a:xfrm>
            <a:custGeom>
              <a:avLst/>
              <a:gdLst/>
              <a:ahLst/>
              <a:cxnLst/>
              <a:rect l="l" t="t" r="r" b="b"/>
              <a:pathLst>
                <a:path w="8168005" h="10503691">
                  <a:moveTo>
                    <a:pt x="381000" y="0"/>
                  </a:moveTo>
                  <a:cubicBezTo>
                    <a:pt x="279908" y="0"/>
                    <a:pt x="183007" y="40317"/>
                    <a:pt x="111633" y="112147"/>
                  </a:cubicBezTo>
                  <a:cubicBezTo>
                    <a:pt x="40259" y="183978"/>
                    <a:pt x="0" y="281197"/>
                    <a:pt x="0" y="382755"/>
                  </a:cubicBezTo>
                  <a:lnTo>
                    <a:pt x="0" y="10120936"/>
                  </a:lnTo>
                  <a:cubicBezTo>
                    <a:pt x="0" y="10222494"/>
                    <a:pt x="40132" y="10319841"/>
                    <a:pt x="111633" y="10391544"/>
                  </a:cubicBezTo>
                  <a:cubicBezTo>
                    <a:pt x="183134" y="10463247"/>
                    <a:pt x="280035" y="10503691"/>
                    <a:pt x="381000" y="10503691"/>
                  </a:cubicBezTo>
                  <a:lnTo>
                    <a:pt x="7787005" y="10503691"/>
                  </a:lnTo>
                  <a:cubicBezTo>
                    <a:pt x="7888098" y="10503691"/>
                    <a:pt x="7984999" y="10463375"/>
                    <a:pt x="8056373" y="10391544"/>
                  </a:cubicBezTo>
                  <a:cubicBezTo>
                    <a:pt x="8127747" y="10319714"/>
                    <a:pt x="8168005" y="10222367"/>
                    <a:pt x="8168005" y="10120936"/>
                  </a:cubicBezTo>
                  <a:lnTo>
                    <a:pt x="8168005" y="382755"/>
                  </a:lnTo>
                  <a:cubicBezTo>
                    <a:pt x="8168005" y="281197"/>
                    <a:pt x="8127874" y="183850"/>
                    <a:pt x="8056373" y="112147"/>
                  </a:cubicBezTo>
                  <a:cubicBezTo>
                    <a:pt x="7984872" y="40444"/>
                    <a:pt x="7888097" y="0"/>
                    <a:pt x="7787005" y="0"/>
                  </a:cubicBezTo>
                  <a:close/>
                </a:path>
              </a:pathLst>
            </a:custGeom>
            <a:blipFill>
              <a:blip r:embed="rId7"/>
              <a:stretch>
                <a:fillRect l="-214" t="-62" r="-214"/>
              </a:stretch>
            </a:blipFill>
          </p:spPr>
        </p:sp>
      </p:grpSp>
      <p:grpSp>
        <p:nvGrpSpPr>
          <p:cNvPr id="10" name="Group 10"/>
          <p:cNvGrpSpPr/>
          <p:nvPr/>
        </p:nvGrpSpPr>
        <p:grpSpPr>
          <a:xfrm>
            <a:off x="6613465" y="3151537"/>
            <a:ext cx="5213480" cy="2940625"/>
            <a:chOff x="0" y="0"/>
            <a:chExt cx="5213477" cy="2940621"/>
          </a:xfrm>
        </p:grpSpPr>
        <p:sp>
          <p:nvSpPr>
            <p:cNvPr id="11" name="Freeform 11"/>
            <p:cNvSpPr/>
            <p:nvPr/>
          </p:nvSpPr>
          <p:spPr>
            <a:xfrm>
              <a:off x="0" y="0"/>
              <a:ext cx="5213477" cy="2940559"/>
            </a:xfrm>
            <a:custGeom>
              <a:avLst/>
              <a:gdLst/>
              <a:ahLst/>
              <a:cxnLst/>
              <a:rect l="l" t="t" r="r" b="b"/>
              <a:pathLst>
                <a:path w="5213477" h="2940559">
                  <a:moveTo>
                    <a:pt x="0" y="2940559"/>
                  </a:moveTo>
                  <a:lnTo>
                    <a:pt x="5213477" y="2940559"/>
                  </a:lnTo>
                  <a:lnTo>
                    <a:pt x="5213477" y="0"/>
                  </a:lnTo>
                  <a:lnTo>
                    <a:pt x="0" y="0"/>
                  </a:lnTo>
                  <a:close/>
                </a:path>
              </a:pathLst>
            </a:custGeom>
            <a:solidFill>
              <a:srgbClr val="000000">
                <a:alpha val="0"/>
              </a:srgbClr>
            </a:solidFill>
          </p:spPr>
        </p:sp>
      </p:grpSp>
      <p:grpSp>
        <p:nvGrpSpPr>
          <p:cNvPr id="12" name="Group 12"/>
          <p:cNvGrpSpPr/>
          <p:nvPr/>
        </p:nvGrpSpPr>
        <p:grpSpPr>
          <a:xfrm>
            <a:off x="6613465" y="6317675"/>
            <a:ext cx="5213480" cy="2940625"/>
            <a:chOff x="0" y="0"/>
            <a:chExt cx="5213477" cy="2940622"/>
          </a:xfrm>
        </p:grpSpPr>
        <p:sp>
          <p:nvSpPr>
            <p:cNvPr id="13" name="Freeform 13"/>
            <p:cNvSpPr/>
            <p:nvPr/>
          </p:nvSpPr>
          <p:spPr>
            <a:xfrm>
              <a:off x="0" y="0"/>
              <a:ext cx="5213477" cy="2940559"/>
            </a:xfrm>
            <a:custGeom>
              <a:avLst/>
              <a:gdLst/>
              <a:ahLst/>
              <a:cxnLst/>
              <a:rect l="l" t="t" r="r" b="b"/>
              <a:pathLst>
                <a:path w="5213477" h="2940559">
                  <a:moveTo>
                    <a:pt x="0" y="2940559"/>
                  </a:moveTo>
                  <a:lnTo>
                    <a:pt x="5213477" y="2940559"/>
                  </a:lnTo>
                  <a:lnTo>
                    <a:pt x="5213477" y="0"/>
                  </a:lnTo>
                  <a:lnTo>
                    <a:pt x="0" y="0"/>
                  </a:lnTo>
                  <a:close/>
                </a:path>
              </a:pathLst>
            </a:custGeom>
            <a:solidFill>
              <a:srgbClr val="000000">
                <a:alpha val="0"/>
              </a:srgbClr>
            </a:solidFill>
          </p:spPr>
        </p:sp>
      </p:grpSp>
      <p:grpSp>
        <p:nvGrpSpPr>
          <p:cNvPr id="14" name="Group 14"/>
          <p:cNvGrpSpPr/>
          <p:nvPr/>
        </p:nvGrpSpPr>
        <p:grpSpPr>
          <a:xfrm>
            <a:off x="12045820" y="3151537"/>
            <a:ext cx="5213480" cy="2940625"/>
            <a:chOff x="0" y="0"/>
            <a:chExt cx="5213477" cy="2940621"/>
          </a:xfrm>
        </p:grpSpPr>
        <p:sp>
          <p:nvSpPr>
            <p:cNvPr id="15" name="Freeform 15"/>
            <p:cNvSpPr/>
            <p:nvPr/>
          </p:nvSpPr>
          <p:spPr>
            <a:xfrm>
              <a:off x="0" y="0"/>
              <a:ext cx="5213478" cy="2940559"/>
            </a:xfrm>
            <a:custGeom>
              <a:avLst/>
              <a:gdLst/>
              <a:ahLst/>
              <a:cxnLst/>
              <a:rect l="l" t="t" r="r" b="b"/>
              <a:pathLst>
                <a:path w="5213478" h="2940559">
                  <a:moveTo>
                    <a:pt x="0" y="2940559"/>
                  </a:moveTo>
                  <a:lnTo>
                    <a:pt x="5213478" y="2940559"/>
                  </a:lnTo>
                  <a:lnTo>
                    <a:pt x="5213478" y="0"/>
                  </a:lnTo>
                  <a:lnTo>
                    <a:pt x="0" y="0"/>
                  </a:lnTo>
                  <a:close/>
                </a:path>
              </a:pathLst>
            </a:custGeom>
            <a:solidFill>
              <a:srgbClr val="000000">
                <a:alpha val="0"/>
              </a:srgbClr>
            </a:solidFill>
          </p:spPr>
        </p:sp>
      </p:grpSp>
      <p:grpSp>
        <p:nvGrpSpPr>
          <p:cNvPr id="16" name="Group 16"/>
          <p:cNvGrpSpPr/>
          <p:nvPr/>
        </p:nvGrpSpPr>
        <p:grpSpPr>
          <a:xfrm>
            <a:off x="12045820" y="6317675"/>
            <a:ext cx="5213480" cy="2940625"/>
            <a:chOff x="0" y="0"/>
            <a:chExt cx="5213477" cy="2940622"/>
          </a:xfrm>
        </p:grpSpPr>
        <p:sp>
          <p:nvSpPr>
            <p:cNvPr id="17" name="Freeform 17"/>
            <p:cNvSpPr/>
            <p:nvPr/>
          </p:nvSpPr>
          <p:spPr>
            <a:xfrm>
              <a:off x="0" y="0"/>
              <a:ext cx="5213478" cy="2940559"/>
            </a:xfrm>
            <a:custGeom>
              <a:avLst/>
              <a:gdLst/>
              <a:ahLst/>
              <a:cxnLst/>
              <a:rect l="l" t="t" r="r" b="b"/>
              <a:pathLst>
                <a:path w="5213478" h="2940559">
                  <a:moveTo>
                    <a:pt x="0" y="2940559"/>
                  </a:moveTo>
                  <a:lnTo>
                    <a:pt x="5213478" y="2940559"/>
                  </a:lnTo>
                  <a:lnTo>
                    <a:pt x="5213478" y="0"/>
                  </a:lnTo>
                  <a:lnTo>
                    <a:pt x="0" y="0"/>
                  </a:lnTo>
                  <a:close/>
                </a:path>
              </a:pathLst>
            </a:custGeom>
            <a:solidFill>
              <a:srgbClr val="000000">
                <a:alpha val="0"/>
              </a:srgbClr>
            </a:solidFill>
          </p:spPr>
        </p:sp>
      </p:grpSp>
      <p:sp>
        <p:nvSpPr>
          <p:cNvPr id="18" name="TextBox 18"/>
          <p:cNvSpPr txBox="1"/>
          <p:nvPr/>
        </p:nvSpPr>
        <p:spPr>
          <a:xfrm>
            <a:off x="8733625" y="3854653"/>
            <a:ext cx="837076" cy="1693240"/>
          </a:xfrm>
          <a:prstGeom prst="rect">
            <a:avLst/>
          </a:prstGeom>
        </p:spPr>
        <p:txBody>
          <a:bodyPr lIns="0" tIns="0" rIns="0" bIns="0" rtlCol="0" anchor="t">
            <a:spAutoFit/>
          </a:bodyPr>
          <a:lstStyle/>
          <a:p>
            <a:pPr algn="l">
              <a:lnSpc>
                <a:spcPts val="9212"/>
              </a:lnSpc>
            </a:pPr>
            <a:r>
              <a:rPr lang="en-US" sz="6580" b="1">
                <a:solidFill>
                  <a:srgbClr val="F7F9FC"/>
                </a:solidFill>
                <a:latin typeface="Montserrat Bold"/>
                <a:ea typeface="Montserrat Bold"/>
                <a:cs typeface="Montserrat Bold"/>
                <a:sym typeface="Montserrat Bold"/>
              </a:rPr>
              <a:t>12 </a:t>
            </a:r>
          </a:p>
        </p:txBody>
      </p:sp>
      <p:sp>
        <p:nvSpPr>
          <p:cNvPr id="19" name="TextBox 19"/>
          <p:cNvSpPr txBox="1"/>
          <p:nvPr/>
        </p:nvSpPr>
        <p:spPr>
          <a:xfrm>
            <a:off x="8583120" y="6844817"/>
            <a:ext cx="1025452" cy="1692231"/>
          </a:xfrm>
          <a:prstGeom prst="rect">
            <a:avLst/>
          </a:prstGeom>
        </p:spPr>
        <p:txBody>
          <a:bodyPr lIns="0" tIns="0" rIns="0" bIns="0" rtlCol="0" anchor="t">
            <a:spAutoFit/>
          </a:bodyPr>
          <a:lstStyle/>
          <a:p>
            <a:pPr algn="l">
              <a:lnSpc>
                <a:spcPts val="9212"/>
              </a:lnSpc>
            </a:pPr>
            <a:r>
              <a:rPr lang="en-US" sz="6580" b="1">
                <a:solidFill>
                  <a:srgbClr val="F7F9FC"/>
                </a:solidFill>
                <a:latin typeface="Montserrat Bold"/>
                <a:ea typeface="Montserrat Bold"/>
                <a:cs typeface="Montserrat Bold"/>
                <a:sym typeface="Montserrat Bold"/>
              </a:rPr>
              <a:t>57 </a:t>
            </a:r>
          </a:p>
        </p:txBody>
      </p:sp>
      <p:sp>
        <p:nvSpPr>
          <p:cNvPr id="20" name="TextBox 20"/>
          <p:cNvSpPr txBox="1"/>
          <p:nvPr/>
        </p:nvSpPr>
        <p:spPr>
          <a:xfrm>
            <a:off x="14117174" y="3720417"/>
            <a:ext cx="1091936" cy="1728473"/>
          </a:xfrm>
          <a:prstGeom prst="rect">
            <a:avLst/>
          </a:prstGeom>
        </p:spPr>
        <p:txBody>
          <a:bodyPr lIns="0" tIns="0" rIns="0" bIns="0" rtlCol="0" anchor="t">
            <a:spAutoFit/>
          </a:bodyPr>
          <a:lstStyle/>
          <a:p>
            <a:pPr algn="l">
              <a:lnSpc>
                <a:spcPts val="9212"/>
              </a:lnSpc>
            </a:pPr>
            <a:r>
              <a:rPr lang="en-US" sz="6580" b="1">
                <a:solidFill>
                  <a:srgbClr val="F7F9FC"/>
                </a:solidFill>
                <a:latin typeface="Montserrat Bold"/>
                <a:ea typeface="Montserrat Bold"/>
                <a:cs typeface="Montserrat Bold"/>
                <a:sym typeface="Montserrat Bold"/>
              </a:rPr>
              <a:t>34 </a:t>
            </a:r>
          </a:p>
        </p:txBody>
      </p:sp>
      <p:sp>
        <p:nvSpPr>
          <p:cNvPr id="21" name="TextBox 21"/>
          <p:cNvSpPr txBox="1"/>
          <p:nvPr/>
        </p:nvSpPr>
        <p:spPr>
          <a:xfrm>
            <a:off x="13587822" y="7224360"/>
            <a:ext cx="2131000" cy="1730331"/>
          </a:xfrm>
          <a:prstGeom prst="rect">
            <a:avLst/>
          </a:prstGeom>
        </p:spPr>
        <p:txBody>
          <a:bodyPr lIns="0" tIns="0" rIns="0" bIns="0" rtlCol="0" anchor="t">
            <a:spAutoFit/>
          </a:bodyPr>
          <a:lstStyle/>
          <a:p>
            <a:pPr algn="ctr">
              <a:lnSpc>
                <a:spcPts val="9212"/>
              </a:lnSpc>
            </a:pPr>
            <a:r>
              <a:rPr lang="en-US" sz="6580" b="1">
                <a:solidFill>
                  <a:srgbClr val="F7F9FC"/>
                </a:solidFill>
                <a:latin typeface="Montserrat Bold"/>
                <a:ea typeface="Montserrat Bold"/>
                <a:cs typeface="Montserrat Bold"/>
                <a:sym typeface="Montserrat Bold"/>
              </a:rPr>
              <a:t>High</a:t>
            </a:r>
          </a:p>
        </p:txBody>
      </p:sp>
      <p:sp>
        <p:nvSpPr>
          <p:cNvPr id="22" name="TextBox 22"/>
          <p:cNvSpPr txBox="1"/>
          <p:nvPr/>
        </p:nvSpPr>
        <p:spPr>
          <a:xfrm>
            <a:off x="3277981" y="964882"/>
            <a:ext cx="12680090" cy="1140190"/>
          </a:xfrm>
          <a:prstGeom prst="rect">
            <a:avLst/>
          </a:prstGeom>
        </p:spPr>
        <p:txBody>
          <a:bodyPr lIns="0" tIns="0" rIns="0" bIns="0" rtlCol="0" anchor="t">
            <a:spAutoFit/>
          </a:bodyPr>
          <a:lstStyle/>
          <a:p>
            <a:pPr algn="l">
              <a:lnSpc>
                <a:spcPts val="9212"/>
              </a:lnSpc>
            </a:pPr>
            <a:r>
              <a:rPr lang="en-US" sz="6580" b="1">
                <a:solidFill>
                  <a:srgbClr val="F7F9FC"/>
                </a:solidFill>
                <a:latin typeface="Montserrat Bold"/>
                <a:ea typeface="Montserrat Bold"/>
                <a:cs typeface="Montserrat Bold"/>
                <a:sym typeface="Montserrat Bold"/>
              </a:rPr>
              <a:t>Competitor Density Analysis</a:t>
            </a:r>
          </a:p>
        </p:txBody>
      </p:sp>
      <p:sp>
        <p:nvSpPr>
          <p:cNvPr id="23" name="TextBox 23"/>
          <p:cNvSpPr txBox="1"/>
          <p:nvPr/>
        </p:nvSpPr>
        <p:spPr>
          <a:xfrm>
            <a:off x="8045082" y="5128946"/>
            <a:ext cx="2396985" cy="406860"/>
          </a:xfrm>
          <a:prstGeom prst="rect">
            <a:avLst/>
          </a:prstGeom>
        </p:spPr>
        <p:txBody>
          <a:bodyPr lIns="0" tIns="0" rIns="0" bIns="0" rtlCol="0" anchor="t">
            <a:spAutoFit/>
          </a:bodyPr>
          <a:lstStyle/>
          <a:p>
            <a:pPr algn="l">
              <a:lnSpc>
                <a:spcPts val="3277"/>
              </a:lnSpc>
            </a:pPr>
            <a:r>
              <a:rPr lang="en-US" sz="2340" b="1">
                <a:solidFill>
                  <a:srgbClr val="F7F9FC"/>
                </a:solidFill>
                <a:latin typeface="Open Sans Bold"/>
                <a:ea typeface="Open Sans Bold"/>
                <a:cs typeface="Open Sans Bold"/>
                <a:sym typeface="Open Sans Bold"/>
              </a:rPr>
              <a:t>Rivals</a:t>
            </a:r>
            <a:r>
              <a:rPr lang="en-US" sz="2340" b="1">
                <a:solidFill>
                  <a:srgbClr val="000000"/>
                </a:solidFill>
                <a:latin typeface="Open Sans Bold"/>
                <a:ea typeface="Open Sans Bold"/>
                <a:cs typeface="Open Sans Bold"/>
                <a:sym typeface="Open Sans Bold"/>
              </a:rPr>
              <a:t> </a:t>
            </a:r>
            <a:r>
              <a:rPr lang="en-US" sz="2340" b="1">
                <a:solidFill>
                  <a:srgbClr val="F7F9FC"/>
                </a:solidFill>
                <a:latin typeface="Open Sans Bold"/>
                <a:ea typeface="Open Sans Bold"/>
                <a:cs typeface="Open Sans Bold"/>
                <a:sym typeface="Open Sans Bold"/>
              </a:rPr>
              <a:t>(0–300</a:t>
            </a:r>
            <a:r>
              <a:rPr lang="en-US" sz="2340" b="1">
                <a:solidFill>
                  <a:srgbClr val="000000"/>
                </a:solidFill>
                <a:latin typeface="Open Sans Bold"/>
                <a:ea typeface="Open Sans Bold"/>
                <a:cs typeface="Open Sans Bold"/>
                <a:sym typeface="Open Sans Bold"/>
              </a:rPr>
              <a:t> </a:t>
            </a:r>
            <a:r>
              <a:rPr lang="en-US" sz="2340" b="1">
                <a:solidFill>
                  <a:srgbClr val="F7F9FC"/>
                </a:solidFill>
                <a:latin typeface="Open Sans Bold"/>
                <a:ea typeface="Open Sans Bold"/>
                <a:cs typeface="Open Sans Bold"/>
                <a:sym typeface="Open Sans Bold"/>
              </a:rPr>
              <a:t>m)</a:t>
            </a:r>
          </a:p>
        </p:txBody>
      </p:sp>
      <p:sp>
        <p:nvSpPr>
          <p:cNvPr id="24" name="TextBox 24"/>
          <p:cNvSpPr txBox="1"/>
          <p:nvPr/>
        </p:nvSpPr>
        <p:spPr>
          <a:xfrm>
            <a:off x="7991361" y="8118100"/>
            <a:ext cx="2506666" cy="406860"/>
          </a:xfrm>
          <a:prstGeom prst="rect">
            <a:avLst/>
          </a:prstGeom>
        </p:spPr>
        <p:txBody>
          <a:bodyPr lIns="0" tIns="0" rIns="0" bIns="0" rtlCol="0" anchor="t">
            <a:spAutoFit/>
          </a:bodyPr>
          <a:lstStyle/>
          <a:p>
            <a:pPr algn="l">
              <a:lnSpc>
                <a:spcPts val="3277"/>
              </a:lnSpc>
            </a:pPr>
            <a:r>
              <a:rPr lang="en-US" sz="2340" b="1">
                <a:solidFill>
                  <a:srgbClr val="F7F9FC"/>
                </a:solidFill>
                <a:latin typeface="Open Sans Bold"/>
                <a:ea typeface="Open Sans Bold"/>
                <a:cs typeface="Open Sans Bold"/>
                <a:sym typeface="Open Sans Bold"/>
              </a:rPr>
              <a:t>Listings</a:t>
            </a:r>
            <a:r>
              <a:rPr lang="en-US" sz="2340" b="1">
                <a:solidFill>
                  <a:srgbClr val="000000"/>
                </a:solidFill>
                <a:latin typeface="Open Sans Bold"/>
                <a:ea typeface="Open Sans Bold"/>
                <a:cs typeface="Open Sans Bold"/>
                <a:sym typeface="Open Sans Bold"/>
              </a:rPr>
              <a:t> </a:t>
            </a:r>
            <a:r>
              <a:rPr lang="en-US" sz="2340" b="1">
                <a:solidFill>
                  <a:srgbClr val="F7F9FC"/>
                </a:solidFill>
                <a:latin typeface="Open Sans Bold"/>
                <a:ea typeface="Open Sans Bold"/>
                <a:cs typeface="Open Sans Bold"/>
                <a:sym typeface="Open Sans Bold"/>
              </a:rPr>
              <a:t>(2–5</a:t>
            </a:r>
            <a:r>
              <a:rPr lang="en-US" sz="2340" b="1">
                <a:solidFill>
                  <a:srgbClr val="000000"/>
                </a:solidFill>
                <a:latin typeface="Open Sans Bold"/>
                <a:ea typeface="Open Sans Bold"/>
                <a:cs typeface="Open Sans Bold"/>
                <a:sym typeface="Open Sans Bold"/>
              </a:rPr>
              <a:t> </a:t>
            </a:r>
            <a:r>
              <a:rPr lang="en-US" sz="2340" b="1">
                <a:solidFill>
                  <a:srgbClr val="F7F9FC"/>
                </a:solidFill>
                <a:latin typeface="Open Sans Bold"/>
                <a:ea typeface="Open Sans Bold"/>
                <a:cs typeface="Open Sans Bold"/>
                <a:sym typeface="Open Sans Bold"/>
              </a:rPr>
              <a:t>km)</a:t>
            </a:r>
          </a:p>
        </p:txBody>
      </p:sp>
      <p:sp>
        <p:nvSpPr>
          <p:cNvPr id="25" name="TextBox 25"/>
          <p:cNvSpPr txBox="1"/>
          <p:nvPr/>
        </p:nvSpPr>
        <p:spPr>
          <a:xfrm>
            <a:off x="13288680" y="5029943"/>
            <a:ext cx="2882656" cy="406860"/>
          </a:xfrm>
          <a:prstGeom prst="rect">
            <a:avLst/>
          </a:prstGeom>
        </p:spPr>
        <p:txBody>
          <a:bodyPr lIns="0" tIns="0" rIns="0" bIns="0" rtlCol="0" anchor="t">
            <a:spAutoFit/>
          </a:bodyPr>
          <a:lstStyle/>
          <a:p>
            <a:pPr algn="l">
              <a:lnSpc>
                <a:spcPts val="3277"/>
              </a:lnSpc>
            </a:pPr>
            <a:r>
              <a:rPr lang="en-US" sz="2340" b="1">
                <a:solidFill>
                  <a:srgbClr val="F7F9FC"/>
                </a:solidFill>
                <a:latin typeface="Open Sans Bold"/>
                <a:ea typeface="Open Sans Bold"/>
                <a:cs typeface="Open Sans Bold"/>
                <a:sym typeface="Open Sans Bold"/>
              </a:rPr>
              <a:t>Rivals</a:t>
            </a:r>
            <a:r>
              <a:rPr lang="en-US" sz="2340" b="1">
                <a:solidFill>
                  <a:srgbClr val="000000"/>
                </a:solidFill>
                <a:latin typeface="Open Sans Bold"/>
                <a:ea typeface="Open Sans Bold"/>
                <a:cs typeface="Open Sans Bold"/>
                <a:sym typeface="Open Sans Bold"/>
              </a:rPr>
              <a:t> </a:t>
            </a:r>
            <a:r>
              <a:rPr lang="en-US" sz="2340" b="1">
                <a:solidFill>
                  <a:srgbClr val="F7F9FC"/>
                </a:solidFill>
                <a:latin typeface="Open Sans Bold"/>
                <a:ea typeface="Open Sans Bold"/>
                <a:cs typeface="Open Sans Bold"/>
                <a:sym typeface="Open Sans Bold"/>
              </a:rPr>
              <a:t>(300m–2</a:t>
            </a:r>
            <a:r>
              <a:rPr lang="en-US" sz="2340" b="1">
                <a:solidFill>
                  <a:srgbClr val="000000"/>
                </a:solidFill>
                <a:latin typeface="Open Sans Bold"/>
                <a:ea typeface="Open Sans Bold"/>
                <a:cs typeface="Open Sans Bold"/>
                <a:sym typeface="Open Sans Bold"/>
              </a:rPr>
              <a:t> </a:t>
            </a:r>
            <a:r>
              <a:rPr lang="en-US" sz="2340" b="1">
                <a:solidFill>
                  <a:srgbClr val="F7F9FC"/>
                </a:solidFill>
                <a:latin typeface="Open Sans Bold"/>
                <a:ea typeface="Open Sans Bold"/>
                <a:cs typeface="Open Sans Bold"/>
                <a:sym typeface="Open Sans Bold"/>
              </a:rPr>
              <a:t>km)</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172B4D"/>
        </a:solidFill>
        <a:effectLst/>
      </p:bgPr>
    </p:bg>
    <p:spTree>
      <p:nvGrpSpPr>
        <p:cNvPr id="1" name=""/>
        <p:cNvGrpSpPr/>
        <p:nvPr/>
      </p:nvGrpSpPr>
      <p:grpSpPr>
        <a:xfrm>
          <a:off x="0" y="0"/>
          <a:ext cx="0" cy="0"/>
          <a:chOff x="0" y="0"/>
          <a:chExt cx="0" cy="0"/>
        </a:xfrm>
      </p:grpSpPr>
      <p:grpSp>
        <p:nvGrpSpPr>
          <p:cNvPr id="2" name="Group 2"/>
          <p:cNvGrpSpPr/>
          <p:nvPr/>
        </p:nvGrpSpPr>
        <p:grpSpPr>
          <a:xfrm>
            <a:off x="0" y="5412781"/>
            <a:ext cx="9363732" cy="4874219"/>
            <a:chOff x="0" y="0"/>
            <a:chExt cx="12484976" cy="6498958"/>
          </a:xfrm>
        </p:grpSpPr>
        <p:sp>
          <p:nvSpPr>
            <p:cNvPr id="3" name="Freeform 3"/>
            <p:cNvSpPr/>
            <p:nvPr/>
          </p:nvSpPr>
          <p:spPr>
            <a:xfrm>
              <a:off x="0" y="0"/>
              <a:ext cx="12484989" cy="6498971"/>
            </a:xfrm>
            <a:custGeom>
              <a:avLst/>
              <a:gdLst/>
              <a:ahLst/>
              <a:cxnLst/>
              <a:rect l="l" t="t" r="r" b="b"/>
              <a:pathLst>
                <a:path w="12484989" h="6498971">
                  <a:moveTo>
                    <a:pt x="5788914" y="0"/>
                  </a:moveTo>
                  <a:cubicBezTo>
                    <a:pt x="3345434" y="0"/>
                    <a:pt x="1170305" y="1367790"/>
                    <a:pt x="0" y="3367278"/>
                  </a:cubicBezTo>
                  <a:lnTo>
                    <a:pt x="0" y="6498971"/>
                  </a:lnTo>
                  <a:lnTo>
                    <a:pt x="2816479" y="6498971"/>
                  </a:lnTo>
                  <a:cubicBezTo>
                    <a:pt x="2922397" y="4966335"/>
                    <a:pt x="4233291" y="3719830"/>
                    <a:pt x="5788914" y="3719830"/>
                  </a:cubicBezTo>
                  <a:cubicBezTo>
                    <a:pt x="7344537" y="3719830"/>
                    <a:pt x="8655431" y="4966335"/>
                    <a:pt x="8761349" y="6498971"/>
                  </a:cubicBezTo>
                  <a:lnTo>
                    <a:pt x="12484989" y="6498971"/>
                  </a:lnTo>
                  <a:cubicBezTo>
                    <a:pt x="12375896" y="2939288"/>
                    <a:pt x="9370949" y="0"/>
                    <a:pt x="5788914" y="0"/>
                  </a:cubicBezTo>
                  <a:close/>
                </a:path>
              </a:pathLst>
            </a:custGeom>
            <a:blipFill>
              <a:blip r:embed="rId2"/>
              <a:stretch>
                <a:fillRect l="-7290" r="-24" b="-3079"/>
              </a:stretch>
            </a:blipFill>
          </p:spPr>
        </p:sp>
      </p:grpSp>
      <p:grpSp>
        <p:nvGrpSpPr>
          <p:cNvPr id="4" name="Group 4"/>
          <p:cNvGrpSpPr/>
          <p:nvPr/>
        </p:nvGrpSpPr>
        <p:grpSpPr>
          <a:xfrm>
            <a:off x="1028700" y="1028700"/>
            <a:ext cx="8337328" cy="8147437"/>
            <a:chOff x="0" y="0"/>
            <a:chExt cx="11116437" cy="10863250"/>
          </a:xfrm>
        </p:grpSpPr>
        <p:sp>
          <p:nvSpPr>
            <p:cNvPr id="5" name="Freeform 5"/>
            <p:cNvSpPr/>
            <p:nvPr/>
          </p:nvSpPr>
          <p:spPr>
            <a:xfrm>
              <a:off x="0" y="0"/>
              <a:ext cx="11116437" cy="10863199"/>
            </a:xfrm>
            <a:custGeom>
              <a:avLst/>
              <a:gdLst/>
              <a:ahLst/>
              <a:cxnLst/>
              <a:rect l="l" t="t" r="r" b="b"/>
              <a:pathLst>
                <a:path w="11116437" h="10863199">
                  <a:moveTo>
                    <a:pt x="381000" y="0"/>
                  </a:moveTo>
                  <a:cubicBezTo>
                    <a:pt x="170561" y="0"/>
                    <a:pt x="0" y="170561"/>
                    <a:pt x="0" y="381000"/>
                  </a:cubicBezTo>
                  <a:lnTo>
                    <a:pt x="0" y="10482199"/>
                  </a:lnTo>
                  <a:cubicBezTo>
                    <a:pt x="0" y="10692638"/>
                    <a:pt x="170561" y="10863199"/>
                    <a:pt x="381000" y="10863199"/>
                  </a:cubicBezTo>
                  <a:lnTo>
                    <a:pt x="10735437" y="10863199"/>
                  </a:lnTo>
                  <a:cubicBezTo>
                    <a:pt x="10945876" y="10863199"/>
                    <a:pt x="11116437" y="10692638"/>
                    <a:pt x="11116437" y="10482199"/>
                  </a:cubicBezTo>
                  <a:lnTo>
                    <a:pt x="11116437" y="381000"/>
                  </a:lnTo>
                  <a:cubicBezTo>
                    <a:pt x="11116437" y="170561"/>
                    <a:pt x="10945876" y="0"/>
                    <a:pt x="10735437" y="0"/>
                  </a:cubicBezTo>
                  <a:close/>
                </a:path>
              </a:pathLst>
            </a:custGeom>
            <a:blipFill>
              <a:blip r:embed="rId3"/>
              <a:stretch>
                <a:fillRect t="-333" r="-12" b="-447"/>
              </a:stretch>
            </a:blipFill>
          </p:spPr>
        </p:sp>
      </p:grpSp>
      <p:sp>
        <p:nvSpPr>
          <p:cNvPr id="6" name="TextBox 6"/>
          <p:cNvSpPr txBox="1"/>
          <p:nvPr/>
        </p:nvSpPr>
        <p:spPr>
          <a:xfrm>
            <a:off x="10396833" y="1700251"/>
            <a:ext cx="6837140" cy="2194922"/>
          </a:xfrm>
          <a:prstGeom prst="rect">
            <a:avLst/>
          </a:prstGeom>
        </p:spPr>
        <p:txBody>
          <a:bodyPr lIns="0" tIns="0" rIns="0" bIns="0" rtlCol="0" anchor="t">
            <a:spAutoFit/>
          </a:bodyPr>
          <a:lstStyle/>
          <a:p>
            <a:pPr algn="l">
              <a:lnSpc>
                <a:spcPts val="8400"/>
              </a:lnSpc>
            </a:pPr>
            <a:r>
              <a:rPr lang="en-US" sz="8493" b="1">
                <a:solidFill>
                  <a:srgbClr val="F7F9FC"/>
                </a:solidFill>
                <a:latin typeface="Montserrat Bold"/>
                <a:ea typeface="Montserrat Bold"/>
                <a:cs typeface="Montserrat Bold"/>
                <a:sym typeface="Montserrat Bold"/>
              </a:rPr>
              <a:t>Location</a:t>
            </a:r>
          </a:p>
          <a:p>
            <a:pPr algn="l">
              <a:lnSpc>
                <a:spcPts val="8400"/>
              </a:lnSpc>
            </a:pPr>
            <a:r>
              <a:rPr lang="en-US" sz="8493" b="1">
                <a:solidFill>
                  <a:srgbClr val="F7F9FC"/>
                </a:solidFill>
                <a:latin typeface="Montserrat Bold"/>
                <a:ea typeface="Montserrat Bold"/>
                <a:cs typeface="Montserrat Bold"/>
                <a:sym typeface="Montserrat Bold"/>
              </a:rPr>
              <a:t>Intelligence</a:t>
            </a:r>
          </a:p>
        </p:txBody>
      </p:sp>
      <p:sp>
        <p:nvSpPr>
          <p:cNvPr id="7" name="TextBox 7"/>
          <p:cNvSpPr txBox="1"/>
          <p:nvPr/>
        </p:nvSpPr>
        <p:spPr>
          <a:xfrm>
            <a:off x="11397729" y="4072490"/>
            <a:ext cx="82725" cy="425406"/>
          </a:xfrm>
          <a:prstGeom prst="rect">
            <a:avLst/>
          </a:prstGeom>
        </p:spPr>
        <p:txBody>
          <a:bodyPr lIns="0" tIns="0" rIns="0" bIns="0" rtlCol="0" anchor="t">
            <a:spAutoFit/>
          </a:bodyPr>
          <a:lstStyle/>
          <a:p>
            <a:pPr algn="l">
              <a:lnSpc>
                <a:spcPts val="3441"/>
              </a:lnSpc>
            </a:pPr>
            <a:r>
              <a:rPr lang="en-US" sz="2458">
                <a:solidFill>
                  <a:srgbClr val="F7F9FC"/>
                </a:solidFill>
                <a:latin typeface="Open Sans"/>
                <a:ea typeface="Open Sans"/>
                <a:cs typeface="Open Sans"/>
                <a:sym typeface="Open Sans"/>
              </a:rPr>
              <a:t> </a:t>
            </a:r>
          </a:p>
        </p:txBody>
      </p:sp>
      <p:sp>
        <p:nvSpPr>
          <p:cNvPr id="8" name="TextBox 8"/>
          <p:cNvSpPr txBox="1"/>
          <p:nvPr/>
        </p:nvSpPr>
        <p:spPr>
          <a:xfrm>
            <a:off x="10396833" y="4072490"/>
            <a:ext cx="6502679" cy="425406"/>
          </a:xfrm>
          <a:prstGeom prst="rect">
            <a:avLst/>
          </a:prstGeom>
        </p:spPr>
        <p:txBody>
          <a:bodyPr lIns="0" tIns="0" rIns="0" bIns="0" rtlCol="0" anchor="t">
            <a:spAutoFit/>
          </a:bodyPr>
          <a:lstStyle/>
          <a:p>
            <a:pPr algn="l">
              <a:lnSpc>
                <a:spcPts val="3441"/>
              </a:lnSpc>
            </a:pPr>
            <a:r>
              <a:rPr lang="en-US" sz="2458">
                <a:solidFill>
                  <a:srgbClr val="F7F9FC"/>
                </a:solidFill>
                <a:latin typeface="Open Sans"/>
                <a:ea typeface="Open Sans"/>
                <a:cs typeface="Open Sans"/>
                <a:sym typeface="Open Sans"/>
              </a:rPr>
              <a:t>LOCUSAIaggregates localmarket signals—</a:t>
            </a:r>
          </a:p>
        </p:txBody>
      </p:sp>
      <p:sp>
        <p:nvSpPr>
          <p:cNvPr id="9" name="TextBox 9"/>
          <p:cNvSpPr txBox="1"/>
          <p:nvPr/>
        </p:nvSpPr>
        <p:spPr>
          <a:xfrm>
            <a:off x="10396833" y="4510640"/>
            <a:ext cx="7317115" cy="3416256"/>
          </a:xfrm>
          <a:prstGeom prst="rect">
            <a:avLst/>
          </a:prstGeom>
        </p:spPr>
        <p:txBody>
          <a:bodyPr lIns="0" tIns="0" rIns="0" bIns="0" rtlCol="0" anchor="t">
            <a:spAutoFit/>
          </a:bodyPr>
          <a:lstStyle/>
          <a:p>
            <a:pPr algn="l">
              <a:lnSpc>
                <a:spcPts val="3375"/>
              </a:lnSpc>
            </a:pPr>
            <a:r>
              <a:rPr lang="en-US" sz="2458">
                <a:solidFill>
                  <a:srgbClr val="F7F9FC"/>
                </a:solidFill>
                <a:latin typeface="Open Sans"/>
                <a:ea typeface="Open Sans"/>
                <a:cs typeface="Open Sans"/>
                <a:sym typeface="Open Sans"/>
              </a:rPr>
              <a:t>competitor density, foot traffic patterns, commercial activity, and customer suitability — across three distance bands around your chosen outlet. Each signal is weighted and combined into a clear location score, giving small business owners the evidence they need to make a confident go/no-go decision before committing a single rupee to rent or setup costs.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172B4D"/>
        </a:solidFill>
        <a:effectLst/>
      </p:bgPr>
    </p:bg>
    <p:spTree>
      <p:nvGrpSpPr>
        <p:cNvPr id="1" name=""/>
        <p:cNvGrpSpPr/>
        <p:nvPr/>
      </p:nvGrpSpPr>
      <p:grpSpPr>
        <a:xfrm>
          <a:off x="0" y="0"/>
          <a:ext cx="0" cy="0"/>
          <a:chOff x="0" y="0"/>
          <a:chExt cx="0" cy="0"/>
        </a:xfrm>
      </p:grpSpPr>
      <p:grpSp>
        <p:nvGrpSpPr>
          <p:cNvPr id="2" name="Group 2"/>
          <p:cNvGrpSpPr/>
          <p:nvPr/>
        </p:nvGrpSpPr>
        <p:grpSpPr>
          <a:xfrm>
            <a:off x="0" y="5412781"/>
            <a:ext cx="9363732" cy="4874219"/>
            <a:chOff x="0" y="0"/>
            <a:chExt cx="12484976" cy="6498958"/>
          </a:xfrm>
        </p:grpSpPr>
        <p:sp>
          <p:nvSpPr>
            <p:cNvPr id="3" name="Freeform 3"/>
            <p:cNvSpPr/>
            <p:nvPr/>
          </p:nvSpPr>
          <p:spPr>
            <a:xfrm>
              <a:off x="0" y="0"/>
              <a:ext cx="12484989" cy="6498971"/>
            </a:xfrm>
            <a:custGeom>
              <a:avLst/>
              <a:gdLst/>
              <a:ahLst/>
              <a:cxnLst/>
              <a:rect l="l" t="t" r="r" b="b"/>
              <a:pathLst>
                <a:path w="12484989" h="6498971">
                  <a:moveTo>
                    <a:pt x="5788914" y="0"/>
                  </a:moveTo>
                  <a:cubicBezTo>
                    <a:pt x="3345434" y="0"/>
                    <a:pt x="1170305" y="1367790"/>
                    <a:pt x="0" y="3367278"/>
                  </a:cubicBezTo>
                  <a:lnTo>
                    <a:pt x="0" y="6498971"/>
                  </a:lnTo>
                  <a:lnTo>
                    <a:pt x="2816479" y="6498971"/>
                  </a:lnTo>
                  <a:cubicBezTo>
                    <a:pt x="2922397" y="4966335"/>
                    <a:pt x="4233291" y="3719830"/>
                    <a:pt x="5788914" y="3719830"/>
                  </a:cubicBezTo>
                  <a:cubicBezTo>
                    <a:pt x="7344537" y="3719830"/>
                    <a:pt x="8655431" y="4966335"/>
                    <a:pt x="8761349" y="6498971"/>
                  </a:cubicBezTo>
                  <a:lnTo>
                    <a:pt x="12484989" y="6498971"/>
                  </a:lnTo>
                  <a:cubicBezTo>
                    <a:pt x="12375896" y="2939288"/>
                    <a:pt x="9370949" y="0"/>
                    <a:pt x="5788914" y="0"/>
                  </a:cubicBezTo>
                  <a:close/>
                </a:path>
              </a:pathLst>
            </a:custGeom>
            <a:blipFill>
              <a:blip r:embed="rId2"/>
              <a:stretch>
                <a:fillRect l="-7290" r="-24" b="-3079"/>
              </a:stretch>
            </a:blipFill>
          </p:spPr>
        </p:sp>
      </p:grpSp>
      <p:sp>
        <p:nvSpPr>
          <p:cNvPr id="4" name="Freeform 4"/>
          <p:cNvSpPr/>
          <p:nvPr/>
        </p:nvSpPr>
        <p:spPr>
          <a:xfrm>
            <a:off x="0" y="0"/>
            <a:ext cx="5192686" cy="10287000"/>
          </a:xfrm>
          <a:custGeom>
            <a:avLst/>
            <a:gdLst/>
            <a:ahLst/>
            <a:cxnLst/>
            <a:rect l="l" t="t" r="r" b="b"/>
            <a:pathLst>
              <a:path w="5192686" h="10287000">
                <a:moveTo>
                  <a:pt x="0" y="0"/>
                </a:moveTo>
                <a:lnTo>
                  <a:pt x="5192686" y="0"/>
                </a:lnTo>
                <a:lnTo>
                  <a:pt x="5192686" y="10287000"/>
                </a:lnTo>
                <a:lnTo>
                  <a:pt x="0" y="10287000"/>
                </a:lnTo>
                <a:lnTo>
                  <a:pt x="0" y="0"/>
                </a:lnTo>
                <a:close/>
              </a:path>
            </a:pathLst>
          </a:custGeom>
          <a:blipFill>
            <a:blip r:embed="rId3"/>
            <a:stretch>
              <a:fillRect l="-640" r="-640"/>
            </a:stretch>
          </a:blipFill>
        </p:spPr>
      </p:sp>
      <p:sp>
        <p:nvSpPr>
          <p:cNvPr id="5" name="Freeform 5"/>
          <p:cNvSpPr/>
          <p:nvPr/>
        </p:nvSpPr>
        <p:spPr>
          <a:xfrm>
            <a:off x="13022289" y="0"/>
            <a:ext cx="5265711" cy="10287000"/>
          </a:xfrm>
          <a:custGeom>
            <a:avLst/>
            <a:gdLst/>
            <a:ahLst/>
            <a:cxnLst/>
            <a:rect l="l" t="t" r="r" b="b"/>
            <a:pathLst>
              <a:path w="5265711" h="10287000">
                <a:moveTo>
                  <a:pt x="0" y="0"/>
                </a:moveTo>
                <a:lnTo>
                  <a:pt x="5265711" y="0"/>
                </a:lnTo>
                <a:lnTo>
                  <a:pt x="5265711" y="10287000"/>
                </a:lnTo>
                <a:lnTo>
                  <a:pt x="0" y="10287000"/>
                </a:lnTo>
                <a:lnTo>
                  <a:pt x="0" y="0"/>
                </a:lnTo>
                <a:close/>
              </a:path>
            </a:pathLst>
          </a:custGeom>
          <a:blipFill>
            <a:blip r:embed="rId4"/>
            <a:stretch>
              <a:fillRect l="-6243" r="-5870"/>
            </a:stretch>
          </a:blipFill>
        </p:spPr>
      </p:sp>
      <p:sp>
        <p:nvSpPr>
          <p:cNvPr id="6" name="TextBox 6"/>
          <p:cNvSpPr txBox="1"/>
          <p:nvPr/>
        </p:nvSpPr>
        <p:spPr>
          <a:xfrm>
            <a:off x="5638628" y="3401707"/>
            <a:ext cx="7317115" cy="1341565"/>
          </a:xfrm>
          <a:prstGeom prst="rect">
            <a:avLst/>
          </a:prstGeom>
        </p:spPr>
        <p:txBody>
          <a:bodyPr lIns="0" tIns="0" rIns="0" bIns="0" rtlCol="0" anchor="t">
            <a:spAutoFit/>
          </a:bodyPr>
          <a:lstStyle/>
          <a:p>
            <a:pPr algn="l">
              <a:lnSpc>
                <a:spcPts val="3461"/>
              </a:lnSpc>
            </a:pPr>
            <a:r>
              <a:rPr lang="en-US" sz="3500" b="1" dirty="0">
                <a:solidFill>
                  <a:srgbClr val="F7F9FC"/>
                </a:solidFill>
                <a:latin typeface="Montserrat Bold"/>
                <a:ea typeface="Montserrat Bold"/>
                <a:cs typeface="Montserrat Bold"/>
                <a:sym typeface="Montserrat Bold"/>
              </a:rPr>
              <a:t>Street Scan – Ground-Level Validation</a:t>
            </a:r>
          </a:p>
          <a:p>
            <a:pPr algn="l">
              <a:lnSpc>
                <a:spcPts val="3461"/>
              </a:lnSpc>
            </a:pPr>
            <a:endParaRPr lang="en-US" sz="3500" b="1" dirty="0">
              <a:solidFill>
                <a:srgbClr val="F7F9FC"/>
              </a:solidFill>
              <a:latin typeface="Montserrat Bold"/>
              <a:ea typeface="Montserrat Bold"/>
              <a:cs typeface="Montserrat Bold"/>
              <a:sym typeface="Montserrat Bold"/>
            </a:endParaRPr>
          </a:p>
        </p:txBody>
      </p:sp>
      <p:sp>
        <p:nvSpPr>
          <p:cNvPr id="7" name="TextBox 7"/>
          <p:cNvSpPr txBox="1"/>
          <p:nvPr/>
        </p:nvSpPr>
        <p:spPr>
          <a:xfrm>
            <a:off x="10202704" y="4072490"/>
            <a:ext cx="82725" cy="425406"/>
          </a:xfrm>
          <a:prstGeom prst="rect">
            <a:avLst/>
          </a:prstGeom>
        </p:spPr>
        <p:txBody>
          <a:bodyPr lIns="0" tIns="0" rIns="0" bIns="0" rtlCol="0" anchor="t">
            <a:spAutoFit/>
          </a:bodyPr>
          <a:lstStyle/>
          <a:p>
            <a:pPr algn="l">
              <a:lnSpc>
                <a:spcPts val="3441"/>
              </a:lnSpc>
            </a:pPr>
            <a:r>
              <a:rPr lang="en-US" sz="2458">
                <a:solidFill>
                  <a:srgbClr val="F7F9FC"/>
                </a:solidFill>
                <a:latin typeface="Open Sans"/>
                <a:ea typeface="Open Sans"/>
                <a:cs typeface="Open Sans"/>
                <a:sym typeface="Open Sans"/>
              </a:rPr>
              <a:t> </a:t>
            </a:r>
          </a:p>
        </p:txBody>
      </p:sp>
      <p:sp>
        <p:nvSpPr>
          <p:cNvPr id="8" name="TextBox 8"/>
          <p:cNvSpPr txBox="1"/>
          <p:nvPr/>
        </p:nvSpPr>
        <p:spPr>
          <a:xfrm>
            <a:off x="5382384" y="4459796"/>
            <a:ext cx="7383661" cy="2756204"/>
          </a:xfrm>
          <a:prstGeom prst="rect">
            <a:avLst/>
          </a:prstGeom>
        </p:spPr>
        <p:txBody>
          <a:bodyPr lIns="0" tIns="0" rIns="0" bIns="0" rtlCol="0" anchor="t">
            <a:spAutoFit/>
          </a:bodyPr>
          <a:lstStyle/>
          <a:p>
            <a:pPr marL="474979" lvl="1" indent="-237490" algn="l">
              <a:lnSpc>
                <a:spcPts val="3079"/>
              </a:lnSpc>
              <a:buFont typeface="Arial"/>
              <a:buChar char="•"/>
            </a:pPr>
            <a:r>
              <a:rPr lang="en-US" sz="2199" dirty="0">
                <a:solidFill>
                  <a:srgbClr val="F7F9FC"/>
                </a:solidFill>
                <a:latin typeface="Open Sans"/>
                <a:ea typeface="Open Sans"/>
                <a:cs typeface="Open Sans"/>
                <a:sym typeface="Open Sans"/>
              </a:rPr>
              <a:t>Upload 30–60 second street videos or At least 5 images about </a:t>
            </a:r>
            <a:r>
              <a:rPr lang="en-US" sz="2199">
                <a:solidFill>
                  <a:srgbClr val="F7F9FC"/>
                </a:solidFill>
                <a:latin typeface="Open Sans"/>
                <a:ea typeface="Open Sans"/>
                <a:cs typeface="Open Sans"/>
                <a:sym typeface="Open Sans"/>
              </a:rPr>
              <a:t>the surroundings.</a:t>
            </a:r>
            <a:endParaRPr lang="en-US" sz="2199" dirty="0">
              <a:solidFill>
                <a:srgbClr val="F7F9FC"/>
              </a:solidFill>
              <a:latin typeface="Open Sans"/>
              <a:ea typeface="Open Sans"/>
              <a:cs typeface="Open Sans"/>
              <a:sym typeface="Open Sans"/>
            </a:endParaRPr>
          </a:p>
          <a:p>
            <a:pPr marL="474979" lvl="1" indent="-237490" algn="l">
              <a:lnSpc>
                <a:spcPts val="3079"/>
              </a:lnSpc>
              <a:buFont typeface="Arial"/>
              <a:buChar char="•"/>
            </a:pPr>
            <a:r>
              <a:rPr lang="en-US" sz="2199" dirty="0">
                <a:solidFill>
                  <a:srgbClr val="F7F9FC"/>
                </a:solidFill>
                <a:latin typeface="Open Sans"/>
                <a:ea typeface="Open Sans"/>
                <a:cs typeface="Open Sans"/>
                <a:sym typeface="Open Sans"/>
              </a:rPr>
              <a:t>Detect people, vehicles, seating, and storefronts.</a:t>
            </a:r>
          </a:p>
          <a:p>
            <a:pPr marL="474979" lvl="1" indent="-237490" algn="l">
              <a:lnSpc>
                <a:spcPts val="3079"/>
              </a:lnSpc>
              <a:buFont typeface="Arial"/>
              <a:buChar char="•"/>
            </a:pPr>
            <a:r>
              <a:rPr lang="en-US" sz="2199" dirty="0">
                <a:solidFill>
                  <a:srgbClr val="F7F9FC"/>
                </a:solidFill>
                <a:latin typeface="Open Sans"/>
                <a:ea typeface="Open Sans"/>
                <a:cs typeface="Open Sans"/>
                <a:sym typeface="Open Sans"/>
              </a:rPr>
              <a:t>Extract business information from visible signboards.</a:t>
            </a:r>
          </a:p>
          <a:p>
            <a:pPr marL="474979" lvl="1" indent="-237490" algn="l">
              <a:lnSpc>
                <a:spcPts val="3079"/>
              </a:lnSpc>
              <a:buFont typeface="Arial"/>
              <a:buChar char="•"/>
            </a:pPr>
            <a:r>
              <a:rPr lang="en-US" sz="2199" dirty="0">
                <a:solidFill>
                  <a:srgbClr val="F7F9FC"/>
                </a:solidFill>
                <a:latin typeface="Open Sans"/>
                <a:ea typeface="Open Sans"/>
                <a:cs typeface="Open Sans"/>
                <a:sym typeface="Open Sans"/>
              </a:rPr>
              <a:t>Remove duplicate observations across video frames.</a:t>
            </a:r>
          </a:p>
          <a:p>
            <a:pPr marL="474979" lvl="1" indent="-237490" algn="l">
              <a:lnSpc>
                <a:spcPts val="3079"/>
              </a:lnSpc>
              <a:buFont typeface="Arial"/>
              <a:buChar char="•"/>
            </a:pPr>
            <a:r>
              <a:rPr lang="en-US" sz="2199" dirty="0">
                <a:solidFill>
                  <a:srgbClr val="F7F9FC"/>
                </a:solidFill>
                <a:latin typeface="Open Sans"/>
                <a:ea typeface="Open Sans"/>
                <a:cs typeface="Open Sans"/>
                <a:sym typeface="Open Sans"/>
              </a:rPr>
              <a:t>Fuse observed evidence with existing location data.</a:t>
            </a:r>
          </a:p>
          <a:p>
            <a:pPr algn="l">
              <a:lnSpc>
                <a:spcPts val="3079"/>
              </a:lnSpc>
            </a:pPr>
            <a:endParaRPr lang="en-US" sz="2199" dirty="0">
              <a:solidFill>
                <a:srgbClr val="F7F9FC"/>
              </a:solidFill>
              <a:latin typeface="Open Sans"/>
              <a:ea typeface="Open Sans"/>
              <a:cs typeface="Open Sans"/>
              <a:sym typeface="Open Sans"/>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172B4D"/>
        </a:solidFill>
        <a:effectLst/>
      </p:bgPr>
    </p:bg>
    <p:spTree>
      <p:nvGrpSpPr>
        <p:cNvPr id="1" name=""/>
        <p:cNvGrpSpPr/>
        <p:nvPr/>
      </p:nvGrpSpPr>
      <p:grpSpPr>
        <a:xfrm>
          <a:off x="0" y="0"/>
          <a:ext cx="0" cy="0"/>
          <a:chOff x="0" y="0"/>
          <a:chExt cx="0" cy="0"/>
        </a:xfrm>
      </p:grpSpPr>
      <p:grpSp>
        <p:nvGrpSpPr>
          <p:cNvPr id="2" name="Group 2"/>
          <p:cNvGrpSpPr/>
          <p:nvPr/>
        </p:nvGrpSpPr>
        <p:grpSpPr>
          <a:xfrm>
            <a:off x="0" y="5412781"/>
            <a:ext cx="9363732" cy="4874219"/>
            <a:chOff x="0" y="0"/>
            <a:chExt cx="12484976" cy="6498958"/>
          </a:xfrm>
        </p:grpSpPr>
        <p:sp>
          <p:nvSpPr>
            <p:cNvPr id="3" name="Freeform 3"/>
            <p:cNvSpPr/>
            <p:nvPr/>
          </p:nvSpPr>
          <p:spPr>
            <a:xfrm>
              <a:off x="0" y="0"/>
              <a:ext cx="12484989" cy="6498971"/>
            </a:xfrm>
            <a:custGeom>
              <a:avLst/>
              <a:gdLst/>
              <a:ahLst/>
              <a:cxnLst/>
              <a:rect l="l" t="t" r="r" b="b"/>
              <a:pathLst>
                <a:path w="12484989" h="6498971">
                  <a:moveTo>
                    <a:pt x="5788914" y="0"/>
                  </a:moveTo>
                  <a:cubicBezTo>
                    <a:pt x="3345434" y="0"/>
                    <a:pt x="1170305" y="1367790"/>
                    <a:pt x="0" y="3367278"/>
                  </a:cubicBezTo>
                  <a:lnTo>
                    <a:pt x="0" y="6498971"/>
                  </a:lnTo>
                  <a:lnTo>
                    <a:pt x="2816479" y="6498971"/>
                  </a:lnTo>
                  <a:cubicBezTo>
                    <a:pt x="2922397" y="4966335"/>
                    <a:pt x="4233291" y="3719830"/>
                    <a:pt x="5788914" y="3719830"/>
                  </a:cubicBezTo>
                  <a:cubicBezTo>
                    <a:pt x="7344537" y="3719830"/>
                    <a:pt x="8655431" y="4966335"/>
                    <a:pt x="8761349" y="6498971"/>
                  </a:cubicBezTo>
                  <a:lnTo>
                    <a:pt x="12484989" y="6498971"/>
                  </a:lnTo>
                  <a:cubicBezTo>
                    <a:pt x="12375896" y="2939288"/>
                    <a:pt x="9370949" y="0"/>
                    <a:pt x="5788914" y="0"/>
                  </a:cubicBezTo>
                  <a:close/>
                </a:path>
              </a:pathLst>
            </a:custGeom>
            <a:blipFill>
              <a:blip r:embed="rId2"/>
              <a:stretch>
                <a:fillRect l="-7290" r="-24" b="-3079"/>
              </a:stretch>
            </a:blipFill>
          </p:spPr>
        </p:sp>
      </p:grpSp>
      <p:grpSp>
        <p:nvGrpSpPr>
          <p:cNvPr id="4" name="Group 4"/>
          <p:cNvGrpSpPr/>
          <p:nvPr/>
        </p:nvGrpSpPr>
        <p:grpSpPr>
          <a:xfrm>
            <a:off x="485651" y="903684"/>
            <a:ext cx="9715500" cy="8696325"/>
            <a:chOff x="0" y="0"/>
            <a:chExt cx="12954000" cy="11595100"/>
          </a:xfrm>
        </p:grpSpPr>
        <p:sp>
          <p:nvSpPr>
            <p:cNvPr id="5" name="Freeform 5"/>
            <p:cNvSpPr/>
            <p:nvPr/>
          </p:nvSpPr>
          <p:spPr>
            <a:xfrm>
              <a:off x="0" y="0"/>
              <a:ext cx="12953873" cy="11595100"/>
            </a:xfrm>
            <a:custGeom>
              <a:avLst/>
              <a:gdLst/>
              <a:ahLst/>
              <a:cxnLst/>
              <a:rect l="l" t="t" r="r" b="b"/>
              <a:pathLst>
                <a:path w="12953873" h="11595100">
                  <a:moveTo>
                    <a:pt x="254000" y="0"/>
                  </a:moveTo>
                  <a:cubicBezTo>
                    <a:pt x="113665" y="0"/>
                    <a:pt x="0" y="113665"/>
                    <a:pt x="0" y="254000"/>
                  </a:cubicBezTo>
                  <a:lnTo>
                    <a:pt x="0" y="11343132"/>
                  </a:lnTo>
                  <a:cubicBezTo>
                    <a:pt x="0" y="11472545"/>
                    <a:pt x="96774" y="11579225"/>
                    <a:pt x="221742" y="11595100"/>
                  </a:cubicBezTo>
                  <a:lnTo>
                    <a:pt x="12736068" y="11595100"/>
                  </a:lnTo>
                  <a:cubicBezTo>
                    <a:pt x="12846431" y="11581130"/>
                    <a:pt x="12934569" y="11496421"/>
                    <a:pt x="12953873" y="11387836"/>
                  </a:cubicBezTo>
                  <a:lnTo>
                    <a:pt x="12953873" y="209296"/>
                  </a:lnTo>
                  <a:cubicBezTo>
                    <a:pt x="12932918" y="90297"/>
                    <a:pt x="12828905" y="0"/>
                    <a:pt x="12703937" y="0"/>
                  </a:cubicBezTo>
                  <a:close/>
                </a:path>
              </a:pathLst>
            </a:custGeom>
            <a:blipFill>
              <a:blip r:embed="rId3"/>
              <a:stretch>
                <a:fillRect l="-30547" r="-30532"/>
              </a:stretch>
            </a:blipFill>
          </p:spPr>
        </p:sp>
      </p:grpSp>
      <p:sp>
        <p:nvSpPr>
          <p:cNvPr id="6" name="TextBox 6"/>
          <p:cNvSpPr txBox="1"/>
          <p:nvPr/>
        </p:nvSpPr>
        <p:spPr>
          <a:xfrm>
            <a:off x="10396833" y="1700251"/>
            <a:ext cx="4980965" cy="2194922"/>
          </a:xfrm>
          <a:prstGeom prst="rect">
            <a:avLst/>
          </a:prstGeom>
        </p:spPr>
        <p:txBody>
          <a:bodyPr lIns="0" tIns="0" rIns="0" bIns="0" rtlCol="0" anchor="t">
            <a:spAutoFit/>
          </a:bodyPr>
          <a:lstStyle/>
          <a:p>
            <a:pPr algn="l">
              <a:lnSpc>
                <a:spcPts val="8400"/>
              </a:lnSpc>
            </a:pPr>
            <a:r>
              <a:rPr lang="en-US" sz="8493" b="1">
                <a:solidFill>
                  <a:srgbClr val="F7F9FC"/>
                </a:solidFill>
                <a:latin typeface="Montserrat Bold"/>
                <a:ea typeface="Montserrat Bold"/>
                <a:cs typeface="Montserrat Bold"/>
                <a:sym typeface="Montserrat Bold"/>
              </a:rPr>
              <a:t>Decision</a:t>
            </a:r>
          </a:p>
          <a:p>
            <a:pPr algn="l">
              <a:lnSpc>
                <a:spcPts val="8400"/>
              </a:lnSpc>
            </a:pPr>
            <a:r>
              <a:rPr lang="en-US" sz="8493" b="1">
                <a:solidFill>
                  <a:srgbClr val="F7F9FC"/>
                </a:solidFill>
                <a:latin typeface="Montserrat Bold"/>
                <a:ea typeface="Montserrat Bold"/>
                <a:cs typeface="Montserrat Bold"/>
                <a:sym typeface="Montserrat Bold"/>
              </a:rPr>
              <a:t>Report</a:t>
            </a:r>
          </a:p>
        </p:txBody>
      </p:sp>
      <p:sp>
        <p:nvSpPr>
          <p:cNvPr id="7" name="TextBox 7"/>
          <p:cNvSpPr txBox="1"/>
          <p:nvPr/>
        </p:nvSpPr>
        <p:spPr>
          <a:xfrm>
            <a:off x="11397729" y="3911756"/>
            <a:ext cx="82725" cy="425406"/>
          </a:xfrm>
          <a:prstGeom prst="rect">
            <a:avLst/>
          </a:prstGeom>
        </p:spPr>
        <p:txBody>
          <a:bodyPr lIns="0" tIns="0" rIns="0" bIns="0" rtlCol="0" anchor="t">
            <a:spAutoFit/>
          </a:bodyPr>
          <a:lstStyle/>
          <a:p>
            <a:pPr algn="l">
              <a:lnSpc>
                <a:spcPts val="3441"/>
              </a:lnSpc>
            </a:pPr>
            <a:r>
              <a:rPr lang="en-US" sz="2458">
                <a:solidFill>
                  <a:srgbClr val="F7F9FC"/>
                </a:solidFill>
                <a:latin typeface="Open Sans"/>
                <a:ea typeface="Open Sans"/>
                <a:cs typeface="Open Sans"/>
                <a:sym typeface="Open Sans"/>
              </a:rPr>
              <a:t> </a:t>
            </a:r>
          </a:p>
        </p:txBody>
      </p:sp>
      <p:sp>
        <p:nvSpPr>
          <p:cNvPr id="8" name="TextBox 8"/>
          <p:cNvSpPr txBox="1"/>
          <p:nvPr/>
        </p:nvSpPr>
        <p:spPr>
          <a:xfrm>
            <a:off x="10396833" y="3911756"/>
            <a:ext cx="7197881" cy="425406"/>
          </a:xfrm>
          <a:prstGeom prst="rect">
            <a:avLst/>
          </a:prstGeom>
        </p:spPr>
        <p:txBody>
          <a:bodyPr lIns="0" tIns="0" rIns="0" bIns="0" rtlCol="0" anchor="t">
            <a:spAutoFit/>
          </a:bodyPr>
          <a:lstStyle/>
          <a:p>
            <a:pPr algn="l">
              <a:lnSpc>
                <a:spcPts val="3441"/>
              </a:lnSpc>
            </a:pPr>
            <a:r>
              <a:rPr lang="en-US" sz="2458">
                <a:solidFill>
                  <a:srgbClr val="F7F9FC"/>
                </a:solidFill>
                <a:latin typeface="Open Sans"/>
                <a:ea typeface="Open Sans"/>
                <a:cs typeface="Open Sans"/>
                <a:sym typeface="Open Sans"/>
              </a:rPr>
              <a:t>LOCUSAI generates anexplainable market entry</a:t>
            </a:r>
          </a:p>
        </p:txBody>
      </p:sp>
      <p:sp>
        <p:nvSpPr>
          <p:cNvPr id="9" name="TextBox 9"/>
          <p:cNvSpPr txBox="1"/>
          <p:nvPr/>
        </p:nvSpPr>
        <p:spPr>
          <a:xfrm>
            <a:off x="10396833" y="4349906"/>
            <a:ext cx="7080647" cy="3844881"/>
          </a:xfrm>
          <a:prstGeom prst="rect">
            <a:avLst/>
          </a:prstGeom>
        </p:spPr>
        <p:txBody>
          <a:bodyPr lIns="0" tIns="0" rIns="0" bIns="0" rtlCol="0" anchor="t">
            <a:spAutoFit/>
          </a:bodyPr>
          <a:lstStyle/>
          <a:p>
            <a:pPr algn="l">
              <a:lnSpc>
                <a:spcPts val="3375"/>
              </a:lnSpc>
            </a:pPr>
            <a:r>
              <a:rPr lang="en-US" sz="2458">
                <a:solidFill>
                  <a:srgbClr val="F7F9FC"/>
                </a:solidFill>
                <a:latin typeface="Open Sans"/>
                <a:ea typeface="Open Sans"/>
                <a:cs typeface="Open Sans"/>
                <a:sym typeface="Open Sans"/>
              </a:rPr>
              <a:t>reportto helpsmall-business owners make informed location decisions before investing money.The report evaluates nearby businesses, competitor density, target customer suitability, commercial activity, and available location evidence. It highlights potential advantages, identifies risks, and provides practical recommendations before committing to a location.</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172B4D"/>
        </a:solidFill>
        <a:effectLst/>
      </p:bgPr>
    </p:bg>
    <p:spTree>
      <p:nvGrpSpPr>
        <p:cNvPr id="1" name=""/>
        <p:cNvGrpSpPr/>
        <p:nvPr/>
      </p:nvGrpSpPr>
      <p:grpSpPr>
        <a:xfrm>
          <a:off x="0" y="0"/>
          <a:ext cx="0" cy="0"/>
          <a:chOff x="0" y="0"/>
          <a:chExt cx="0" cy="0"/>
        </a:xfrm>
      </p:grpSpPr>
      <p:grpSp>
        <p:nvGrpSpPr>
          <p:cNvPr id="2" name="Group 2"/>
          <p:cNvGrpSpPr/>
          <p:nvPr/>
        </p:nvGrpSpPr>
        <p:grpSpPr>
          <a:xfrm>
            <a:off x="0" y="3684146"/>
            <a:ext cx="13205698" cy="6602854"/>
            <a:chOff x="0" y="0"/>
            <a:chExt cx="17607598" cy="8803805"/>
          </a:xfrm>
        </p:grpSpPr>
        <p:sp>
          <p:nvSpPr>
            <p:cNvPr id="3" name="Freeform 3"/>
            <p:cNvSpPr/>
            <p:nvPr/>
          </p:nvSpPr>
          <p:spPr>
            <a:xfrm>
              <a:off x="0" y="0"/>
              <a:ext cx="17607535" cy="8803767"/>
            </a:xfrm>
            <a:custGeom>
              <a:avLst/>
              <a:gdLst/>
              <a:ahLst/>
              <a:cxnLst/>
              <a:rect l="l" t="t" r="r" b="b"/>
              <a:pathLst>
                <a:path w="17607535" h="8803767">
                  <a:moveTo>
                    <a:pt x="8795639" y="0"/>
                  </a:moveTo>
                  <a:cubicBezTo>
                    <a:pt x="4003929" y="4572"/>
                    <a:pt x="0" y="4011168"/>
                    <a:pt x="0" y="8803767"/>
                  </a:cubicBezTo>
                  <a:lnTo>
                    <a:pt x="4888357" y="8803767"/>
                  </a:lnTo>
                  <a:cubicBezTo>
                    <a:pt x="4888357" y="6671056"/>
                    <a:pt x="6671056" y="4888357"/>
                    <a:pt x="8803767" y="4888357"/>
                  </a:cubicBezTo>
                  <a:cubicBezTo>
                    <a:pt x="10936478" y="4888357"/>
                    <a:pt x="12719177" y="6671056"/>
                    <a:pt x="12719177" y="8803767"/>
                  </a:cubicBezTo>
                  <a:lnTo>
                    <a:pt x="17607535" y="8803767"/>
                  </a:lnTo>
                  <a:cubicBezTo>
                    <a:pt x="17607535" y="4011168"/>
                    <a:pt x="13603605" y="4572"/>
                    <a:pt x="8812022" y="0"/>
                  </a:cubicBezTo>
                  <a:close/>
                </a:path>
              </a:pathLst>
            </a:custGeom>
            <a:blipFill>
              <a:blip r:embed="rId2"/>
              <a:stretch>
                <a:fillRect/>
              </a:stretch>
            </a:blipFill>
          </p:spPr>
        </p:sp>
      </p:grpSp>
      <p:grpSp>
        <p:nvGrpSpPr>
          <p:cNvPr id="4" name="Group 4"/>
          <p:cNvGrpSpPr/>
          <p:nvPr/>
        </p:nvGrpSpPr>
        <p:grpSpPr>
          <a:xfrm>
            <a:off x="11045047" y="3684146"/>
            <a:ext cx="7242953" cy="6602063"/>
            <a:chOff x="0" y="0"/>
            <a:chExt cx="9657270" cy="8802751"/>
          </a:xfrm>
        </p:grpSpPr>
        <p:sp>
          <p:nvSpPr>
            <p:cNvPr id="5" name="Freeform 5"/>
            <p:cNvSpPr/>
            <p:nvPr/>
          </p:nvSpPr>
          <p:spPr>
            <a:xfrm>
              <a:off x="0" y="0"/>
              <a:ext cx="9657334" cy="8802751"/>
            </a:xfrm>
            <a:custGeom>
              <a:avLst/>
              <a:gdLst/>
              <a:ahLst/>
              <a:cxnLst/>
              <a:rect l="l" t="t" r="r" b="b"/>
              <a:pathLst>
                <a:path w="9657334" h="8802751">
                  <a:moveTo>
                    <a:pt x="4831207" y="0"/>
                  </a:moveTo>
                  <a:cubicBezTo>
                    <a:pt x="4278757" y="0"/>
                    <a:pt x="3714369" y="110490"/>
                    <a:pt x="3220847" y="278892"/>
                  </a:cubicBezTo>
                  <a:cubicBezTo>
                    <a:pt x="1360297" y="936498"/>
                    <a:pt x="26035" y="2715006"/>
                    <a:pt x="0" y="4738370"/>
                  </a:cubicBezTo>
                  <a:lnTo>
                    <a:pt x="0" y="8802751"/>
                  </a:lnTo>
                  <a:lnTo>
                    <a:pt x="9657334" y="8802751"/>
                  </a:lnTo>
                  <a:lnTo>
                    <a:pt x="9657334" y="4735195"/>
                  </a:lnTo>
                  <a:cubicBezTo>
                    <a:pt x="9631172" y="2725420"/>
                    <a:pt x="8276082" y="947039"/>
                    <a:pt x="6436487" y="273558"/>
                  </a:cubicBezTo>
                  <a:cubicBezTo>
                    <a:pt x="6426073" y="268351"/>
                    <a:pt x="6415659" y="268351"/>
                    <a:pt x="6405245" y="263017"/>
                  </a:cubicBezTo>
                  <a:cubicBezTo>
                    <a:pt x="5915279" y="94742"/>
                    <a:pt x="5383657" y="0"/>
                    <a:pt x="4831207" y="0"/>
                  </a:cubicBezTo>
                  <a:close/>
                </a:path>
              </a:pathLst>
            </a:custGeom>
            <a:blipFill>
              <a:blip r:embed="rId3"/>
              <a:stretch>
                <a:fillRect t="-11" r="-64"/>
              </a:stretch>
            </a:blipFill>
          </p:spPr>
        </p:sp>
      </p:grpSp>
      <p:grpSp>
        <p:nvGrpSpPr>
          <p:cNvPr id="6" name="Group 6"/>
          <p:cNvGrpSpPr/>
          <p:nvPr/>
        </p:nvGrpSpPr>
        <p:grpSpPr>
          <a:xfrm>
            <a:off x="1028700" y="1028700"/>
            <a:ext cx="684590" cy="684590"/>
            <a:chOff x="0" y="0"/>
            <a:chExt cx="912787" cy="912787"/>
          </a:xfrm>
        </p:grpSpPr>
        <p:sp>
          <p:nvSpPr>
            <p:cNvPr id="7" name="Freeform 7"/>
            <p:cNvSpPr/>
            <p:nvPr/>
          </p:nvSpPr>
          <p:spPr>
            <a:xfrm>
              <a:off x="0" y="0"/>
              <a:ext cx="912749" cy="912749"/>
            </a:xfrm>
            <a:custGeom>
              <a:avLst/>
              <a:gdLst/>
              <a:ahLst/>
              <a:cxnLst/>
              <a:rect l="l" t="t" r="r" b="b"/>
              <a:pathLst>
                <a:path w="912749" h="912749">
                  <a:moveTo>
                    <a:pt x="455803" y="0"/>
                  </a:moveTo>
                  <a:cubicBezTo>
                    <a:pt x="203962" y="381"/>
                    <a:pt x="0" y="204597"/>
                    <a:pt x="0" y="456438"/>
                  </a:cubicBezTo>
                  <a:cubicBezTo>
                    <a:pt x="0" y="708406"/>
                    <a:pt x="204343" y="912749"/>
                    <a:pt x="456438" y="912749"/>
                  </a:cubicBezTo>
                  <a:cubicBezTo>
                    <a:pt x="708533" y="912749"/>
                    <a:pt x="912622" y="708660"/>
                    <a:pt x="912749" y="456819"/>
                  </a:cubicBezTo>
                  <a:lnTo>
                    <a:pt x="912749" y="456311"/>
                  </a:lnTo>
                  <a:cubicBezTo>
                    <a:pt x="912749" y="204470"/>
                    <a:pt x="708660" y="381"/>
                    <a:pt x="456946" y="0"/>
                  </a:cubicBezTo>
                  <a:close/>
                </a:path>
              </a:pathLst>
            </a:custGeom>
            <a:blipFill>
              <a:blip r:embed="rId4"/>
              <a:stretch>
                <a:fillRect r="-4" b="-4"/>
              </a:stretch>
            </a:blipFill>
          </p:spPr>
        </p:sp>
      </p:grpSp>
      <p:sp>
        <p:nvSpPr>
          <p:cNvPr id="8" name="Freeform 8"/>
          <p:cNvSpPr/>
          <p:nvPr/>
        </p:nvSpPr>
        <p:spPr>
          <a:xfrm>
            <a:off x="4707226" y="1278922"/>
            <a:ext cx="12615577" cy="155572"/>
          </a:xfrm>
          <a:custGeom>
            <a:avLst/>
            <a:gdLst/>
            <a:ahLst/>
            <a:cxnLst/>
            <a:rect l="l" t="t" r="r" b="b"/>
            <a:pathLst>
              <a:path w="12615577" h="155572">
                <a:moveTo>
                  <a:pt x="0" y="0"/>
                </a:moveTo>
                <a:lnTo>
                  <a:pt x="12615577" y="0"/>
                </a:lnTo>
                <a:lnTo>
                  <a:pt x="12615577" y="155572"/>
                </a:lnTo>
                <a:lnTo>
                  <a:pt x="0" y="155572"/>
                </a:lnTo>
                <a:lnTo>
                  <a:pt x="0" y="0"/>
                </a:lnTo>
                <a:close/>
              </a:path>
            </a:pathLst>
          </a:custGeom>
          <a:blipFill>
            <a:blip>
              <a:extLst>
                <a:ext uri="{96DAC541-7B7A-43D3-8B79-37D633B846F1}">
                  <asvg:svgBlip xmlns:asvg="http://schemas.microsoft.com/office/drawing/2016/SVG/main" r:embed="rId5"/>
                </a:ext>
              </a:extLst>
            </a:blip>
            <a:stretch>
              <a:fillRect/>
            </a:stretch>
          </a:blipFill>
        </p:spPr>
      </p:sp>
      <p:sp>
        <p:nvSpPr>
          <p:cNvPr id="9" name="TextBox 9"/>
          <p:cNvSpPr txBox="1"/>
          <p:nvPr/>
        </p:nvSpPr>
        <p:spPr>
          <a:xfrm>
            <a:off x="1028700" y="2931624"/>
            <a:ext cx="8068770" cy="3726228"/>
          </a:xfrm>
          <a:prstGeom prst="rect">
            <a:avLst/>
          </a:prstGeom>
        </p:spPr>
        <p:txBody>
          <a:bodyPr lIns="0" tIns="0" rIns="0" bIns="0" rtlCol="0" anchor="t">
            <a:spAutoFit/>
          </a:bodyPr>
          <a:lstStyle/>
          <a:p>
            <a:pPr algn="l">
              <a:lnSpc>
                <a:spcPts val="10273"/>
              </a:lnSpc>
            </a:pPr>
            <a:r>
              <a:rPr lang="en-US" sz="7364" b="1">
                <a:solidFill>
                  <a:srgbClr val="F7F9FC"/>
                </a:solidFill>
                <a:latin typeface="Montserrat Bold"/>
                <a:ea typeface="Montserrat Bold"/>
                <a:cs typeface="Montserrat Bold"/>
                <a:sym typeface="Montserrat Bold"/>
              </a:rPr>
              <a:t>Know</a:t>
            </a:r>
          </a:p>
          <a:p>
            <a:pPr algn="l">
              <a:lnSpc>
                <a:spcPts val="9428"/>
              </a:lnSpc>
            </a:pPr>
            <a:r>
              <a:rPr lang="en-US" sz="6758" b="1">
                <a:solidFill>
                  <a:srgbClr val="F7F9FC"/>
                </a:solidFill>
                <a:latin typeface="Montserrat Bold"/>
                <a:ea typeface="Montserrat Bold"/>
                <a:cs typeface="Montserrat Bold"/>
                <a:sym typeface="Montserrat Bold"/>
              </a:rPr>
              <a:t>Where to Grow Before you spend</a:t>
            </a:r>
          </a:p>
        </p:txBody>
      </p:sp>
      <p:sp>
        <p:nvSpPr>
          <p:cNvPr id="10" name="TextBox 10"/>
          <p:cNvSpPr txBox="1"/>
          <p:nvPr/>
        </p:nvSpPr>
        <p:spPr>
          <a:xfrm>
            <a:off x="2112769" y="1128084"/>
            <a:ext cx="1483385" cy="441074"/>
          </a:xfrm>
          <a:prstGeom prst="rect">
            <a:avLst/>
          </a:prstGeom>
        </p:spPr>
        <p:txBody>
          <a:bodyPr lIns="0" tIns="0" rIns="0" bIns="0" rtlCol="0" anchor="t">
            <a:spAutoFit/>
          </a:bodyPr>
          <a:lstStyle/>
          <a:p>
            <a:pPr algn="l">
              <a:lnSpc>
                <a:spcPts val="3496"/>
              </a:lnSpc>
            </a:pPr>
            <a:r>
              <a:rPr lang="en-US" sz="2497" b="1">
                <a:solidFill>
                  <a:srgbClr val="F7F9FC"/>
                </a:solidFill>
                <a:latin typeface="Open Sans Bold"/>
                <a:ea typeface="Open Sans Bold"/>
                <a:cs typeface="Open Sans Bold"/>
                <a:sym typeface="Open Sans Bold"/>
              </a:rPr>
              <a:t>LOCUS AI</a:t>
            </a:r>
          </a:p>
        </p:txBody>
      </p:sp>
      <p:sp>
        <p:nvSpPr>
          <p:cNvPr id="11" name="TextBox 11"/>
          <p:cNvSpPr txBox="1"/>
          <p:nvPr/>
        </p:nvSpPr>
        <p:spPr>
          <a:xfrm>
            <a:off x="14292929" y="8557355"/>
            <a:ext cx="3025626" cy="448351"/>
          </a:xfrm>
          <a:prstGeom prst="rect">
            <a:avLst/>
          </a:prstGeom>
        </p:spPr>
        <p:txBody>
          <a:bodyPr lIns="0" tIns="0" rIns="0" bIns="0" rtlCol="0" anchor="t">
            <a:spAutoFit/>
          </a:bodyPr>
          <a:lstStyle/>
          <a:p>
            <a:pPr algn="l">
              <a:lnSpc>
                <a:spcPts val="3496"/>
              </a:lnSpc>
            </a:pPr>
            <a:r>
              <a:rPr lang="en-US" sz="2497" b="1">
                <a:solidFill>
                  <a:srgbClr val="F7F9FC"/>
                </a:solidFill>
                <a:latin typeface="Open Sans Bold"/>
                <a:ea typeface="Open Sans Bold"/>
                <a:cs typeface="Open Sans Bold"/>
                <a:sym typeface="Open Sans Bold"/>
              </a:rPr>
              <a:t>Team Id :</a:t>
            </a:r>
            <a:r>
              <a:rPr lang="en-US" sz="2497">
                <a:solidFill>
                  <a:srgbClr val="F7F9FC"/>
                </a:solidFill>
                <a:latin typeface="Open Sans"/>
                <a:ea typeface="Open Sans"/>
                <a:cs typeface="Open Sans"/>
                <a:sym typeface="Open Sans"/>
              </a:rPr>
              <a:t>TRI26102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431</Words>
  <Application>Microsoft Office PowerPoint</Application>
  <PresentationFormat>Custom</PresentationFormat>
  <Paragraphs>60</Paragraphs>
  <Slides>9</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9</vt:i4>
      </vt:variant>
    </vt:vector>
  </HeadingPairs>
  <TitlesOfParts>
    <vt:vector size="15" baseType="lpstr">
      <vt:lpstr>Open Sans Bold</vt:lpstr>
      <vt:lpstr>Calibri</vt:lpstr>
      <vt:lpstr>Open Sans</vt:lpstr>
      <vt:lpstr>Montserrat Bold</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LOCUSAIaggregates localmarket signals—</dc:title>
  <cp:lastModifiedBy>Rakesh R</cp:lastModifiedBy>
  <cp:revision>1</cp:revision>
  <dcterms:created xsi:type="dcterms:W3CDTF">2006-08-16T00:00:00Z</dcterms:created>
  <dcterms:modified xsi:type="dcterms:W3CDTF">2026-10-10T23:20:00Z</dcterms:modified>
  <dc:identifier>DAHXoLZZ8ME</dc:identifier>
</cp:coreProperties>
</file>